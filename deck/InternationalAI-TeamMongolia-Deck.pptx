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7"/>
  </p:handoutMasterIdLst>
  <p:sldIdLst>
    <p:sldId id="256" r:id="rId2"/>
    <p:sldId id="259" r:id="rId3"/>
    <p:sldId id="257" r:id="rId4"/>
    <p:sldId id="260" r:id="rId12"/>
    <p:sldId id="261" r:id="rId13"/>
    <p:sldId id="262" r:id="rId14"/>
    <p:sldId id="263" r:id="rId15"/>
    <p:sldId id="264" r:id="rId16"/>
    <p:sldId id="265" r:id="rId17"/>
    <p:sldId id="266" r:id="rId18"/>
    <p:sldId id="267" r:id="rId19"/>
    <p:sldId id="268" r:id="rId20"/>
    <p:sldId id="269" r:id="rId21"/>
    <p:sldId id="270" r:id="rId22"/>
    <p:sldId id="258" r:id="rId5"/>
    <p:sldId id="271" r:id="rId23"/>
    <p:sldId id="272" r:id="rId24"/>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6779C6"/>
    <a:srgbClr val="EC3462"/>
    <a:srgbClr val="B2B2B2"/>
    <a:srgbClr val="202020"/>
    <a:srgbClr val="323232"/>
    <a:srgbClr val="CC3300"/>
    <a:srgbClr val="CC0000"/>
    <a:srgbClr val="FF33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6"/>
  </p:normalViewPr>
  <p:slideViewPr>
    <p:cSldViewPr snapToGrid="0" showGuides="1">
      <p:cViewPr varScale="1">
        <p:scale>
          <a:sx n="82" d="100"/>
          <a:sy n="82" d="100"/>
        </p:scale>
        <p:origin x="437" y="37"/>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E2235"/>
                </a:solidFill>
                <a:latin typeface="Arial"/>
              </a:rPr>
              <a:t>Honest agents graded C or D (backtest)</a:t>
            </a:r>
          </a:p>
        </c:rich>
      </c:tx>
      <c:layout/>
      <c:overlay val="0"/>
    </c:title>
    <c:autoTitleDeleted val="0"/>
    <c:plotArea>
      <c:barChart>
        <c:barDir val="col"/>
        <c:grouping val="clustered"/>
        <c:ser>
          <c:idx val="0"/>
          <c:order val="0"/>
          <c:tx>
            <c:strRef>
              <c:f>Sheet1!$B$1</c:f>
              <c:strCache>
                <c:ptCount val="1"/>
                <c:pt idx="0">
                  <c:v>Honest agents graded C or D</c:v>
                </c:pt>
              </c:strCache>
            </c:strRef>
          </c:tx>
          <c:spPr>
            <a:solidFill>
              <a:srgbClr val="0072B2"/>
            </a:solidFill>
          </c:spPr>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32.74</c:v>
                </c:pt>
                <c:pt idx="1">
                  <c:v>42.69</c:v>
                </c:pt>
                <c:pt idx="2">
                  <c:v>1.75</c:v>
                </c:pt>
                <c:pt idx="3">
                  <c:v>0.0</c:v>
                </c:pt>
                <c:pt idx="4">
                  <c:v>0.0</c:v>
                </c:pt>
                <c:pt idx="5">
                  <c:v>0.0</c:v>
                </c:pt>
              </c:numCache>
            </c:numRef>
          </c:val>
        </c:ser>
        <c:dLbls>
          <c:numFmt formatCode="0.0&quot;%&quot;" sourceLinked="0"/>
          <c:txPr>
            <a:bodyPr/>
            <a:lstStyle/>
            <a:p>
              <a:pPr>
                <a:defRPr sz="1400">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title>
          <c:tx>
            <c:rich>
              <a:bodyPr/>
              <a:lstStyle/>
              <a:p>
                <a:r>
                  <a:rPr sz="1400" b="0">
                    <a:solidFill>
                      <a:srgbClr val="5B6075"/>
                    </a:solidFill>
                    <a:latin typeface="Arial"/>
                  </a:rPr>
                  <a:t>Round (early rounds: bootstrap, partners unrated)</a:t>
                </a:r>
              </a:p>
            </c:rich>
          </c:tx>
          <c:layout/>
          <c:overlay val="0"/>
        </c:title>
        <c:majorTickMark val="out"/>
        <c:minorTickMark val="none"/>
        <c:tickLblPos val="nextTo"/>
        <c:spPr>
          <a:ln>
            <a:solidFill>
              <a:srgbClr val="CDD3EC"/>
            </a:solidFill>
          </a:ln>
        </c:spPr>
        <c:txPr>
          <a:bodyPr/>
          <a:lstStyle/>
          <a:p>
            <a:pPr>
              <a:defRPr sz="1400">
                <a:latin typeface="Arial"/>
              </a:defRPr>
            </a:pPr>
          </a:p>
        </c:txPr>
        <c:crossAx val="-2113994440"/>
        <c:crosses val="autoZero"/>
        <c:auto val="1"/>
        <c:lblAlgn val="ctr"/>
        <c:lblOffset val="100"/>
        <c:noMultiLvlLbl val="0"/>
      </c:catAx>
      <c:valAx>
        <c:axId val="-2113994440"/>
        <c:scaling>
          <c:max val="53.3625"/>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2025/9/18</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2025/9/18</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[00:20] Good morning. We are Team Mongolia from the National University of Mongolia. Our Topic F entry is the Agent Credit Bureau. Before an AI wallet pays another agent, it checks that agent's credit grade, and the wallet earns and loses its own spending power the same way, on-chain.</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[00:10] Six parts: the problem, our idea, how it works, the on-chain demo, security and compliance, and the value and road ahead.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[00:40] Software already pays per request: x402, whose foundation launched under the Linux Foundation in April, makes that possible, and AP2 and ACP give agents payment mandates. The failures are real too. Freysa: the model held the transfer decision and was persuaded to pay. Grok and Bankrbot: a Morse-code injection plus privileges raised by a gifted NFT. Lobstar Wilde: no attacker; the agent lost its state and nothing capped the loss. Know Your Agent tells you who an agent is. A bank would also ask: what is this counterparty's payment record?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[00:35] We borrow two things banks already do. First, a credit bureau: every agent with an ERC-8004 identity gets a grade computed only from settlement outcomes on the chain. Second, earned limits: our wallet starts on small payments, a clean record promotes it, a violation demotes it, and a severe one trips a circuit breaker. The model talks; it is never the security boundary. The results are on the bottom row: no attack that reached its goal and 0.00 USDC lost.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[00:45] The owner chats with the wallet agent. The model picks one tool from a closed list, and code re-derives every payee and amount, so a hijacked model can propose but not decide. The owner's intent goes on-chain as a mandate with payees, pinned payout wallets and budgets. A separate signer re-checks every payment and holds the only agent key. Then the vault checks mandate, tier cap, grade, reserve floor and freeze. So even if the model and the agent are compromised, money goes only to an approved payee's pinned wallet, within budget, never to a 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[00:55] An order counts only if it happened in a registered vault, the payee signed the invoice, and, for escrow, the provider claimed delivery on-chain. Dust and same-owner orders do not count. The scorecard is additive and integer-only, so the same inputs give the same bytes anywhere. Evidence is weighted by its source: praise weighs zero, and a new identity's unverified accusations and failure records weigh zero, which stops cheap smears. Each posting carries the model id, config hash, evidence hash and reason codes, like a credit report. Ghost Feeds stopped delivering; its path was NONE -&gt; NEW (S4) -&gt; A (S4) -&gt; D (S11). Anyone can recompute a posting from public logs and the published evidence files: 22 of 22 grade changes MATCH. This is an expert-judgement scorecard, not a fitted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[00:50] The vault, not the agent, holds the wallet's tier. At tier 1 the wallet pays up to 1 USDC to an A payee and half that to a B; C and NEW go to escrow, D is refused, and anything larger needs the owner. The autonomy operator promotes only when the contract agrees the record is clean, one tier at a time, never above tier 2 without the owner. A violation needs no permission: the signer records it and the vault demotes or freezes in the same transaction. In the run the wallet went 1 -&gt; 2 (S10, 3000) -&gt; 1 (S15, 3100) -&gt; FROZEN (S16, 3200) -&gt; 0 (S18, 3300).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[01:05] One recorded run on Base Sepolia, 22 of 22 steps passing. The owner registers mandate M1: five payees, 1 USDC per payment, 4 in total, 24 hours. The agent pays Atlas, graded A. Slowpoke is B, so the invoice is re-quoted down to the B cap. Nova is unrated, so the money goes to escrow and is released after Nova claims delivery on-chain. Ghost stops delivering, drops to D, and the wallet refuses its next invoice on-chain. A stolen agent key cannot pay Ghost or replay an order: both revert. Steps 15 and 16 use a scripted naive model on purpose. Its first injected proposal costs a tier; its drain proposal freezes the vault. The owner rotates the key and approves the next payment by hand. 26 of 214 transactions were signed by the agent's own key.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[00:55] Security is 30 percent of the score, so we counted it: 63 scripted attacks in the judging's four classes, plus attacks on the bureau itself, such as sybil praise, smears and fake vaults. The harness classifies each one from what happened: did money leave the owner's intent, did a secret leak, did a tier or grade move. Contained means the circuit breaker froze the wallet: availability lost on purpose, never money.</a:t>
            </a:r>
          </a:p>
          <a:p>
            <a:r>
              <a:t>No attack reached its goal, and 0.00 USDC left the owner's intent.</a:t>
            </a:r>
          </a:p>
          <a:p>
            <a:r>
              <a:t>On compliance: in China, credit reporting is a licensed activity. We score software agents only and put no personal data on-chain; a production service would need a licensing review.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[00:45] The judging asks for clarification, correction and fallback. When a name matches more than one provider, code forces a question, even if the model did not ask, and shows each candidate's grade and payout wallet. The owner corrects the budget and the card shows the diff. In the run the owner's lines are scripted and the model's side is live. S5 took 3 owner turns; the script has three, and any extra turn is a scripted fallback line that spells the mandate out. If the model is down, a rule-based parser takes over. A separate evaluation of 33 requests gave a median of 1.5 turns.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[00:45] What does this buy a user? A stolen agent key moves at most 4 USDC in our demo profile, only to payees the owner approved, and the autonomy operator freezes the vault after the first such payment. A provider that builds an A grade and then defaults is bounded by the single-name exposure limit, 1 USDC for an A. The hijacked drain in the run was a blocked attempt by our scripted model, not a real loss. Safety must not stop normal work: 0 of 14 normal tasks were refused or escalated by mistake. The backtest on 300 synthetic agents gave AUC 0.9758.</a:t>
            </a:r>
          </a:p>
          <a:p>
            <a:r>
              <a:t>The early bars are the bootstrap: every agent starts at NEW, so honest agents start at C or D (32.74% in round 1); by the last round it is 0.00%.</a:t>
            </a:r>
          </a:p>
          <a:p>
            <a:r>
              <a:t>Measured on our own simulator, AUC and KS are a consistency check, not an out-of-sample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 A trust score that limits an agent's spending already exists, so we do not claim it. Strong 2026 entries have deterministic policy, tiers or earned autonomy; we have those too. What we add is narrower: counterparty grades from settled outcomes only, recomputable by anyone to the same hash, that change whom the wallet pays, and a wallet tier that moves on-chain from its own violations.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[00:25] For on-chain exploration: we use the official ERC-8004 registries, a Draft standard, and check their pinned implementations before the run. Anyone can recompute a grade. The bureau accepts only vaults with our exact code and configuration. Grade upgrades wait a delay, and mandates pin payout wallets on-chain.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 Our limits. It is testnet only, with simulated counterparties labelled as such. The bureau has one poster key and one anchor, both chosen by us: grades are recomputable and upgrades are delayed, but it is not yet decentralised. The hijack steps use a scripted naive model. Next: several posters with a quorum, sybil clustering by funding source, and signer keys in a KMS or HSM.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[00:10] Thank you. The code, the evidence and the verifier are at this link. We welcome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questions; not part of the timed talk.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questions; not part of the timed talk.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gradFill rotWithShape="1">
          <a:gsLst>
            <a:gs pos="0">
              <a:schemeClr val="bg1"/>
            </a:gs>
            <a:gs pos="100000">
              <a:schemeClr val="bg1">
                <a:lumMod val="85000"/>
              </a:schemeClr>
            </a:gs>
          </a:gsLst>
          <a:lin ang="5400000" scaled="0"/>
        </a:gra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139"/>
            <a:ext cx="12192635" cy="685835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179"/>
            <a:ext cx="12191365" cy="685764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2025/9/18</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2025/9/18</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 Id="rId3" Type="http://schemas.openxmlformats.org/officeDocument/2006/relationships/hyperlink" Target="https://github.com/taivnaaiwnl/shenzhen-comp" TargetMode="External"/><Relationship Id="rId4" Type="http://schemas.openxmlformats.org/officeDocument/2006/relationships/notesSlide" Target="../notesSlides/notesSlide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epolia.basescan.org/tx/0x58d9b3fceb244a5a656f63756fc2ebcbc1cca5603538d7923c86f21adfd5254f" TargetMode="Externa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hyperlink" Target="https://sepolia.basescan.org/tx/0x2923c9a0d72912458b688045c1e1193514ec6ac18fc8c663ce4f85250fbbe4b6" TargetMode="External"/><Relationship Id="rId4" Type="http://schemas.openxmlformats.org/officeDocument/2006/relationships/hyperlink" Target="https://sepolia.basescan.org/tx/0x8e8dc70a0b13b3e1913a8d02fe222c8b2844b8622f80a3625cbd19f05e4db700" TargetMode="External"/><Relationship Id="rId5" Type="http://schemas.openxmlformats.org/officeDocument/2006/relationships/hyperlink" Target="https://sepolia.basescan.org/tx/0x2a829dc4a7e368d74f53edf7ef82057b96e74ef27b2acda70313fb577f589de0" TargetMode="External"/><Relationship Id="rId6" Type="http://schemas.openxmlformats.org/officeDocument/2006/relationships/hyperlink" Target="https://sepolia.basescan.org/tx/0x555966ad7138c2fc1b639e961990793f53b2df57022972bc28306c784229c636" TargetMode="External"/><Relationship Id="rId7"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epolia.basescan.org/tx/0x0fd2d2a3a96cf245d4e6538a20f2f1caf0230924bffd6327ce7dbb05b4088fe1" TargetMode="External"/><Relationship Id="rId3" Type="http://schemas.openxmlformats.org/officeDocument/2006/relationships/hyperlink" Target="https://sepolia.basescan.org/tx/0xdd46a8b398f7ef0920fd2af91117e3432c2238e60e7648a07312ea759f2a902e" TargetMode="External"/><Relationship Id="rId4" Type="http://schemas.openxmlformats.org/officeDocument/2006/relationships/hyperlink" Target="https://sepolia.basescan.org/tx/0x7fb6ed88ef348765db8d14a3dd0d969f20fa71a427c211001b3bad3d9caa80bb" TargetMode="External"/><Relationship Id="rId5" Type="http://schemas.openxmlformats.org/officeDocument/2006/relationships/hyperlink" Target="https://sepolia.basescan.org/tx/0x36bdc123e8a7b0f2ed32baebb39a23a75a8ab14e457e9430f5314c41f1314e7d" TargetMode="External"/><Relationship Id="rId6" Type="http://schemas.openxmlformats.org/officeDocument/2006/relationships/hyperlink" Target="https://sepolia.basescan.org/tx/0x3c0165cf3775fae668030d550b30f1147d04546520e77e4ff3695563458376af" TargetMode="External"/><Relationship Id="rId7" Type="http://schemas.openxmlformats.org/officeDocument/2006/relationships/hyperlink" Target="https://sepolia.basescan.org/tx/0x89d612fce24f2001007a25d09ac9237d36f328f1cab9eb067854c5d64aca6bac" TargetMode="External"/><Relationship Id="rId8" Type="http://schemas.openxmlformats.org/officeDocument/2006/relationships/hyperlink" Target="https://sepolia.basescan.org/tx/0xae242fbeae9eee131a34fd7ee6e26af55503bfb5a581116649435a13dd0d12a0" TargetMode="External"/><Relationship Id="rId9" Type="http://schemas.openxmlformats.org/officeDocument/2006/relationships/hyperlink" Target="https://sepolia.basescan.org/tx/0x024356fc2a84bd355780bf987d3d311891103d1d3df212dc29a0ab3be1c06bc4" TargetMode="External"/><Relationship Id="rId10" Type="http://schemas.openxmlformats.org/officeDocument/2006/relationships/hyperlink" Target="https://sepolia.basescan.org/tx/0x2a829dc4a7e368d74f53edf7ef82057b96e74ef27b2acda70313fb577f589de0" TargetMode="External"/><Relationship Id="rId11" Type="http://schemas.openxmlformats.org/officeDocument/2006/relationships/hyperlink" Target="https://sepolia.basescan.org/tx/0x555966ad7138c2fc1b639e961990793f53b2df57022972bc28306c784229c636" TargetMode="External"/><Relationship Id="rId12" Type="http://schemas.openxmlformats.org/officeDocument/2006/relationships/hyperlink" Target="https://sepolia.basescan.org/tx/0xc77acded49ef4419399b62b32977de041fe41d83a8789d8dd8265cad14f70ca6" TargetMode="External"/><Relationship Id="rId1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epolia.basescan.org/tx/0x024356fc2a84bd355780bf987d3d311891103d1d3df212dc29a0ab3be1c06bc4" TargetMode="External"/><Relationship Id="rId3" Type="http://schemas.openxmlformats.org/officeDocument/2006/relationships/hyperlink" Target="https://sepolia.basescan.org/tx/0xa078d02c4b008e24b0214045ae4d50ca4658100148bbd635a01a743b44a1c5c6" TargetMode="External"/><Relationship Id="rId4" Type="http://schemas.openxmlformats.org/officeDocument/2006/relationships/hyperlink" Target="https://sepolia.basescan.org/tx/0x18e325a4d30f4e7a63504030888e902c75c99fa5fedeaf6e08145901b0095e44" TargetMode="External"/><Relationship Id="rId5"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ase-sepolia.blockscout.com/address/0xd88f1f951bace92b331d2a94eaf2075352594374" TargetMode="External"/><Relationship Id="rId3" Type="http://schemas.openxmlformats.org/officeDocument/2006/relationships/hyperlink" Target="https://base-sepolia.blockscout.com/address/0x16c7a9f608bf6d02788749a1134aed0eeddc12ad" TargetMode="External"/><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epolia.basescan.org/tx/0x0fd2d2a3a96cf245d4e6538a20f2f1caf0230924bffd6327ce7dbb05b4088fe1" TargetMode="External"/><Relationship Id="rId3" Type="http://schemas.openxmlformats.org/officeDocument/2006/relationships/hyperlink" Target="https://sepolia.basescan.org/tx/0xdd46a8b398f7ef0920fd2af91117e3432c2238e60e7648a07312ea759f2a902e" TargetMode="External"/><Relationship Id="rId4" Type="http://schemas.openxmlformats.org/officeDocument/2006/relationships/hyperlink" Target="https://sepolia.basescan.org/tx/0x7fb6ed88ef348765db8d14a3dd0d969f20fa71a427c211001b3bad3d9caa80bb" TargetMode="External"/><Relationship Id="rId5" Type="http://schemas.openxmlformats.org/officeDocument/2006/relationships/hyperlink" Target="https://sepolia.basescan.org/tx/0x36bdc123e8a7b0f2ed32baebb39a23a75a8ab14e457e9430f5314c41f1314e7d" TargetMode="External"/><Relationship Id="rId6" Type="http://schemas.openxmlformats.org/officeDocument/2006/relationships/hyperlink" Target="https://sepolia.basescan.org/tx/0x3c0165cf3775fae668030d550b30f1147d04546520e77e4ff3695563458376af" TargetMode="External"/><Relationship Id="rId7" Type="http://schemas.openxmlformats.org/officeDocument/2006/relationships/hyperlink" Target="https://sepolia.basescan.org/tx/0x89d612fce24f2001007a25d09ac9237d36f328f1cab9eb067854c5d64aca6bac" TargetMode="External"/><Relationship Id="rId8" Type="http://schemas.openxmlformats.org/officeDocument/2006/relationships/hyperlink" Target="https://sepolia.basescan.org/tx/0x0b2b280b8b677e707219836928638d6f30915cda3aa16fb229ad2041adc8a3f3" TargetMode="External"/><Relationship Id="rId9" Type="http://schemas.openxmlformats.org/officeDocument/2006/relationships/hyperlink" Target="https://sepolia.basescan.org/tx/0x2923c9a0d72912458b688045c1e1193514ec6ac18fc8c663ce4f85250fbbe4b6" TargetMode="External"/><Relationship Id="rId10" Type="http://schemas.openxmlformats.org/officeDocument/2006/relationships/hyperlink" Target="https://sepolia.basescan.org/tx/0xfb0b1c2fcc6f3ecb1ff0bcf7c86598bd30d8123b95dcb97699a2bb9c8080ed30" TargetMode="External"/><Relationship Id="rId11" Type="http://schemas.openxmlformats.org/officeDocument/2006/relationships/hyperlink" Target="https://sepolia.basescan.org/tx/0x58d9b3fceb244a5a656f63756fc2ebcbc1cca5603538d7923c86f21adfd5254f" TargetMode="External"/><Relationship Id="rId12" Type="http://schemas.openxmlformats.org/officeDocument/2006/relationships/hyperlink" Target="https://sepolia.basescan.org/tx/0xae242fbeae9eee131a34fd7ee6e26af55503bfb5a581116649435a13dd0d12a0" TargetMode="External"/><Relationship Id="rId13" Type="http://schemas.openxmlformats.org/officeDocument/2006/relationships/hyperlink" Target="https://sepolia.basescan.org/tx/0x024356fc2a84bd355780bf987d3d311891103d1d3df212dc29a0ab3be1c06bc4" TargetMode="External"/><Relationship Id="rId14" Type="http://schemas.openxmlformats.org/officeDocument/2006/relationships/hyperlink" Target="https://sepolia.basescan.org/tx/0xa078d02c4b008e24b0214045ae4d50ca4658100148bbd635a01a743b44a1c5c6" TargetMode="External"/><Relationship Id="rId1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epolia.basescan.org/tx/0x186a10051ef8140bf2a7db12570d4b3704cc77e5f4644c4c7912d9e1eeec5587" TargetMode="External"/><Relationship Id="rId3" Type="http://schemas.openxmlformats.org/officeDocument/2006/relationships/hyperlink" Target="https://sepolia.basescan.org/tx/0x8e8dc70a0b13b3e1913a8d02fe222c8b2844b8622f80a3625cbd19f05e4db700" TargetMode="External"/><Relationship Id="rId4" Type="http://schemas.openxmlformats.org/officeDocument/2006/relationships/hyperlink" Target="https://sepolia.basescan.org/tx/0x3891c75fdb04315061a87ce0f942b004d9c20a7cbf2e10d639c14a02e00cd006" TargetMode="External"/><Relationship Id="rId5" Type="http://schemas.openxmlformats.org/officeDocument/2006/relationships/hyperlink" Target="https://sepolia.basescan.org/tx/0x2a829dc4a7e368d74f53edf7ef82057b96e74ef27b2acda70313fb577f589de0" TargetMode="External"/><Relationship Id="rId6" Type="http://schemas.openxmlformats.org/officeDocument/2006/relationships/hyperlink" Target="https://sepolia.basescan.org/tx/0x2aa7789a6d633ad549641423ed866ad58587c44414b1188a53913c8f602887c0" TargetMode="External"/><Relationship Id="rId7" Type="http://schemas.openxmlformats.org/officeDocument/2006/relationships/hyperlink" Target="https://sepolia.basescan.org/tx/0x18e325a4d30f4e7a63504030888e902c75c99fa5fedeaf6e08145901b0095e44" TargetMode="External"/><Relationship Id="rId8" Type="http://schemas.openxmlformats.org/officeDocument/2006/relationships/hyperlink" Target="https://sepolia.basescan.org/tx/0x555966ad7138c2fc1b639e961990793f53b2df57022972bc28306c784229c636" TargetMode="External"/><Relationship Id="rId9" Type="http://schemas.openxmlformats.org/officeDocument/2006/relationships/hyperlink" Target="https://sepolia.basescan.org/tx/0x6fa18f8936f8ddeaba808a2da217bb02a4853deb3b752191bc57db50feeafc07" TargetMode="External"/><Relationship Id="rId10" Type="http://schemas.openxmlformats.org/officeDocument/2006/relationships/hyperlink" Target="https://sepolia.basescan.org/tx/0xc77acded49ef4419399b62b32977de041fe41d83a8789d8dd8265cad14f70ca6" TargetMode="External"/><Relationship Id="rId11" Type="http://schemas.openxmlformats.org/officeDocument/2006/relationships/hyperlink" Target="https://sepolia.basescan.org/tx/0x3de4cf94c6324e3f2e0c61ab6517c18afd2e38ac7c164a90d8a515f4463874ec" TargetMode="External"/><Relationship Id="rId12" Type="http://schemas.openxmlformats.org/officeDocument/2006/relationships/hyperlink" Target="https://sepolia.basescan.org/tx/0x895b6b48d2c1bdba54c9bf761a670e5dcd1fcd3d7e2ef3af8645d2e977a4305e" TargetMode="External"/><Relationship Id="rId13" Type="http://schemas.openxmlformats.org/officeDocument/2006/relationships/hyperlink" Target="https://sepolia.basescan.org/tx/0xa9d6f90973d9c8e62f100137e409a76ca399758ac64beae95003ec198cd5be6c" TargetMode="External"/><Relationship Id="rId1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20" y="4023360"/>
            <a:ext cx="7726680" cy="2514600"/>
          </a:xfrm>
          <a:prstGeom prst="roundRect">
            <a:avLst>
              <a:gd name="adj" fmla="val 4000"/>
            </a:avLst>
          </a:prstGeom>
          <a:solidFill>
            <a:srgbClr val="0B0E2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文本框 1">
            <a:extLst>
              <a:ext uri="{FF2B5EF4-FFF2-40B4-BE49-F238E27FC236}">
                <a16:creationId xmlns:a16="http://schemas.microsoft.com/office/drawing/2014/main" id="{B9CAFA48-CE2A-E184-9106-9E6A1F5CFC61}"/>
              </a:ext>
            </a:extLst>
          </p:cNvPr>
          <p:cNvSpPr txBox="1"/>
          <p:nvPr/>
        </p:nvSpPr>
        <p:spPr>
          <a:xfrm>
            <a:off x="676656" y="4069080"/>
            <a:ext cx="7315200" cy="640080"/>
          </a:xfrm>
          <a:prstGeom prst="rect">
            <a:avLst/>
          </a:prstGeom>
          <a:noFill/>
        </p:spPr>
        <p:txBody>
          <a:bodyPr wrap="none" rtlCol="0" lIns="73152" rIns="73152" tIns="36576" bIns="36576" anchor="t">
            <a:noAutofit/>
          </a:bodyPr>
          <a:lstStyle/>
          <a:p>
            <a:pPr algn="l">
              <a:lnSpc>
                <a:spcPct val="100000"/>
              </a:lnSpc>
              <a:spcAft>
                <a:spcPts val="0"/>
              </a:spcAft>
            </a:pPr>
            <a:r>
              <a:rPr sz="4000" b="1">
                <a:solidFill>
                  <a:srgbClr val="FFFFFF"/>
                </a:solidFill>
                <a:latin typeface="Arial"/>
              </a:rPr>
              <a:t>Agent Credit Bureau</a:t>
            </a:r>
          </a:p>
        </p:txBody>
      </p:sp>
      <p:sp>
        <p:nvSpPr>
          <p:cNvPr id="3" name="文本框 2">
            <a:extLst>
              <a:ext uri="{FF2B5EF4-FFF2-40B4-BE49-F238E27FC236}">
                <a16:creationId xmlns:a16="http://schemas.microsoft.com/office/drawing/2014/main" id="{20E323A6-5F07-AC8E-2B85-235ECA42B0BE}"/>
              </a:ext>
            </a:extLst>
          </p:cNvPr>
          <p:cNvSpPr txBox="1"/>
          <p:nvPr/>
        </p:nvSpPr>
        <p:spPr>
          <a:xfrm>
            <a:off x="676656" y="4663440"/>
            <a:ext cx="7315200" cy="411480"/>
          </a:xfrm>
          <a:prstGeom prst="rect">
            <a:avLst/>
          </a:prstGeom>
          <a:noFill/>
        </p:spPr>
        <p:txBody>
          <a:bodyPr wrap="none" rtlCol="0" lIns="73152" rIns="73152" tIns="36576" bIns="36576" anchor="t">
            <a:noAutofit/>
          </a:bodyPr>
          <a:lstStyle/>
          <a:p>
            <a:pPr algn="l">
              <a:lnSpc>
                <a:spcPct val="100000"/>
              </a:lnSpc>
              <a:spcAft>
                <a:spcPts val="0"/>
              </a:spcAft>
            </a:pPr>
            <a:r>
              <a:rPr sz="2000" b="1">
                <a:solidFill>
                  <a:srgbClr val="FFFFFF"/>
                </a:solidFill>
                <a:latin typeface="Arial"/>
              </a:rPr>
              <a:t>Team Mongolia, National University of Mongolia</a:t>
            </a:r>
          </a:p>
        </p:txBody>
      </p:sp>
      <p:sp>
        <p:nvSpPr>
          <p:cNvPr id="5" name="TextBox 4"/>
          <p:cNvSpPr txBox="1"/>
          <p:nvPr/>
        </p:nvSpPr>
        <p:spPr>
          <a:xfrm>
            <a:off x="676656" y="5074920"/>
            <a:ext cx="7406640" cy="1188720"/>
          </a:xfrm>
          <a:prstGeom prst="rect">
            <a:avLst/>
          </a:prstGeom>
          <a:noFill/>
        </p:spPr>
        <p:txBody>
          <a:bodyPr wrap="square" lIns="73152" rIns="73152" tIns="36576" bIns="36576" anchor="t">
            <a:noAutofit/>
          </a:bodyPr>
          <a:lstStyle/>
          <a:p>
            <a:pPr algn="l">
              <a:lnSpc>
                <a:spcPct val="100000"/>
              </a:lnSpc>
              <a:spcAft>
                <a:spcPts val="100"/>
              </a:spcAft>
            </a:pPr>
            <a:r>
              <a:rPr sz="1600" b="1">
                <a:solidFill>
                  <a:srgbClr val="FFFFFF"/>
                </a:solidFill>
                <a:latin typeface="Arial"/>
              </a:rPr>
              <a:t>A credit bureau for AI agents, and a wallet that earns its autonomy</a:t>
            </a:r>
          </a:p>
          <a:p>
            <a:pPr algn="l">
              <a:lnSpc>
                <a:spcPct val="100000"/>
              </a:lnSpc>
              <a:spcAft>
                <a:spcPts val="100"/>
              </a:spcAft>
            </a:pPr>
            <a:r>
              <a:rPr sz="1400" b="0">
                <a:solidFill>
                  <a:srgbClr val="FFFFFF"/>
                </a:solidFill>
                <a:latin typeface="Arial"/>
              </a:rPr>
              <a:t>Taivanbat Bayarsaikhan (team leader, Computer Science) and</a:t>
            </a:r>
          </a:p>
          <a:p>
            <a:pPr algn="l">
              <a:lnSpc>
                <a:spcPct val="100000"/>
              </a:lnSpc>
              <a:spcAft>
                <a:spcPts val="100"/>
              </a:spcAft>
            </a:pPr>
            <a:r>
              <a:rPr sz="1400" b="0">
                <a:solidFill>
                  <a:srgbClr val="FFFFFF"/>
                </a:solidFill>
                <a:latin typeface="Arial"/>
              </a:rPr>
              <a:t>Tuguldur Munkhbat (Software Engineering)</a:t>
            </a:r>
          </a:p>
          <a:p>
            <a:pPr algn="l">
              <a:lnSpc>
                <a:spcPct val="100000"/>
              </a:lnSpc>
              <a:spcAft>
                <a:spcPts val="100"/>
              </a:spcAft>
            </a:pPr>
            <a:r>
              <a:rPr sz="1400" b="0">
                <a:solidFill>
                  <a:srgbClr val="FFFFFF"/>
                </a:solidFill>
                <a:latin typeface="Arial"/>
              </a:rPr>
              <a:t>FinTechathon 2026, International AI Track,</a:t>
            </a:r>
          </a:p>
          <a:p>
            <a:pPr algn="l">
              <a:lnSpc>
                <a:spcPct val="100000"/>
              </a:lnSpc>
              <a:spcAft>
                <a:spcPts val="0"/>
              </a:spcAft>
            </a:pPr>
            <a:r>
              <a:rPr sz="1400" b="0">
                <a:solidFill>
                  <a:srgbClr val="FFFFFF"/>
                </a:solidFill>
                <a:latin typeface="Arial"/>
              </a:rPr>
              <a:t>Topic F: Agent Wallet - Autonomous On-chain Wallet</a:t>
            </a:r>
          </a:p>
        </p:txBody>
      </p:sp>
      <p:sp>
        <p:nvSpPr>
          <p:cNvPr id="6" name="TextBox 5"/>
          <p:cNvSpPr txBox="1"/>
          <p:nvPr/>
        </p:nvSpPr>
        <p:spPr>
          <a:xfrm>
            <a:off x="676656" y="6281928"/>
            <a:ext cx="7863840" cy="274320"/>
          </a:xfrm>
          <a:prstGeom prst="rect">
            <a:avLst/>
          </a:prstGeom>
          <a:noFill/>
        </p:spPr>
        <p:txBody>
          <a:bodyPr wrap="square" lIns="73152" rIns="73152" tIns="36576" bIns="36576" anchor="t">
            <a:noAutofit/>
          </a:bodyPr>
          <a:lstStyle/>
          <a:p>
            <a:pPr algn="l">
              <a:lnSpc>
                <a:spcPct val="100000"/>
              </a:lnSpc>
              <a:spcAft>
                <a:spcPts val="0"/>
              </a:spcAft>
            </a:pPr>
            <a:r>
              <a:rPr sz="1200" b="0">
                <a:solidFill>
                  <a:srgbClr val="C9CEE6"/>
                </a:solidFill>
                <a:latin typeface="Arial"/>
              </a:rPr>
              <a:t>Recorded run on Base Sepolia (chain id 84532). Code and evidence: github.com/taivnaaiwnl/shenzhen-comp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822960" y="3017520"/>
            <a:ext cx="2743200" cy="731520"/>
          </a:xfrm>
          <a:prstGeom prst="rect">
            <a:avLst/>
          </a:prstGeom>
          <a:noFill/>
        </p:spPr>
        <p:txBody>
          <a:bodyPr wrap="none" rtlCol="0" lIns="73152" rIns="73152" tIns="36576" bIns="36576" anchor="t">
            <a:noAutofit/>
          </a:bodyPr>
          <a:lstStyle/>
          <a:p>
            <a:pPr algn="l">
              <a:lnSpc>
                <a:spcPct val="100000"/>
              </a:lnSpc>
              <a:spcAft>
                <a:spcPts val="0"/>
              </a:spcAft>
            </a:pPr>
            <a:r>
              <a:rPr sz="3600" b="1">
                <a:solidFill>
                  <a:srgbClr val="FFFFFF"/>
                </a:solidFill>
                <a:latin typeface="Arial"/>
              </a:rPr>
              <a:t>CONTENTS</a:t>
            </a:r>
          </a:p>
        </p:txBody>
      </p:sp>
      <p:sp>
        <p:nvSpPr>
          <p:cNvPr id="6" name="文本框 5"/>
          <p:cNvSpPr txBox="1"/>
          <p:nvPr/>
        </p:nvSpPr>
        <p:spPr>
          <a:xfrm>
            <a:off x="3931920" y="2103120"/>
            <a:ext cx="777240" cy="566928"/>
          </a:xfrm>
          <a:prstGeom prst="rect">
            <a:avLst/>
          </a:prstGeom>
          <a:noFill/>
        </p:spPr>
        <p:txBody>
          <a:bodyPr wrap="none" rtlCol="0" lIns="73152" rIns="73152" tIns="36576" bIns="36576" anchor="t">
            <a:noAutofit/>
          </a:bodyPr>
          <a:lstStyle/>
          <a:p>
            <a:pPr algn="l">
              <a:lnSpc>
                <a:spcPct val="100000"/>
              </a:lnSpc>
              <a:spcAft>
                <a:spcPts val="0"/>
              </a:spcAft>
            </a:pPr>
            <a:r>
              <a:rPr sz="3000" b="1">
                <a:solidFill>
                  <a:srgbClr val="6779C6"/>
                </a:solidFill>
                <a:latin typeface="Arial"/>
              </a:rPr>
              <a:t>01</a:t>
            </a:r>
          </a:p>
        </p:txBody>
      </p:sp>
      <p:sp>
        <p:nvSpPr>
          <p:cNvPr id="7" name="文本框 6"/>
          <p:cNvSpPr txBox="1"/>
          <p:nvPr/>
        </p:nvSpPr>
        <p:spPr>
          <a:xfrm>
            <a:off x="4709160" y="2103120"/>
            <a:ext cx="3017520" cy="868680"/>
          </a:xfrm>
          <a:prstGeom prst="rect">
            <a:avLst/>
          </a:prstGeom>
          <a:noFill/>
        </p:spPr>
        <p:txBody>
          <a:bodyPr wrap="square" rtlCol="0" lIns="73152" rIns="73152" tIns="36576" bIns="36576" anchor="t">
            <a:noAutofit/>
          </a:bodyPr>
          <a:lstStyle/>
          <a:p>
            <a:pPr algn="l">
              <a:lnSpc>
                <a:spcPct val="100000"/>
              </a:lnSpc>
              <a:spcAft>
                <a:spcPts val="0"/>
              </a:spcAft>
            </a:pPr>
            <a:r>
              <a:rPr sz="2400" b="0">
                <a:solidFill>
                  <a:srgbClr val="FFFFFF"/>
                </a:solidFill>
                <a:latin typeface="Arial"/>
              </a:rPr>
              <a:t>Problem</a:t>
            </a:r>
          </a:p>
        </p:txBody>
      </p:sp>
      <p:sp>
        <p:nvSpPr>
          <p:cNvPr id="9" name="文本框 8"/>
          <p:cNvSpPr txBox="1"/>
          <p:nvPr/>
        </p:nvSpPr>
        <p:spPr>
          <a:xfrm>
            <a:off x="7818120" y="2103120"/>
            <a:ext cx="777240" cy="566928"/>
          </a:xfrm>
          <a:prstGeom prst="rect">
            <a:avLst/>
          </a:prstGeom>
          <a:noFill/>
        </p:spPr>
        <p:txBody>
          <a:bodyPr wrap="none" rtlCol="0" lIns="73152" rIns="73152" tIns="36576" bIns="36576" anchor="t">
            <a:noAutofit/>
          </a:bodyPr>
          <a:lstStyle/>
          <a:p>
            <a:pPr algn="l">
              <a:lnSpc>
                <a:spcPct val="100000"/>
              </a:lnSpc>
              <a:spcAft>
                <a:spcPts val="0"/>
              </a:spcAft>
            </a:pPr>
            <a:r>
              <a:rPr sz="3000" b="1">
                <a:solidFill>
                  <a:srgbClr val="6779C6"/>
                </a:solidFill>
                <a:latin typeface="Arial"/>
              </a:rPr>
              <a:t>02</a:t>
            </a:r>
          </a:p>
        </p:txBody>
      </p:sp>
      <p:sp>
        <p:nvSpPr>
          <p:cNvPr id="10" name="文本框 9"/>
          <p:cNvSpPr txBox="1"/>
          <p:nvPr/>
        </p:nvSpPr>
        <p:spPr>
          <a:xfrm>
            <a:off x="8595360" y="2103120"/>
            <a:ext cx="3017520" cy="868680"/>
          </a:xfrm>
          <a:prstGeom prst="rect">
            <a:avLst/>
          </a:prstGeom>
          <a:noFill/>
        </p:spPr>
        <p:txBody>
          <a:bodyPr wrap="square" rtlCol="0" lIns="73152" rIns="73152" tIns="36576" bIns="36576" anchor="t">
            <a:noAutofit/>
          </a:bodyPr>
          <a:lstStyle/>
          <a:p>
            <a:pPr algn="l">
              <a:lnSpc>
                <a:spcPct val="100000"/>
              </a:lnSpc>
              <a:spcAft>
                <a:spcPts val="0"/>
              </a:spcAft>
            </a:pPr>
            <a:r>
              <a:rPr sz="2400" b="0">
                <a:solidFill>
                  <a:srgbClr val="FFFFFF"/>
                </a:solidFill>
                <a:latin typeface="Arial"/>
              </a:rPr>
              <a:t>Idea</a:t>
            </a:r>
          </a:p>
        </p:txBody>
      </p:sp>
      <p:sp>
        <p:nvSpPr>
          <p:cNvPr id="11" name="文本框 10"/>
          <p:cNvSpPr txBox="1"/>
          <p:nvPr/>
        </p:nvSpPr>
        <p:spPr>
          <a:xfrm>
            <a:off x="3931920" y="3154680"/>
            <a:ext cx="777240" cy="566928"/>
          </a:xfrm>
          <a:prstGeom prst="rect">
            <a:avLst/>
          </a:prstGeom>
          <a:noFill/>
        </p:spPr>
        <p:txBody>
          <a:bodyPr wrap="none" rtlCol="0" lIns="73152" rIns="73152" tIns="36576" bIns="36576" anchor="t">
            <a:noAutofit/>
          </a:bodyPr>
          <a:lstStyle/>
          <a:p>
            <a:pPr algn="l">
              <a:lnSpc>
                <a:spcPct val="100000"/>
              </a:lnSpc>
              <a:spcAft>
                <a:spcPts val="0"/>
              </a:spcAft>
            </a:pPr>
            <a:r>
              <a:rPr sz="3000" b="1">
                <a:solidFill>
                  <a:srgbClr val="6779C6"/>
                </a:solidFill>
                <a:latin typeface="Arial"/>
              </a:rPr>
              <a:t>03</a:t>
            </a:r>
          </a:p>
        </p:txBody>
      </p:sp>
      <p:sp>
        <p:nvSpPr>
          <p:cNvPr id="12" name="文本框 11"/>
          <p:cNvSpPr txBox="1"/>
          <p:nvPr/>
        </p:nvSpPr>
        <p:spPr>
          <a:xfrm>
            <a:off x="4709160" y="3154680"/>
            <a:ext cx="3017520" cy="868680"/>
          </a:xfrm>
          <a:prstGeom prst="rect">
            <a:avLst/>
          </a:prstGeom>
          <a:noFill/>
        </p:spPr>
        <p:txBody>
          <a:bodyPr wrap="square" rtlCol="0" lIns="73152" rIns="73152" tIns="36576" bIns="36576" anchor="t">
            <a:noAutofit/>
          </a:bodyPr>
          <a:lstStyle/>
          <a:p>
            <a:pPr algn="l">
              <a:lnSpc>
                <a:spcPct val="100000"/>
              </a:lnSpc>
              <a:spcAft>
                <a:spcPts val="0"/>
              </a:spcAft>
            </a:pPr>
            <a:r>
              <a:rPr sz="2400" b="0">
                <a:solidFill>
                  <a:srgbClr val="FFFFFF"/>
                </a:solidFill>
                <a:latin typeface="Arial"/>
              </a:rPr>
              <a:t>How it works</a:t>
            </a:r>
          </a:p>
        </p:txBody>
      </p:sp>
      <p:sp>
        <p:nvSpPr>
          <p:cNvPr id="13" name="文本框 12"/>
          <p:cNvSpPr txBox="1"/>
          <p:nvPr/>
        </p:nvSpPr>
        <p:spPr>
          <a:xfrm>
            <a:off x="7818120" y="3154680"/>
            <a:ext cx="777240" cy="566928"/>
          </a:xfrm>
          <a:prstGeom prst="rect">
            <a:avLst/>
          </a:prstGeom>
          <a:noFill/>
        </p:spPr>
        <p:txBody>
          <a:bodyPr wrap="none" rtlCol="0" lIns="73152" rIns="73152" tIns="36576" bIns="36576" anchor="t">
            <a:noAutofit/>
          </a:bodyPr>
          <a:lstStyle/>
          <a:p>
            <a:pPr algn="l">
              <a:lnSpc>
                <a:spcPct val="100000"/>
              </a:lnSpc>
              <a:spcAft>
                <a:spcPts val="0"/>
              </a:spcAft>
            </a:pPr>
            <a:r>
              <a:rPr sz="3000" b="1">
                <a:solidFill>
                  <a:srgbClr val="6779C6"/>
                </a:solidFill>
                <a:latin typeface="Arial"/>
              </a:rPr>
              <a:t>04</a:t>
            </a:r>
          </a:p>
        </p:txBody>
      </p:sp>
      <p:sp>
        <p:nvSpPr>
          <p:cNvPr id="14" name="文本框 13"/>
          <p:cNvSpPr txBox="1"/>
          <p:nvPr/>
        </p:nvSpPr>
        <p:spPr>
          <a:xfrm>
            <a:off x="8595360" y="3154680"/>
            <a:ext cx="3017520" cy="868680"/>
          </a:xfrm>
          <a:prstGeom prst="rect">
            <a:avLst/>
          </a:prstGeom>
          <a:noFill/>
        </p:spPr>
        <p:txBody>
          <a:bodyPr wrap="square" rtlCol="0" lIns="73152" rIns="73152" tIns="36576" bIns="36576" anchor="t">
            <a:noAutofit/>
          </a:bodyPr>
          <a:lstStyle/>
          <a:p>
            <a:pPr algn="l">
              <a:lnSpc>
                <a:spcPct val="100000"/>
              </a:lnSpc>
              <a:spcAft>
                <a:spcPts val="0"/>
              </a:spcAft>
            </a:pPr>
            <a:r>
              <a:rPr sz="2400" b="0">
                <a:solidFill>
                  <a:srgbClr val="FFFFFF"/>
                </a:solidFill>
                <a:latin typeface="Arial"/>
              </a:rPr>
              <a:t>On-chain demo</a:t>
            </a:r>
          </a:p>
        </p:txBody>
      </p:sp>
      <p:sp>
        <p:nvSpPr>
          <p:cNvPr id="15" name="文本框 14"/>
          <p:cNvSpPr txBox="1"/>
          <p:nvPr/>
        </p:nvSpPr>
        <p:spPr>
          <a:xfrm>
            <a:off x="3931920" y="4206240"/>
            <a:ext cx="777240" cy="566928"/>
          </a:xfrm>
          <a:prstGeom prst="rect">
            <a:avLst/>
          </a:prstGeom>
          <a:noFill/>
        </p:spPr>
        <p:txBody>
          <a:bodyPr wrap="none" rtlCol="0" lIns="73152" rIns="73152" tIns="36576" bIns="36576" anchor="t">
            <a:noAutofit/>
          </a:bodyPr>
          <a:lstStyle/>
          <a:p>
            <a:pPr algn="l">
              <a:lnSpc>
                <a:spcPct val="100000"/>
              </a:lnSpc>
              <a:spcAft>
                <a:spcPts val="0"/>
              </a:spcAft>
            </a:pPr>
            <a:r>
              <a:rPr sz="3000" b="1">
                <a:solidFill>
                  <a:srgbClr val="6779C6"/>
                </a:solidFill>
                <a:latin typeface="Arial"/>
              </a:rPr>
              <a:t>05</a:t>
            </a:r>
          </a:p>
        </p:txBody>
      </p:sp>
      <p:sp>
        <p:nvSpPr>
          <p:cNvPr id="16" name="文本框 15"/>
          <p:cNvSpPr txBox="1"/>
          <p:nvPr/>
        </p:nvSpPr>
        <p:spPr>
          <a:xfrm>
            <a:off x="4709160" y="4206240"/>
            <a:ext cx="3017520" cy="868680"/>
          </a:xfrm>
          <a:prstGeom prst="rect">
            <a:avLst/>
          </a:prstGeom>
          <a:noFill/>
        </p:spPr>
        <p:txBody>
          <a:bodyPr wrap="square" rtlCol="0" lIns="73152" rIns="73152" tIns="36576" bIns="36576" anchor="t">
            <a:noAutofit/>
          </a:bodyPr>
          <a:lstStyle/>
          <a:p>
            <a:pPr algn="l">
              <a:lnSpc>
                <a:spcPct val="100000"/>
              </a:lnSpc>
              <a:spcAft>
                <a:spcPts val="0"/>
              </a:spcAft>
            </a:pPr>
            <a:r>
              <a:rPr sz="2400" b="0">
                <a:solidFill>
                  <a:srgbClr val="FFFFFF"/>
                </a:solidFill>
                <a:latin typeface="Arial"/>
              </a:rPr>
              <a:t>Security and compliance</a:t>
            </a:r>
          </a:p>
        </p:txBody>
      </p:sp>
      <p:sp>
        <p:nvSpPr>
          <p:cNvPr id="17" name="文本框 16"/>
          <p:cNvSpPr txBox="1"/>
          <p:nvPr/>
        </p:nvSpPr>
        <p:spPr>
          <a:xfrm>
            <a:off x="7818120" y="4206240"/>
            <a:ext cx="777240" cy="566928"/>
          </a:xfrm>
          <a:prstGeom prst="rect">
            <a:avLst/>
          </a:prstGeom>
          <a:noFill/>
        </p:spPr>
        <p:txBody>
          <a:bodyPr wrap="none" rtlCol="0" lIns="73152" rIns="73152" tIns="36576" bIns="36576" anchor="t">
            <a:noAutofit/>
          </a:bodyPr>
          <a:lstStyle/>
          <a:p>
            <a:pPr algn="l">
              <a:lnSpc>
                <a:spcPct val="100000"/>
              </a:lnSpc>
              <a:spcAft>
                <a:spcPts val="0"/>
              </a:spcAft>
            </a:pPr>
            <a:r>
              <a:rPr sz="3000" b="1">
                <a:solidFill>
                  <a:srgbClr val="6779C6"/>
                </a:solidFill>
                <a:latin typeface="Arial"/>
              </a:rPr>
              <a:t>06</a:t>
            </a:r>
          </a:p>
        </p:txBody>
      </p:sp>
      <p:sp>
        <p:nvSpPr>
          <p:cNvPr id="18" name="文本框 17"/>
          <p:cNvSpPr txBox="1"/>
          <p:nvPr/>
        </p:nvSpPr>
        <p:spPr>
          <a:xfrm>
            <a:off x="8595360" y="4206240"/>
            <a:ext cx="3017520" cy="868680"/>
          </a:xfrm>
          <a:prstGeom prst="rect">
            <a:avLst/>
          </a:prstGeom>
          <a:noFill/>
        </p:spPr>
        <p:txBody>
          <a:bodyPr wrap="square" rtlCol="0" lIns="73152" rIns="73152" tIns="36576" bIns="36576" anchor="t">
            <a:noAutofit/>
          </a:bodyPr>
          <a:lstStyle/>
          <a:p>
            <a:pPr algn="l">
              <a:lnSpc>
                <a:spcPct val="100000"/>
              </a:lnSpc>
              <a:spcAft>
                <a:spcPts val="0"/>
              </a:spcAft>
            </a:pPr>
            <a:r>
              <a:rPr sz="2400" b="0">
                <a:solidFill>
                  <a:srgbClr val="FFFFFF"/>
                </a:solidFill>
                <a:latin typeface="Arial"/>
              </a:rPr>
              <a:t>Value and roadmap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2400" b="1">
                <a:solidFill>
                  <a:srgbClr val="FFFFFF"/>
                </a:solidFill>
                <a:latin typeface="Arial"/>
              </a:rPr>
              <a:t>AI agents pay each other, and nobody knows who is good for the money</a:t>
            </a:r>
          </a:p>
        </p:txBody>
      </p:sp>
      <p:sp>
        <p:nvSpPr>
          <p:cNvPr id="3" name="TextBox 2"/>
          <p:cNvSpPr txBox="1"/>
          <p:nvPr/>
        </p:nvSpPr>
        <p:spPr>
          <a:xfrm>
            <a:off x="548640" y="1261872"/>
            <a:ext cx="11064240" cy="457200"/>
          </a:xfrm>
          <a:prstGeom prst="rect">
            <a:avLst/>
          </a:prstGeom>
          <a:noFill/>
        </p:spPr>
        <p:txBody>
          <a:bodyPr wrap="square" lIns="73152" rIns="73152" tIns="36576" bIns="36576" anchor="t">
            <a:noAutofit/>
          </a:bodyPr>
          <a:lstStyle/>
          <a:p>
            <a:pPr algn="l">
              <a:lnSpc>
                <a:spcPct val="100000"/>
              </a:lnSpc>
              <a:spcAft>
                <a:spcPts val="0"/>
              </a:spcAft>
            </a:pPr>
            <a:r>
              <a:rPr sz="2000" b="1">
                <a:solidFill>
                  <a:srgbClr val="1E2235"/>
                </a:solidFill>
                <a:latin typeface="Arial"/>
              </a:rPr>
              <a:t>x402 lets software pay per request; AP2 and ACP give agents payment mandates</a:t>
            </a:r>
          </a:p>
        </p:txBody>
      </p:sp>
      <p:sp>
        <p:nvSpPr>
          <p:cNvPr id="4" name="Rounded Rectangle 3"/>
          <p:cNvSpPr/>
          <p:nvPr/>
        </p:nvSpPr>
        <p:spPr>
          <a:xfrm>
            <a:off x="548640" y="1828800"/>
            <a:ext cx="6675120" cy="1298448"/>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noAutofit/>
          </a:bodyPr>
          <a:lstStyle/>
          <a:p>
            <a:pPr algn="l">
              <a:lnSpc>
                <a:spcPct val="100000"/>
              </a:lnSpc>
              <a:spcAft>
                <a:spcPts val="200"/>
              </a:spcAft>
            </a:pPr>
            <a:r>
              <a:rPr sz="2000" b="1">
                <a:solidFill>
                  <a:srgbClr val="1E2235"/>
                </a:solidFill>
                <a:latin typeface="Arial"/>
              </a:rPr>
              <a:t>Freysa</a:t>
            </a:r>
          </a:p>
          <a:p>
            <a:pPr algn="l">
              <a:lnSpc>
                <a:spcPct val="100000"/>
              </a:lnSpc>
              <a:spcAft>
                <a:spcPts val="200"/>
              </a:spcAft>
            </a:pPr>
            <a:r>
              <a:rPr sz="1600" b="0">
                <a:solidFill>
                  <a:srgbClr val="5B6075"/>
                </a:solidFill>
                <a:latin typeface="Arial"/>
              </a:rPr>
              <a:t>Nov 2024, about 13.19 ETH</a:t>
            </a:r>
          </a:p>
          <a:p>
            <a:pPr algn="l">
              <a:lnSpc>
                <a:spcPct val="100000"/>
              </a:lnSpc>
              <a:spcAft>
                <a:spcPts val="0"/>
              </a:spcAft>
            </a:pPr>
            <a:r>
              <a:rPr sz="1800" b="0">
                <a:solidFill>
                  <a:srgbClr val="1E2235"/>
                </a:solidFill>
                <a:latin typeface="Arial"/>
              </a:rPr>
              <a:t>The LLM held the transfer decision</a:t>
            </a:r>
          </a:p>
        </p:txBody>
      </p:sp>
      <p:sp>
        <p:nvSpPr>
          <p:cNvPr id="5" name="Rounded Rectangle 4"/>
          <p:cNvSpPr/>
          <p:nvPr/>
        </p:nvSpPr>
        <p:spPr>
          <a:xfrm>
            <a:off x="5577840" y="1965960"/>
            <a:ext cx="1463040" cy="384048"/>
          </a:xfrm>
          <a:prstGeom prst="roundRect">
            <a:avLst>
              <a:gd name="adj" fmla="val 5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noAutofit/>
          </a:bodyPr>
          <a:lstStyle/>
          <a:p>
            <a:pPr algn="ctr">
              <a:lnSpc>
                <a:spcPct val="100000"/>
              </a:lnSpc>
              <a:spcAft>
                <a:spcPts val="0"/>
              </a:spcAft>
            </a:pPr>
            <a:r>
              <a:rPr sz="1500" b="1">
                <a:solidFill>
                  <a:srgbClr val="FFFFFF"/>
                </a:solidFill>
                <a:latin typeface="Arial"/>
              </a:rPr>
              <a:t>persuaded</a:t>
            </a:r>
          </a:p>
        </p:txBody>
      </p:sp>
      <p:sp>
        <p:nvSpPr>
          <p:cNvPr id="6" name="Rounded Rectangle 5"/>
          <p:cNvSpPr/>
          <p:nvPr/>
        </p:nvSpPr>
        <p:spPr>
          <a:xfrm>
            <a:off x="548640" y="3264408"/>
            <a:ext cx="6675120" cy="1298448"/>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noAutofit/>
          </a:bodyPr>
          <a:lstStyle/>
          <a:p>
            <a:pPr algn="l">
              <a:lnSpc>
                <a:spcPct val="100000"/>
              </a:lnSpc>
              <a:spcAft>
                <a:spcPts val="200"/>
              </a:spcAft>
            </a:pPr>
            <a:r>
              <a:rPr sz="2000" b="1">
                <a:solidFill>
                  <a:srgbClr val="1E2235"/>
                </a:solidFill>
                <a:latin typeface="Arial"/>
              </a:rPr>
              <a:t>Grok / Bankrbot</a:t>
            </a:r>
          </a:p>
          <a:p>
            <a:pPr algn="l">
              <a:lnSpc>
                <a:spcPct val="100000"/>
              </a:lnSpc>
              <a:spcAft>
                <a:spcPts val="200"/>
              </a:spcAft>
            </a:pPr>
            <a:r>
              <a:rPr sz="1600" b="0">
                <a:solidFill>
                  <a:srgbClr val="5B6075"/>
                </a:solidFill>
                <a:latin typeface="Arial"/>
              </a:rPr>
              <a:t>May 2026, about $150-200k</a:t>
            </a:r>
          </a:p>
          <a:p>
            <a:pPr algn="l">
              <a:lnSpc>
                <a:spcPct val="100000"/>
              </a:lnSpc>
              <a:spcAft>
                <a:spcPts val="0"/>
              </a:spcAft>
            </a:pPr>
            <a:r>
              <a:rPr sz="1800" b="0">
                <a:solidFill>
                  <a:srgbClr val="1E2235"/>
                </a:solidFill>
                <a:latin typeface="Arial"/>
              </a:rPr>
              <a:t>Morse-code injection, NFT privilege escalation</a:t>
            </a:r>
          </a:p>
        </p:txBody>
      </p:sp>
      <p:sp>
        <p:nvSpPr>
          <p:cNvPr id="7" name="Rounded Rectangle 6"/>
          <p:cNvSpPr/>
          <p:nvPr/>
        </p:nvSpPr>
        <p:spPr>
          <a:xfrm>
            <a:off x="5577840" y="3401568"/>
            <a:ext cx="1463040" cy="384048"/>
          </a:xfrm>
          <a:prstGeom prst="roundRect">
            <a:avLst>
              <a:gd name="adj" fmla="val 5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noAutofit/>
          </a:bodyPr>
          <a:lstStyle/>
          <a:p>
            <a:pPr algn="ctr">
              <a:lnSpc>
                <a:spcPct val="100000"/>
              </a:lnSpc>
              <a:spcAft>
                <a:spcPts val="0"/>
              </a:spcAft>
            </a:pPr>
            <a:r>
              <a:rPr sz="1500" b="1">
                <a:solidFill>
                  <a:srgbClr val="FFFFFF"/>
                </a:solidFill>
                <a:latin typeface="Arial"/>
              </a:rPr>
              <a:t>injected</a:t>
            </a:r>
          </a:p>
        </p:txBody>
      </p:sp>
      <p:sp>
        <p:nvSpPr>
          <p:cNvPr id="8" name="Rounded Rectangle 7"/>
          <p:cNvSpPr/>
          <p:nvPr/>
        </p:nvSpPr>
        <p:spPr>
          <a:xfrm>
            <a:off x="548640" y="4700016"/>
            <a:ext cx="6675120" cy="1298448"/>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noAutofit/>
          </a:bodyPr>
          <a:lstStyle/>
          <a:p>
            <a:pPr algn="l">
              <a:lnSpc>
                <a:spcPct val="100000"/>
              </a:lnSpc>
              <a:spcAft>
                <a:spcPts val="200"/>
              </a:spcAft>
            </a:pPr>
            <a:r>
              <a:rPr sz="2000" b="1">
                <a:solidFill>
                  <a:srgbClr val="1E2235"/>
                </a:solidFill>
                <a:latin typeface="Arial"/>
              </a:rPr>
              <a:t>Lobstar Wilde</a:t>
            </a:r>
          </a:p>
          <a:p>
            <a:pPr algn="l">
              <a:lnSpc>
                <a:spcPct val="100000"/>
              </a:lnSpc>
              <a:spcAft>
                <a:spcPts val="200"/>
              </a:spcAft>
            </a:pPr>
            <a:r>
              <a:rPr sz="1600" b="0">
                <a:solidFill>
                  <a:srgbClr val="5B6075"/>
                </a:solidFill>
                <a:latin typeface="Arial"/>
              </a:rPr>
              <a:t>Feb 2026, about $450k</a:t>
            </a:r>
          </a:p>
          <a:p>
            <a:pPr algn="l">
              <a:lnSpc>
                <a:spcPct val="100000"/>
              </a:lnSpc>
              <a:spcAft>
                <a:spcPts val="0"/>
              </a:spcAft>
            </a:pPr>
            <a:r>
              <a:rPr sz="1800" b="0">
                <a:solidFill>
                  <a:srgbClr val="1E2235"/>
                </a:solidFill>
                <a:latin typeface="Arial"/>
              </a:rPr>
              <a:t>No attacker, and no hard caps</a:t>
            </a:r>
          </a:p>
        </p:txBody>
      </p:sp>
      <p:sp>
        <p:nvSpPr>
          <p:cNvPr id="9" name="Rounded Rectangle 8"/>
          <p:cNvSpPr/>
          <p:nvPr/>
        </p:nvSpPr>
        <p:spPr>
          <a:xfrm>
            <a:off x="5577840" y="4837176"/>
            <a:ext cx="1463040" cy="384048"/>
          </a:xfrm>
          <a:prstGeom prst="roundRect">
            <a:avLst>
              <a:gd name="adj" fmla="val 5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noAutofit/>
          </a:bodyPr>
          <a:lstStyle/>
          <a:p>
            <a:pPr algn="ctr">
              <a:lnSpc>
                <a:spcPct val="100000"/>
              </a:lnSpc>
              <a:spcAft>
                <a:spcPts val="0"/>
              </a:spcAft>
            </a:pPr>
            <a:r>
              <a:rPr sz="1500" b="1">
                <a:solidFill>
                  <a:srgbClr val="FFFFFF"/>
                </a:solidFill>
                <a:latin typeface="Arial"/>
              </a:rPr>
              <a:t>no caps</a:t>
            </a:r>
          </a:p>
        </p:txBody>
      </p:sp>
      <p:sp>
        <p:nvSpPr>
          <p:cNvPr id="10" name="Rounded Rectangle 9"/>
          <p:cNvSpPr/>
          <p:nvPr/>
        </p:nvSpPr>
        <p:spPr>
          <a:xfrm>
            <a:off x="7498080" y="1828800"/>
            <a:ext cx="4142232" cy="4169664"/>
          </a:xfrm>
          <a:prstGeom prst="roundRect">
            <a:avLst>
              <a:gd name="adj" fmla="val 4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1938528"/>
            <a:ext cx="3840480" cy="457200"/>
          </a:xfrm>
          <a:prstGeom prst="rect">
            <a:avLst/>
          </a:prstGeom>
          <a:noFill/>
        </p:spPr>
        <p:txBody>
          <a:bodyPr wrap="square" lIns="73152" rIns="73152" tIns="36576" bIns="36576" anchor="t">
            <a:noAutofit/>
          </a:bodyPr>
          <a:lstStyle/>
          <a:p>
            <a:pPr algn="l">
              <a:lnSpc>
                <a:spcPct val="100000"/>
              </a:lnSpc>
              <a:spcAft>
                <a:spcPts val="0"/>
              </a:spcAft>
            </a:pPr>
            <a:r>
              <a:rPr sz="2000" b="1">
                <a:solidFill>
                  <a:srgbClr val="3F4C9E"/>
                </a:solidFill>
                <a:latin typeface="Arial"/>
              </a:rPr>
              <a:t>Know Your Agent (KYA)</a:t>
            </a:r>
          </a:p>
        </p:txBody>
      </p:sp>
      <p:sp>
        <p:nvSpPr>
          <p:cNvPr id="12" name="Rounded Rectangle 11"/>
          <p:cNvSpPr/>
          <p:nvPr/>
        </p:nvSpPr>
        <p:spPr>
          <a:xfrm>
            <a:off x="7726680" y="2606040"/>
            <a:ext cx="329184" cy="329184"/>
          </a:xfrm>
          <a:prstGeom prst="roundRect">
            <a:avLst>
              <a:gd name="adj" fmla="val 15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lnSpc>
                <a:spcPct val="100000"/>
              </a:lnSpc>
              <a:spcAft>
                <a:spcPts val="0"/>
              </a:spcAft>
            </a:pPr>
            <a:r>
              <a:rPr sz="1600" b="1">
                <a:solidFill>
                  <a:srgbClr val="FFFFFF"/>
                </a:solidFill>
                <a:latin typeface="Arial"/>
              </a:rPr>
              <a:t>✓</a:t>
            </a:r>
          </a:p>
        </p:txBody>
      </p:sp>
      <p:sp>
        <p:nvSpPr>
          <p:cNvPr id="13" name="TextBox 12"/>
          <p:cNvSpPr txBox="1"/>
          <p:nvPr/>
        </p:nvSpPr>
        <p:spPr>
          <a:xfrm>
            <a:off x="8183880" y="2468880"/>
            <a:ext cx="3383280" cy="603504"/>
          </a:xfrm>
          <a:prstGeom prst="rect">
            <a:avLst/>
          </a:prstGeom>
          <a:noFill/>
        </p:spPr>
        <p:txBody>
          <a:bodyPr wrap="square" lIns="73152" rIns="73152" tIns="36576" bIns="36576" anchor="ctr">
            <a:noAutofit/>
          </a:bodyPr>
          <a:lstStyle/>
          <a:p>
            <a:pPr algn="l">
              <a:lnSpc>
                <a:spcPct val="100000"/>
              </a:lnSpc>
              <a:spcAft>
                <a:spcPts val="0"/>
              </a:spcAft>
            </a:pPr>
            <a:r>
              <a:rPr sz="1800" b="0">
                <a:solidFill>
                  <a:srgbClr val="1E2235"/>
                </a:solidFill>
                <a:latin typeface="Arial"/>
              </a:rPr>
              <a:t>Who is the agent?</a:t>
            </a:r>
          </a:p>
        </p:txBody>
      </p:sp>
      <p:sp>
        <p:nvSpPr>
          <p:cNvPr id="14" name="Rounded Rectangle 13"/>
          <p:cNvSpPr/>
          <p:nvPr/>
        </p:nvSpPr>
        <p:spPr>
          <a:xfrm>
            <a:off x="7726680" y="3264408"/>
            <a:ext cx="329184" cy="329184"/>
          </a:xfrm>
          <a:prstGeom prst="roundRect">
            <a:avLst>
              <a:gd name="adj" fmla="val 15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lnSpc>
                <a:spcPct val="100000"/>
              </a:lnSpc>
              <a:spcAft>
                <a:spcPts val="0"/>
              </a:spcAft>
            </a:pPr>
            <a:r>
              <a:rPr sz="1600" b="1">
                <a:solidFill>
                  <a:srgbClr val="FFFFFF"/>
                </a:solidFill>
                <a:latin typeface="Arial"/>
              </a:rPr>
              <a:t>✓</a:t>
            </a:r>
          </a:p>
        </p:txBody>
      </p:sp>
      <p:sp>
        <p:nvSpPr>
          <p:cNvPr id="15" name="TextBox 14"/>
          <p:cNvSpPr txBox="1"/>
          <p:nvPr/>
        </p:nvSpPr>
        <p:spPr>
          <a:xfrm>
            <a:off x="8183880" y="3127248"/>
            <a:ext cx="3383280" cy="603504"/>
          </a:xfrm>
          <a:prstGeom prst="rect">
            <a:avLst/>
          </a:prstGeom>
          <a:noFill/>
        </p:spPr>
        <p:txBody>
          <a:bodyPr wrap="square" lIns="73152" rIns="73152" tIns="36576" bIns="36576" anchor="ctr">
            <a:noAutofit/>
          </a:bodyPr>
          <a:lstStyle/>
          <a:p>
            <a:pPr algn="l">
              <a:lnSpc>
                <a:spcPct val="100000"/>
              </a:lnSpc>
              <a:spcAft>
                <a:spcPts val="0"/>
              </a:spcAft>
            </a:pPr>
            <a:r>
              <a:rPr sz="1800" b="0">
                <a:solidFill>
                  <a:srgbClr val="1E2235"/>
                </a:solidFill>
                <a:latin typeface="Arial"/>
              </a:rPr>
              <a:t>Who authorised it?</a:t>
            </a:r>
          </a:p>
        </p:txBody>
      </p:sp>
      <p:sp>
        <p:nvSpPr>
          <p:cNvPr id="16" name="Rounded Rectangle 15"/>
          <p:cNvSpPr/>
          <p:nvPr/>
        </p:nvSpPr>
        <p:spPr>
          <a:xfrm>
            <a:off x="7726680" y="3922776"/>
            <a:ext cx="329184" cy="329184"/>
          </a:xfrm>
          <a:prstGeom prst="roundRect">
            <a:avLst>
              <a:gd name="adj" fmla="val 15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lnSpc>
                <a:spcPct val="100000"/>
              </a:lnSpc>
              <a:spcAft>
                <a:spcPts val="0"/>
              </a:spcAft>
            </a:pPr>
            <a:r>
              <a:rPr sz="1600" b="1">
                <a:solidFill>
                  <a:srgbClr val="FFFFFF"/>
                </a:solidFill>
                <a:latin typeface="Arial"/>
              </a:rPr>
              <a:t>✓</a:t>
            </a:r>
          </a:p>
        </p:txBody>
      </p:sp>
      <p:sp>
        <p:nvSpPr>
          <p:cNvPr id="17" name="TextBox 16"/>
          <p:cNvSpPr txBox="1"/>
          <p:nvPr/>
        </p:nvSpPr>
        <p:spPr>
          <a:xfrm>
            <a:off x="8183880" y="3785616"/>
            <a:ext cx="3383280" cy="603504"/>
          </a:xfrm>
          <a:prstGeom prst="rect">
            <a:avLst/>
          </a:prstGeom>
          <a:noFill/>
        </p:spPr>
        <p:txBody>
          <a:bodyPr wrap="square" lIns="73152" rIns="73152" tIns="36576" bIns="36576" anchor="ctr">
            <a:noAutofit/>
          </a:bodyPr>
          <a:lstStyle/>
          <a:p>
            <a:pPr algn="l">
              <a:lnSpc>
                <a:spcPct val="100000"/>
              </a:lnSpc>
              <a:spcAft>
                <a:spcPts val="0"/>
              </a:spcAft>
            </a:pPr>
            <a:r>
              <a:rPr sz="1800" b="0">
                <a:solidFill>
                  <a:srgbClr val="1E2235"/>
                </a:solidFill>
                <a:latin typeface="Arial"/>
              </a:rPr>
              <a:t>Which permissions?</a:t>
            </a:r>
          </a:p>
        </p:txBody>
      </p:sp>
      <p:sp>
        <p:nvSpPr>
          <p:cNvPr id="18" name="Rounded Rectangle 17"/>
          <p:cNvSpPr/>
          <p:nvPr/>
        </p:nvSpPr>
        <p:spPr>
          <a:xfrm>
            <a:off x="7726680" y="4581144"/>
            <a:ext cx="329184" cy="329184"/>
          </a:xfrm>
          <a:prstGeom prst="roundRect">
            <a:avLst>
              <a:gd name="adj" fmla="val 15000"/>
            </a:avLst>
          </a:prstGeom>
          <a:solidFill>
            <a:srgbClr val="FFFFFF"/>
          </a:solidFill>
          <a:ln w="28575">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80" y="4443984"/>
            <a:ext cx="3383280" cy="603504"/>
          </a:xfrm>
          <a:prstGeom prst="rect">
            <a:avLst/>
          </a:prstGeom>
          <a:noFill/>
        </p:spPr>
        <p:txBody>
          <a:bodyPr wrap="square" lIns="73152" rIns="73152" tIns="36576" bIns="36576" anchor="ctr">
            <a:noAutofit/>
          </a:bodyPr>
          <a:lstStyle/>
          <a:p>
            <a:pPr algn="l">
              <a:lnSpc>
                <a:spcPct val="100000"/>
              </a:lnSpc>
              <a:spcAft>
                <a:spcPts val="0"/>
              </a:spcAft>
            </a:pPr>
            <a:r>
              <a:rPr sz="1800" b="1">
                <a:solidFill>
                  <a:srgbClr val="D55E00"/>
                </a:solidFill>
                <a:latin typeface="Arial"/>
              </a:rPr>
              <a:t>How has it behaved when paid?</a:t>
            </a:r>
          </a:p>
        </p:txBody>
      </p:sp>
      <p:sp>
        <p:nvSpPr>
          <p:cNvPr id="20" name="TextBox 19"/>
          <p:cNvSpPr txBox="1"/>
          <p:nvPr/>
        </p:nvSpPr>
        <p:spPr>
          <a:xfrm>
            <a:off x="7680960" y="5193792"/>
            <a:ext cx="3840480" cy="731520"/>
          </a:xfrm>
          <a:prstGeom prst="rect">
            <a:avLst/>
          </a:prstGeom>
          <a:noFill/>
        </p:spPr>
        <p:txBody>
          <a:bodyPr wrap="square" lIns="73152" rIns="73152" tIns="36576" bIns="36576" anchor="t">
            <a:noAutofit/>
          </a:bodyPr>
          <a:lstStyle/>
          <a:p>
            <a:pPr algn="l">
              <a:lnSpc>
                <a:spcPct val="100000"/>
              </a:lnSpc>
              <a:spcAft>
                <a:spcPts val="0"/>
              </a:spcAft>
            </a:pPr>
            <a:r>
              <a:rPr sz="1600" b="0">
                <a:solidFill>
                  <a:srgbClr val="5B6075"/>
                </a:solidFill>
                <a:latin typeface="Arial"/>
              </a:rPr>
              <a:t>Know Your Agent asks who acts, not how the agent behaved when paid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172200" y="4617720"/>
            <a:ext cx="5669280" cy="1920240"/>
          </a:xfrm>
          <a:prstGeom prst="roundRect">
            <a:avLst>
              <a:gd name="adj" fmla="val 8000"/>
            </a:avLst>
          </a:prstGeom>
          <a:solidFill>
            <a:srgbClr val="0B0E26">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qr-repo.png"/>
          <p:cNvPicPr>
            <a:picLocks noChangeAspect="1"/>
          </p:cNvPicPr>
          <p:nvPr/>
        </p:nvPicPr>
        <p:blipFill>
          <a:blip r:embed="rId2"/>
          <a:stretch>
            <a:fillRect/>
          </a:stretch>
        </p:blipFill>
        <p:spPr>
          <a:xfrm>
            <a:off x="6309360" y="4754880"/>
            <a:ext cx="1645920" cy="1645920"/>
          </a:xfrm>
          <a:prstGeom prst="rect">
            <a:avLst/>
          </a:prstGeom>
        </p:spPr>
      </p:pic>
      <p:sp>
        <p:nvSpPr>
          <p:cNvPr id="4" name="TextBox 3"/>
          <p:cNvSpPr txBox="1"/>
          <p:nvPr/>
        </p:nvSpPr>
        <p:spPr>
          <a:xfrm>
            <a:off x="8074152" y="4754880"/>
            <a:ext cx="3721608" cy="1691640"/>
          </a:xfrm>
          <a:prstGeom prst="rect">
            <a:avLst/>
          </a:prstGeom>
          <a:noFill/>
        </p:spPr>
        <p:txBody>
          <a:bodyPr wrap="square" lIns="73152" rIns="73152" tIns="36576" bIns="36576" anchor="t">
            <a:noAutofit/>
          </a:bodyPr>
          <a:lstStyle/>
          <a:p>
            <a:pPr algn="l">
              <a:lnSpc>
                <a:spcPct val="100000"/>
              </a:lnSpc>
              <a:spcAft>
                <a:spcPts val="600"/>
              </a:spcAft>
            </a:pPr>
            <a:r>
              <a:rPr sz="1400" b="1" u="sng">
                <a:solidFill>
                  <a:srgbClr val="56B4E9"/>
                </a:solidFill>
                <a:latin typeface="Arial"/>
                <a:hlinkClick r:id="rId3"/>
              </a:rPr>
              <a:t>github.com/taivnaaiwnl/shenzhen-comp</a:t>
            </a:r>
          </a:p>
          <a:p>
            <a:pPr algn="l">
              <a:lnSpc>
                <a:spcPct val="100000"/>
              </a:lnSpc>
              <a:spcAft>
                <a:spcPts val="0"/>
              </a:spcAft>
            </a:pPr>
            <a:r>
              <a:rPr sz="1400" b="0">
                <a:solidFill>
                  <a:srgbClr val="D7DBEE"/>
                </a:solidFill>
                <a:latin typeface="Arial"/>
              </a:rPr>
              <a:t>Team Mongolia: Taivanbat Bayarsaikhan and Tuguldur Munkhbat, National University of Mongolia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2400" b="1">
                <a:solidFill>
                  <a:srgbClr val="FFFFFF"/>
                </a:solidFill>
                <a:latin typeface="Arial"/>
              </a:rPr>
              <a:t>Our idea: grade the counterparty, and make the wallet earn its limits</a:t>
            </a:r>
          </a:p>
        </p:txBody>
      </p:sp>
      <p:sp>
        <p:nvSpPr>
          <p:cNvPr id="3" name="Rounded Rectangle 2"/>
          <p:cNvSpPr/>
          <p:nvPr/>
        </p:nvSpPr>
        <p:spPr>
          <a:xfrm>
            <a:off x="548640" y="1280160"/>
            <a:ext cx="5440680" cy="114300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36576" bIns="36576">
            <a:noAutofit/>
          </a:bodyPr>
          <a:lstStyle/>
          <a:p>
            <a:pPr algn="l">
              <a:lnSpc>
                <a:spcPct val="100000"/>
              </a:lnSpc>
              <a:spcAft>
                <a:spcPts val="200"/>
              </a:spcAft>
            </a:pPr>
            <a:r>
              <a:rPr sz="2000" b="1">
                <a:solidFill>
                  <a:srgbClr val="3F4C9E"/>
                </a:solidFill>
                <a:latin typeface="Arial"/>
              </a:rPr>
              <a:t>Credit bureau</a:t>
            </a:r>
          </a:p>
          <a:p>
            <a:pPr algn="l">
              <a:lnSpc>
                <a:spcPct val="100000"/>
              </a:lnSpc>
              <a:spcAft>
                <a:spcPts val="0"/>
              </a:spcAft>
            </a:pPr>
            <a:r>
              <a:rPr sz="1800" b="0">
                <a:solidFill>
                  <a:srgbClr val="1E2235"/>
                </a:solidFill>
                <a:latin typeface="Arial"/>
              </a:rPr>
              <a:t>Every agent gets a grade (A, B, C, D or NEW) from on-chain outcomes</a:t>
            </a:r>
          </a:p>
        </p:txBody>
      </p:sp>
      <p:sp>
        <p:nvSpPr>
          <p:cNvPr id="4" name="Rounded Rectangle 3"/>
          <p:cNvSpPr/>
          <p:nvPr/>
        </p:nvSpPr>
        <p:spPr>
          <a:xfrm>
            <a:off x="6172200" y="1280160"/>
            <a:ext cx="5440680" cy="114300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36576" bIns="36576">
            <a:noAutofit/>
          </a:bodyPr>
          <a:lstStyle/>
          <a:p>
            <a:pPr algn="l">
              <a:lnSpc>
                <a:spcPct val="100000"/>
              </a:lnSpc>
              <a:spcAft>
                <a:spcPts val="200"/>
              </a:spcAft>
            </a:pPr>
            <a:r>
              <a:rPr sz="2000" b="1">
                <a:solidFill>
                  <a:srgbClr val="3F4C9E"/>
                </a:solidFill>
                <a:latin typeface="Arial"/>
              </a:rPr>
              <a:t>Grade gate</a:t>
            </a:r>
          </a:p>
          <a:p>
            <a:pPr algn="l">
              <a:lnSpc>
                <a:spcPct val="100000"/>
              </a:lnSpc>
              <a:spcAft>
                <a:spcPts val="0"/>
              </a:spcAft>
            </a:pPr>
            <a:r>
              <a:rPr sz="1800" b="0">
                <a:solidFill>
                  <a:srgbClr val="1E2235"/>
                </a:solidFill>
                <a:latin typeface="Arial"/>
              </a:rPr>
              <a:t>The wallet pays A and B, escrows NEW and C, refuses D</a:t>
            </a:r>
          </a:p>
        </p:txBody>
      </p:sp>
      <p:sp>
        <p:nvSpPr>
          <p:cNvPr id="5" name="Rounded Rectangle 4"/>
          <p:cNvSpPr/>
          <p:nvPr/>
        </p:nvSpPr>
        <p:spPr>
          <a:xfrm>
            <a:off x="548640" y="2542032"/>
            <a:ext cx="5440680" cy="114300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36576" bIns="36576">
            <a:noAutofit/>
          </a:bodyPr>
          <a:lstStyle/>
          <a:p>
            <a:pPr algn="l">
              <a:lnSpc>
                <a:spcPct val="100000"/>
              </a:lnSpc>
              <a:spcAft>
                <a:spcPts val="200"/>
              </a:spcAft>
            </a:pPr>
            <a:r>
              <a:rPr sz="2000" b="1">
                <a:solidFill>
                  <a:srgbClr val="3F4C9E"/>
                </a:solidFill>
                <a:latin typeface="Arial"/>
              </a:rPr>
              <a:t>Earned Autonomy</a:t>
            </a:r>
          </a:p>
          <a:p>
            <a:pPr algn="l">
              <a:lnSpc>
                <a:spcPct val="100000"/>
              </a:lnSpc>
              <a:spcAft>
                <a:spcPts val="0"/>
              </a:spcAft>
            </a:pPr>
            <a:r>
              <a:rPr sz="1800" b="0">
                <a:solidFill>
                  <a:srgbClr val="1E2235"/>
                </a:solidFill>
                <a:latin typeface="Arial"/>
              </a:rPr>
              <a:t>The wallet's own limits rise with a clean record, drop or freeze on violations</a:t>
            </a:r>
          </a:p>
        </p:txBody>
      </p:sp>
      <p:sp>
        <p:nvSpPr>
          <p:cNvPr id="6" name="Rounded Rectangle 5"/>
          <p:cNvSpPr/>
          <p:nvPr/>
        </p:nvSpPr>
        <p:spPr>
          <a:xfrm>
            <a:off x="6172200" y="2542032"/>
            <a:ext cx="5440680" cy="114300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36576" bIns="36576">
            <a:noAutofit/>
          </a:bodyPr>
          <a:lstStyle/>
          <a:p>
            <a:pPr algn="l">
              <a:lnSpc>
                <a:spcPct val="100000"/>
              </a:lnSpc>
              <a:spcAft>
                <a:spcPts val="200"/>
              </a:spcAft>
            </a:pPr>
            <a:r>
              <a:rPr sz="2000" b="1">
                <a:solidFill>
                  <a:srgbClr val="3F4C9E"/>
                </a:solidFill>
                <a:latin typeface="Arial"/>
              </a:rPr>
              <a:t>LLM is not the boundary</a:t>
            </a:r>
          </a:p>
          <a:p>
            <a:pPr algn="l">
              <a:lnSpc>
                <a:spcPct val="100000"/>
              </a:lnSpc>
              <a:spcAft>
                <a:spcPts val="0"/>
              </a:spcAft>
            </a:pPr>
            <a:r>
              <a:rPr sz="1800" b="0">
                <a:solidFill>
                  <a:srgbClr val="1E2235"/>
                </a:solidFill>
                <a:latin typeface="Arial"/>
              </a:rPr>
              <a:t>The LLM proposes; deterministic code, a separate signer and the vault decide</a:t>
            </a:r>
          </a:p>
        </p:txBody>
      </p:sp>
      <p:sp>
        <p:nvSpPr>
          <p:cNvPr id="7" name="TextBox 6"/>
          <p:cNvSpPr txBox="1"/>
          <p:nvPr/>
        </p:nvSpPr>
        <p:spPr>
          <a:xfrm>
            <a:off x="548640" y="3840480"/>
            <a:ext cx="1920240" cy="411480"/>
          </a:xfrm>
          <a:prstGeom prst="rect">
            <a:avLst/>
          </a:prstGeom>
          <a:noFill/>
        </p:spPr>
        <p:txBody>
          <a:bodyPr wrap="square" lIns="73152" rIns="73152" tIns="36576" bIns="36576" anchor="ctr">
            <a:noAutofit/>
          </a:bodyPr>
          <a:lstStyle/>
          <a:p>
            <a:pPr algn="l">
              <a:lnSpc>
                <a:spcPct val="100000"/>
              </a:lnSpc>
              <a:spcAft>
                <a:spcPts val="0"/>
              </a:spcAft>
            </a:pPr>
            <a:r>
              <a:rPr sz="1600" b="1">
                <a:solidFill>
                  <a:srgbClr val="5B6075"/>
                </a:solidFill>
                <a:latin typeface="Arial"/>
              </a:rPr>
              <a:t>Topic F:</a:t>
            </a:r>
          </a:p>
        </p:txBody>
      </p:sp>
      <p:sp>
        <p:nvSpPr>
          <p:cNvPr id="8" name="Rounded Rectangle 7"/>
          <p:cNvSpPr/>
          <p:nvPr/>
        </p:nvSpPr>
        <p:spPr>
          <a:xfrm>
            <a:off x="1828800" y="3858768"/>
            <a:ext cx="2560320" cy="384048"/>
          </a:xfrm>
          <a:prstGeom prst="roundRect">
            <a:avLst>
              <a:gd name="adj" fmla="val 50000"/>
            </a:avLst>
          </a:prstGeom>
          <a:solidFill>
            <a:srgbClr val="FFFFFF"/>
          </a:solidFill>
          <a:ln w="12700">
            <a:solidFill>
              <a:srgbClr val="6779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noAutofit/>
          </a:bodyPr>
          <a:lstStyle/>
          <a:p>
            <a:pPr algn="ctr">
              <a:lnSpc>
                <a:spcPct val="100000"/>
              </a:lnSpc>
              <a:spcAft>
                <a:spcPts val="0"/>
              </a:spcAft>
            </a:pPr>
            <a:r>
              <a:rPr sz="1600" b="0">
                <a:solidFill>
                  <a:srgbClr val="3F4C9E"/>
                </a:solidFill>
                <a:latin typeface="Arial"/>
              </a:rPr>
              <a:t>asset management</a:t>
            </a:r>
          </a:p>
        </p:txBody>
      </p:sp>
      <p:sp>
        <p:nvSpPr>
          <p:cNvPr id="9" name="Rounded Rectangle 8"/>
          <p:cNvSpPr/>
          <p:nvPr/>
        </p:nvSpPr>
        <p:spPr>
          <a:xfrm>
            <a:off x="4572000" y="3858768"/>
            <a:ext cx="2560320" cy="384048"/>
          </a:xfrm>
          <a:prstGeom prst="roundRect">
            <a:avLst>
              <a:gd name="adj" fmla="val 50000"/>
            </a:avLst>
          </a:prstGeom>
          <a:solidFill>
            <a:srgbClr val="FFFFFF"/>
          </a:solidFill>
          <a:ln w="12700">
            <a:solidFill>
              <a:srgbClr val="6779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noAutofit/>
          </a:bodyPr>
          <a:lstStyle/>
          <a:p>
            <a:pPr algn="ctr">
              <a:lnSpc>
                <a:spcPct val="100000"/>
              </a:lnSpc>
              <a:spcAft>
                <a:spcPts val="0"/>
              </a:spcAft>
            </a:pPr>
            <a:r>
              <a:rPr sz="1600" b="0">
                <a:solidFill>
                  <a:srgbClr val="3F4C9E"/>
                </a:solidFill>
                <a:latin typeface="Arial"/>
              </a:rPr>
              <a:t>transaction execution</a:t>
            </a:r>
          </a:p>
        </p:txBody>
      </p:sp>
      <p:sp>
        <p:nvSpPr>
          <p:cNvPr id="10" name="Rounded Rectangle 9"/>
          <p:cNvSpPr/>
          <p:nvPr/>
        </p:nvSpPr>
        <p:spPr>
          <a:xfrm>
            <a:off x="7315200" y="3858768"/>
            <a:ext cx="2560320" cy="384048"/>
          </a:xfrm>
          <a:prstGeom prst="roundRect">
            <a:avLst>
              <a:gd name="adj" fmla="val 50000"/>
            </a:avLst>
          </a:prstGeom>
          <a:solidFill>
            <a:srgbClr val="FFFFFF"/>
          </a:solidFill>
          <a:ln w="12700">
            <a:solidFill>
              <a:srgbClr val="6779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noAutofit/>
          </a:bodyPr>
          <a:lstStyle/>
          <a:p>
            <a:pPr algn="ctr">
              <a:lnSpc>
                <a:spcPct val="100000"/>
              </a:lnSpc>
              <a:spcAft>
                <a:spcPts val="0"/>
              </a:spcAft>
            </a:pPr>
            <a:r>
              <a:rPr sz="1600" b="0">
                <a:solidFill>
                  <a:srgbClr val="3F4C9E"/>
                </a:solidFill>
                <a:latin typeface="Arial"/>
              </a:rPr>
              <a:t>risk control</a:t>
            </a:r>
          </a:p>
        </p:txBody>
      </p:sp>
      <p:sp>
        <p:nvSpPr>
          <p:cNvPr id="11" name="Rounded Rectangle 10"/>
          <p:cNvSpPr/>
          <p:nvPr/>
        </p:nvSpPr>
        <p:spPr>
          <a:xfrm>
            <a:off x="548640" y="4480560"/>
            <a:ext cx="2072030" cy="169164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lnSpc>
                <a:spcPct val="100000"/>
              </a:lnSpc>
              <a:spcAft>
                <a:spcPts val="400"/>
              </a:spcAft>
            </a:pPr>
            <a:r>
              <a:rPr sz="3000" b="1">
                <a:solidFill>
                  <a:srgbClr val="0072B2"/>
                </a:solidFill>
                <a:latin typeface="Arial"/>
              </a:rPr>
              <a:t>214</a:t>
            </a:r>
          </a:p>
          <a:p>
            <a:pPr algn="ctr">
              <a:lnSpc>
                <a:spcPct val="100000"/>
              </a:lnSpc>
              <a:spcAft>
                <a:spcPts val="0"/>
              </a:spcAft>
            </a:pPr>
            <a:r>
              <a:rPr sz="1600" b="0">
                <a:solidFill>
                  <a:srgbClr val="1E2235"/>
                </a:solidFill>
                <a:latin typeface="Arial"/>
              </a:rPr>
              <a:t>on-chain transactions (26 agent-signed)</a:t>
            </a:r>
          </a:p>
        </p:txBody>
      </p:sp>
      <p:sp>
        <p:nvSpPr>
          <p:cNvPr id="12" name="Rounded Rectangle 11"/>
          <p:cNvSpPr/>
          <p:nvPr/>
        </p:nvSpPr>
        <p:spPr>
          <a:xfrm>
            <a:off x="2803550" y="4480560"/>
            <a:ext cx="2072030" cy="169164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lnSpc>
                <a:spcPct val="100000"/>
              </a:lnSpc>
              <a:spcAft>
                <a:spcPts val="400"/>
              </a:spcAft>
            </a:pPr>
            <a:r>
              <a:rPr sz="3000" b="1">
                <a:solidFill>
                  <a:srgbClr val="0072B2"/>
                </a:solidFill>
                <a:latin typeface="Arial"/>
              </a:rPr>
              <a:t>0 of 63</a:t>
            </a:r>
          </a:p>
          <a:p>
            <a:pPr algn="ctr">
              <a:lnSpc>
                <a:spcPct val="100000"/>
              </a:lnSpc>
              <a:spcAft>
                <a:spcPts val="0"/>
              </a:spcAft>
            </a:pPr>
            <a:r>
              <a:rPr sz="1600" b="0">
                <a:solidFill>
                  <a:srgbClr val="1E2235"/>
                </a:solidFill>
                <a:latin typeface="Arial"/>
              </a:rPr>
              <a:t>attacks that reached their goal</a:t>
            </a:r>
          </a:p>
        </p:txBody>
      </p:sp>
      <p:sp>
        <p:nvSpPr>
          <p:cNvPr id="13" name="Rounded Rectangle 12"/>
          <p:cNvSpPr/>
          <p:nvPr/>
        </p:nvSpPr>
        <p:spPr>
          <a:xfrm>
            <a:off x="5058461" y="4480560"/>
            <a:ext cx="2072030" cy="169164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lnSpc>
                <a:spcPct val="100000"/>
              </a:lnSpc>
              <a:spcAft>
                <a:spcPts val="400"/>
              </a:spcAft>
            </a:pPr>
            <a:r>
              <a:rPr sz="3000" b="1">
                <a:solidFill>
                  <a:srgbClr val="0072B2"/>
                </a:solidFill>
                <a:latin typeface="Arial"/>
              </a:rPr>
              <a:t>0.00</a:t>
            </a:r>
          </a:p>
          <a:p>
            <a:pPr algn="ctr">
              <a:lnSpc>
                <a:spcPct val="100000"/>
              </a:lnSpc>
              <a:spcAft>
                <a:spcPts val="0"/>
              </a:spcAft>
            </a:pPr>
            <a:r>
              <a:rPr sz="1600" b="0">
                <a:solidFill>
                  <a:srgbClr val="1E2235"/>
                </a:solidFill>
                <a:latin typeface="Arial"/>
              </a:rPr>
              <a:t>USDC lost to attacks</a:t>
            </a:r>
          </a:p>
        </p:txBody>
      </p:sp>
      <p:sp>
        <p:nvSpPr>
          <p:cNvPr id="14" name="Rounded Rectangle 13"/>
          <p:cNvSpPr/>
          <p:nvPr/>
        </p:nvSpPr>
        <p:spPr>
          <a:xfrm>
            <a:off x="7313371" y="4480560"/>
            <a:ext cx="2072030" cy="169164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lnSpc>
                <a:spcPct val="100000"/>
              </a:lnSpc>
              <a:spcAft>
                <a:spcPts val="400"/>
              </a:spcAft>
            </a:pPr>
            <a:r>
              <a:rPr sz="3000" b="1">
                <a:solidFill>
                  <a:srgbClr val="0072B2"/>
                </a:solidFill>
                <a:latin typeface="Arial"/>
              </a:rPr>
              <a:t>0 / 14</a:t>
            </a:r>
          </a:p>
          <a:p>
            <a:pPr algn="ctr">
              <a:lnSpc>
                <a:spcPct val="100000"/>
              </a:lnSpc>
              <a:spcAft>
                <a:spcPts val="0"/>
              </a:spcAft>
            </a:pPr>
            <a:r>
              <a:rPr sz="1600" b="0">
                <a:solidFill>
                  <a:srgbClr val="1E2235"/>
                </a:solidFill>
                <a:latin typeface="Arial"/>
              </a:rPr>
              <a:t>false positives on normal tasks</a:t>
            </a:r>
          </a:p>
        </p:txBody>
      </p:sp>
      <p:sp>
        <p:nvSpPr>
          <p:cNvPr id="15" name="Rounded Rectangle 14"/>
          <p:cNvSpPr/>
          <p:nvPr/>
        </p:nvSpPr>
        <p:spPr>
          <a:xfrm>
            <a:off x="9568282" y="4480560"/>
            <a:ext cx="2072030" cy="169164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lnSpc>
                <a:spcPct val="100000"/>
              </a:lnSpc>
              <a:spcAft>
                <a:spcPts val="400"/>
              </a:spcAft>
            </a:pPr>
            <a:r>
              <a:rPr sz="3000" b="1">
                <a:solidFill>
                  <a:srgbClr val="0072B2"/>
                </a:solidFill>
                <a:latin typeface="Arial"/>
              </a:rPr>
              <a:t>22 / 22</a:t>
            </a:r>
          </a:p>
          <a:p>
            <a:pPr algn="ctr">
              <a:lnSpc>
                <a:spcPct val="100000"/>
              </a:lnSpc>
              <a:spcAft>
                <a:spcPts val="0"/>
              </a:spcAft>
            </a:pPr>
            <a:r>
              <a:rPr sz="1600" b="0">
                <a:solidFill>
                  <a:srgbClr val="1E2235"/>
                </a:solidFill>
                <a:latin typeface="Arial"/>
              </a:rPr>
              <a:t>grades recompute to MATCH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3000" b="1">
                <a:solidFill>
                  <a:srgbClr val="FFFFFF"/>
                </a:solidFill>
                <a:latin typeface="Arial"/>
              </a:rPr>
              <a:t>How it works</a:t>
            </a:r>
          </a:p>
        </p:txBody>
      </p:sp>
      <p:sp>
        <p:nvSpPr>
          <p:cNvPr id="3" name="Rounded Rectangle 2"/>
          <p:cNvSpPr/>
          <p:nvPr/>
        </p:nvSpPr>
        <p:spPr>
          <a:xfrm>
            <a:off x="457200" y="1261872"/>
            <a:ext cx="7360920" cy="2331720"/>
          </a:xfrm>
          <a:prstGeom prst="roundRect">
            <a:avLst>
              <a:gd name="adj" fmla="val 3000"/>
            </a:avLst>
          </a:prstGeom>
          <a:solidFill>
            <a:srgbClr val="F7F8FC"/>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3657600" cy="310896"/>
          </a:xfrm>
          <a:prstGeom prst="rect">
            <a:avLst/>
          </a:prstGeom>
          <a:noFill/>
        </p:spPr>
        <p:txBody>
          <a:bodyPr wrap="square" lIns="73152" rIns="73152" tIns="36576" bIns="36576" anchor="t">
            <a:noAutofit/>
          </a:bodyPr>
          <a:lstStyle/>
          <a:p>
            <a:pPr algn="l">
              <a:lnSpc>
                <a:spcPct val="100000"/>
              </a:lnSpc>
              <a:spcAft>
                <a:spcPts val="0"/>
              </a:spcAft>
            </a:pPr>
            <a:r>
              <a:rPr sz="1300" b="1">
                <a:solidFill>
                  <a:srgbClr val="5B6075"/>
                </a:solidFill>
                <a:latin typeface="Arial"/>
              </a:rPr>
              <a:t>Off-chain processes, one key each</a:t>
            </a:r>
          </a:p>
        </p:txBody>
      </p:sp>
      <p:sp>
        <p:nvSpPr>
          <p:cNvPr id="5" name="Rounded Rectangle 4"/>
          <p:cNvSpPr/>
          <p:nvPr/>
        </p:nvSpPr>
        <p:spPr>
          <a:xfrm>
            <a:off x="457200" y="3730752"/>
            <a:ext cx="7360920" cy="2468880"/>
          </a:xfrm>
          <a:prstGeom prst="roundRect">
            <a:avLst>
              <a:gd name="adj" fmla="val 3000"/>
            </a:avLst>
          </a:prstGeom>
          <a:solidFill>
            <a:srgbClr val="EEF6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40680" y="5760720"/>
            <a:ext cx="2286000" cy="365760"/>
          </a:xfrm>
          <a:prstGeom prst="rect">
            <a:avLst/>
          </a:prstGeom>
          <a:noFill/>
        </p:spPr>
        <p:txBody>
          <a:bodyPr wrap="square" lIns="73152" rIns="73152" tIns="36576" bIns="36576" anchor="t">
            <a:noAutofit/>
          </a:bodyPr>
          <a:lstStyle/>
          <a:p>
            <a:pPr algn="r">
              <a:lnSpc>
                <a:spcPct val="100000"/>
              </a:lnSpc>
              <a:spcAft>
                <a:spcPts val="0"/>
              </a:spcAft>
            </a:pPr>
            <a:r>
              <a:rPr sz="1400" b="1">
                <a:solidFill>
                  <a:srgbClr val="5B6075"/>
                </a:solidFill>
                <a:latin typeface="Arial"/>
              </a:rPr>
              <a:t>On-chain (Base Sepolia)</a:t>
            </a:r>
          </a:p>
        </p:txBody>
      </p:sp>
      <p:sp>
        <p:nvSpPr>
          <p:cNvPr id="7" name="Rounded Rectangle 6"/>
          <p:cNvSpPr/>
          <p:nvPr/>
        </p:nvSpPr>
        <p:spPr>
          <a:xfrm>
            <a:off x="731520" y="1664208"/>
            <a:ext cx="1874520" cy="731520"/>
          </a:xfrm>
          <a:prstGeom prst="roundRect">
            <a:avLst>
              <a:gd name="adj" fmla="val 10000"/>
            </a:avLst>
          </a:prstGeom>
          <a:solidFill>
            <a:srgbClr val="FFFFFF"/>
          </a:solidFill>
          <a:ln w="19050">
            <a:solidFill>
              <a:srgbClr val="6779C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100000"/>
              </a:lnSpc>
              <a:spcAft>
                <a:spcPts val="0"/>
              </a:spcAft>
            </a:pPr>
            <a:r>
              <a:rPr sz="1500" b="1">
                <a:solidFill>
                  <a:srgbClr val="1E2235"/>
                </a:solidFill>
                <a:latin typeface="Arial"/>
              </a:rPr>
              <a:t>Owner console</a:t>
            </a:r>
          </a:p>
          <a:p>
            <a:pPr algn="ctr">
              <a:lnSpc>
                <a:spcPct val="100000"/>
              </a:lnSpc>
              <a:spcAft>
                <a:spcPts val="0"/>
              </a:spcAft>
            </a:pPr>
            <a:r>
              <a:rPr sz="1300" b="0">
                <a:solidFill>
                  <a:srgbClr val="5B6075"/>
                </a:solidFill>
                <a:latin typeface="Arial"/>
              </a:rPr>
              <a:t>owner key</a:t>
            </a:r>
          </a:p>
        </p:txBody>
      </p:sp>
      <p:sp>
        <p:nvSpPr>
          <p:cNvPr id="8" name="Rounded Rectangle 7"/>
          <p:cNvSpPr/>
          <p:nvPr/>
        </p:nvSpPr>
        <p:spPr>
          <a:xfrm>
            <a:off x="3246120" y="1664208"/>
            <a:ext cx="2011680" cy="731520"/>
          </a:xfrm>
          <a:prstGeom prst="roundRect">
            <a:avLst>
              <a:gd name="adj" fmla="val 10000"/>
            </a:avLst>
          </a:prstGeom>
          <a:solidFill>
            <a:srgbClr val="FFFFFF"/>
          </a:solidFill>
          <a:ln w="19050">
            <a:solidFill>
              <a:srgbClr val="6779C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100000"/>
              </a:lnSpc>
              <a:spcAft>
                <a:spcPts val="0"/>
              </a:spcAft>
            </a:pPr>
            <a:r>
              <a:rPr sz="1500" b="1">
                <a:solidFill>
                  <a:srgbClr val="1E2235"/>
                </a:solidFill>
                <a:latin typeface="Arial"/>
              </a:rPr>
              <a:t>Wallet agent + LLM</a:t>
            </a:r>
          </a:p>
          <a:p>
            <a:pPr algn="ctr">
              <a:lnSpc>
                <a:spcPct val="100000"/>
              </a:lnSpc>
              <a:spcAft>
                <a:spcPts val="0"/>
              </a:spcAft>
            </a:pPr>
            <a:r>
              <a:rPr sz="1300" b="0">
                <a:solidFill>
                  <a:srgbClr val="5B6075"/>
                </a:solidFill>
                <a:latin typeface="Arial"/>
              </a:rPr>
              <a:t>no keys</a:t>
            </a:r>
          </a:p>
        </p:txBody>
      </p:sp>
      <p:sp>
        <p:nvSpPr>
          <p:cNvPr id="9" name="Rounded Rectangle 8"/>
          <p:cNvSpPr/>
          <p:nvPr/>
        </p:nvSpPr>
        <p:spPr>
          <a:xfrm>
            <a:off x="6035040" y="1664208"/>
            <a:ext cx="1691640" cy="731520"/>
          </a:xfrm>
          <a:prstGeom prst="roundRect">
            <a:avLst>
              <a:gd name="adj" fmla="val 10000"/>
            </a:avLst>
          </a:prstGeom>
          <a:solidFill>
            <a:srgbClr val="FFFFFF"/>
          </a:solidFill>
          <a:ln w="19050">
            <a:solidFill>
              <a:srgbClr val="6779C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100000"/>
              </a:lnSpc>
              <a:spcAft>
                <a:spcPts val="0"/>
              </a:spcAft>
            </a:pPr>
            <a:r>
              <a:rPr sz="1500" b="1">
                <a:solidFill>
                  <a:srgbClr val="1E2235"/>
                </a:solidFill>
                <a:latin typeface="Arial"/>
              </a:rPr>
              <a:t>Counterparties</a:t>
            </a:r>
          </a:p>
          <a:p>
            <a:pPr algn="ctr">
              <a:lnSpc>
                <a:spcPct val="100000"/>
              </a:lnSpc>
              <a:spcAft>
                <a:spcPts val="0"/>
              </a:spcAft>
            </a:pPr>
            <a:r>
              <a:rPr sz="1300" b="0">
                <a:solidFill>
                  <a:srgbClr val="5B6075"/>
                </a:solidFill>
                <a:latin typeface="Arial"/>
              </a:rPr>
              <a:t>simulated, own keys</a:t>
            </a:r>
          </a:p>
        </p:txBody>
      </p:sp>
      <p:sp>
        <p:nvSpPr>
          <p:cNvPr id="10" name="Rounded Rectangle 9"/>
          <p:cNvSpPr/>
          <p:nvPr/>
        </p:nvSpPr>
        <p:spPr>
          <a:xfrm>
            <a:off x="731520" y="2697480"/>
            <a:ext cx="1874520" cy="731520"/>
          </a:xfrm>
          <a:prstGeom prst="roundRect">
            <a:avLst>
              <a:gd name="adj" fmla="val 10000"/>
            </a:avLst>
          </a:prstGeom>
          <a:solidFill>
            <a:srgbClr val="FFFFFF"/>
          </a:solidFill>
          <a:ln w="19050">
            <a:solidFill>
              <a:srgbClr val="6779C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100000"/>
              </a:lnSpc>
              <a:spcAft>
                <a:spcPts val="0"/>
              </a:spcAft>
            </a:pPr>
            <a:r>
              <a:rPr sz="1500" b="1">
                <a:solidFill>
                  <a:srgbClr val="1E2235"/>
                </a:solidFill>
                <a:latin typeface="Arial"/>
              </a:rPr>
              <a:t>Bureau</a:t>
            </a:r>
          </a:p>
          <a:p>
            <a:pPr algn="ctr">
              <a:lnSpc>
                <a:spcPct val="100000"/>
              </a:lnSpc>
              <a:spcAft>
                <a:spcPts val="0"/>
              </a:spcAft>
            </a:pPr>
            <a:r>
              <a:rPr sz="1300" b="0">
                <a:solidFill>
                  <a:srgbClr val="5B6075"/>
                </a:solidFill>
                <a:latin typeface="Arial"/>
              </a:rPr>
              <a:t>bureau key</a:t>
            </a:r>
          </a:p>
        </p:txBody>
      </p:sp>
      <p:sp>
        <p:nvSpPr>
          <p:cNvPr id="11" name="Rounded Rectangle 10"/>
          <p:cNvSpPr/>
          <p:nvPr/>
        </p:nvSpPr>
        <p:spPr>
          <a:xfrm>
            <a:off x="3246120" y="2697480"/>
            <a:ext cx="2011680" cy="731520"/>
          </a:xfrm>
          <a:prstGeom prst="roundRect">
            <a:avLst>
              <a:gd name="adj" fmla="val 10000"/>
            </a:avLst>
          </a:prstGeom>
          <a:solidFill>
            <a:srgbClr val="FFFFFF"/>
          </a:solidFill>
          <a:ln w="19050">
            <a:solidFill>
              <a:srgbClr val="6779C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100000"/>
              </a:lnSpc>
              <a:spcAft>
                <a:spcPts val="0"/>
              </a:spcAft>
            </a:pPr>
            <a:r>
              <a:rPr sz="1500" b="1">
                <a:solidFill>
                  <a:srgbClr val="1E2235"/>
                </a:solidFill>
                <a:latin typeface="Arial"/>
              </a:rPr>
              <a:t>Signer</a:t>
            </a:r>
          </a:p>
          <a:p>
            <a:pPr algn="ctr">
              <a:lnSpc>
                <a:spcPct val="100000"/>
              </a:lnSpc>
              <a:spcAft>
                <a:spcPts val="0"/>
              </a:spcAft>
            </a:pPr>
            <a:r>
              <a:rPr sz="1300" b="0">
                <a:solidFill>
                  <a:srgbClr val="5B6075"/>
                </a:solidFill>
                <a:latin typeface="Arial"/>
              </a:rPr>
              <a:t>the only agent key</a:t>
            </a:r>
          </a:p>
        </p:txBody>
      </p:sp>
      <p:sp>
        <p:nvSpPr>
          <p:cNvPr id="12" name="Rounded Rectangle 11"/>
          <p:cNvSpPr/>
          <p:nvPr/>
        </p:nvSpPr>
        <p:spPr>
          <a:xfrm>
            <a:off x="6035040" y="2697480"/>
            <a:ext cx="1691640" cy="731520"/>
          </a:xfrm>
          <a:prstGeom prst="roundRect">
            <a:avLst>
              <a:gd name="adj" fmla="val 10000"/>
            </a:avLst>
          </a:prstGeom>
          <a:solidFill>
            <a:srgbClr val="FFFFFF"/>
          </a:solidFill>
          <a:ln w="19050">
            <a:solidFill>
              <a:srgbClr val="6779C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100000"/>
              </a:lnSpc>
              <a:spcAft>
                <a:spcPts val="0"/>
              </a:spcAft>
            </a:pPr>
            <a:r>
              <a:rPr sz="1500" b="1">
                <a:solidFill>
                  <a:srgbClr val="1E2235"/>
                </a:solidFill>
                <a:latin typeface="Arial"/>
              </a:rPr>
              <a:t>Autonomy operator</a:t>
            </a:r>
          </a:p>
          <a:p>
            <a:pPr algn="ctr">
              <a:lnSpc>
                <a:spcPct val="100000"/>
              </a:lnSpc>
              <a:spcAft>
                <a:spcPts val="0"/>
              </a:spcAft>
            </a:pPr>
            <a:r>
              <a:rPr sz="1300" b="0">
                <a:solidFill>
                  <a:srgbClr val="5B6075"/>
                </a:solidFill>
                <a:latin typeface="Arial"/>
              </a:rPr>
              <a:t>autonomy key</a:t>
            </a:r>
          </a:p>
        </p:txBody>
      </p:sp>
      <p:sp>
        <p:nvSpPr>
          <p:cNvPr id="13" name="Rounded Rectangle 12"/>
          <p:cNvSpPr/>
          <p:nvPr/>
        </p:nvSpPr>
        <p:spPr>
          <a:xfrm>
            <a:off x="731520" y="4160520"/>
            <a:ext cx="1874520" cy="777240"/>
          </a:xfrm>
          <a:prstGeom prst="roundRect">
            <a:avLst>
              <a:gd name="adj" fmla="val 10000"/>
            </a:avLst>
          </a:prstGeom>
          <a:solidFill>
            <a:srgbClr val="FFFFFF"/>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100000"/>
              </a:lnSpc>
              <a:spcAft>
                <a:spcPts val="0"/>
              </a:spcAft>
            </a:pPr>
            <a:r>
              <a:rPr sz="1500" b="1">
                <a:solidFill>
                  <a:srgbClr val="1E2235"/>
                </a:solidFill>
                <a:latin typeface="Arial"/>
              </a:rPr>
              <a:t>AgentCreditBureau</a:t>
            </a:r>
          </a:p>
          <a:p>
            <a:pPr algn="ctr">
              <a:lnSpc>
                <a:spcPct val="100000"/>
              </a:lnSpc>
              <a:spcAft>
                <a:spcPts val="0"/>
              </a:spcAft>
            </a:pPr>
            <a:r>
              <a:rPr sz="1300" b="0">
                <a:solidFill>
                  <a:srgbClr val="5B6075"/>
                </a:solidFill>
                <a:latin typeface="Arial"/>
              </a:rPr>
              <a:t>grades, evidence hashes</a:t>
            </a:r>
          </a:p>
        </p:txBody>
      </p:sp>
      <p:sp>
        <p:nvSpPr>
          <p:cNvPr id="14" name="Rounded Rectangle 13"/>
          <p:cNvSpPr/>
          <p:nvPr/>
        </p:nvSpPr>
        <p:spPr>
          <a:xfrm>
            <a:off x="3246120" y="4160520"/>
            <a:ext cx="2011680" cy="777240"/>
          </a:xfrm>
          <a:prstGeom prst="roundRect">
            <a:avLst>
              <a:gd name="adj" fmla="val 10000"/>
            </a:avLst>
          </a:prstGeom>
          <a:solidFill>
            <a:srgbClr val="FFFFFF"/>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100000"/>
              </a:lnSpc>
              <a:spcAft>
                <a:spcPts val="0"/>
              </a:spcAft>
            </a:pPr>
            <a:r>
              <a:rPr sz="1500" b="1">
                <a:solidFill>
                  <a:srgbClr val="1E2235"/>
                </a:solidFill>
                <a:latin typeface="Arial"/>
              </a:rPr>
              <a:t>TierVault (wallet)</a:t>
            </a:r>
          </a:p>
          <a:p>
            <a:pPr algn="ctr">
              <a:lnSpc>
                <a:spcPct val="100000"/>
              </a:lnSpc>
              <a:spcAft>
                <a:spcPts val="0"/>
              </a:spcAft>
            </a:pPr>
            <a:r>
              <a:rPr sz="1300" b="0">
                <a:solidFill>
                  <a:srgbClr val="5B6075"/>
                </a:solidFill>
                <a:latin typeface="Arial"/>
              </a:rPr>
              <a:t>mandate, caps, grade gate</a:t>
            </a:r>
          </a:p>
        </p:txBody>
      </p:sp>
      <p:sp>
        <p:nvSpPr>
          <p:cNvPr id="15" name="Rounded Rectangle 14"/>
          <p:cNvSpPr/>
          <p:nvPr/>
        </p:nvSpPr>
        <p:spPr>
          <a:xfrm>
            <a:off x="6035040" y="4160520"/>
            <a:ext cx="1691640" cy="777240"/>
          </a:xfrm>
          <a:prstGeom prst="roundRect">
            <a:avLst>
              <a:gd name="adj" fmla="val 10000"/>
            </a:avLst>
          </a:prstGeom>
          <a:solidFill>
            <a:srgbClr val="FFFFFF"/>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100000"/>
              </a:lnSpc>
              <a:spcAft>
                <a:spcPts val="0"/>
              </a:spcAft>
            </a:pPr>
            <a:r>
              <a:rPr sz="1500" b="1">
                <a:solidFill>
                  <a:srgbClr val="1E2235"/>
                </a:solidFill>
                <a:latin typeface="Arial"/>
              </a:rPr>
              <a:t>USDC</a:t>
            </a:r>
          </a:p>
          <a:p>
            <a:pPr algn="ctr">
              <a:lnSpc>
                <a:spcPct val="100000"/>
              </a:lnSpc>
              <a:spcAft>
                <a:spcPts val="0"/>
              </a:spcAft>
            </a:pPr>
            <a:r>
              <a:rPr sz="1300" b="0">
                <a:solidFill>
                  <a:srgbClr val="5B6075"/>
                </a:solidFill>
                <a:latin typeface="Arial"/>
              </a:rPr>
              <a:t>test token</a:t>
            </a:r>
          </a:p>
        </p:txBody>
      </p:sp>
      <p:sp>
        <p:nvSpPr>
          <p:cNvPr id="16" name="Rounded Rectangle 15"/>
          <p:cNvSpPr/>
          <p:nvPr/>
        </p:nvSpPr>
        <p:spPr>
          <a:xfrm>
            <a:off x="731520" y="5230368"/>
            <a:ext cx="4526280" cy="777240"/>
          </a:xfrm>
          <a:prstGeom prst="roundRect">
            <a:avLst>
              <a:gd name="adj" fmla="val 10000"/>
            </a:avLst>
          </a:prstGeom>
          <a:solidFill>
            <a:srgbClr val="FFFFFF"/>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100000"/>
              </a:lnSpc>
              <a:spcAft>
                <a:spcPts val="0"/>
              </a:spcAft>
            </a:pPr>
            <a:r>
              <a:rPr sz="1500" b="1">
                <a:solidFill>
                  <a:srgbClr val="1E2235"/>
                </a:solidFill>
                <a:latin typeface="Arial"/>
              </a:rPr>
              <a:t>ERC-8004 Identity and Reputation</a:t>
            </a:r>
          </a:p>
          <a:p>
            <a:pPr algn="ctr">
              <a:lnSpc>
                <a:spcPct val="100000"/>
              </a:lnSpc>
              <a:spcAft>
                <a:spcPts val="0"/>
              </a:spcAft>
            </a:pPr>
            <a:r>
              <a:rPr sz="1300" b="0">
                <a:solidFill>
                  <a:srgbClr val="5B6075"/>
                </a:solidFill>
                <a:latin typeface="Arial"/>
              </a:rPr>
              <a:t>official registries, Draft standard</a:t>
            </a:r>
          </a:p>
        </p:txBody>
      </p:sp>
      <p:sp>
        <p:nvSpPr>
          <p:cNvPr id="17" name="Rounded Rectangle 16"/>
          <p:cNvSpPr/>
          <p:nvPr/>
        </p:nvSpPr>
        <p:spPr>
          <a:xfrm>
            <a:off x="3154680" y="1572768"/>
            <a:ext cx="2194560" cy="914400"/>
          </a:xfrm>
          <a:prstGeom prst="roundRect">
            <a:avLst>
              <a:gd name="adj" fmla="val 12000"/>
            </a:avLst>
          </a:prstGeom>
          <a:noFill/>
          <a:ln w="28575">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54680" y="1298448"/>
            <a:ext cx="2194560" cy="274320"/>
          </a:xfrm>
          <a:prstGeom prst="rect">
            <a:avLst/>
          </a:prstGeom>
          <a:noFill/>
        </p:spPr>
        <p:txBody>
          <a:bodyPr wrap="square" lIns="73152" rIns="73152" tIns="36576" bIns="36576" anchor="t">
            <a:noAutofit/>
          </a:bodyPr>
          <a:lstStyle/>
          <a:p>
            <a:pPr algn="r">
              <a:lnSpc>
                <a:spcPct val="100000"/>
              </a:lnSpc>
              <a:spcAft>
                <a:spcPts val="0"/>
              </a:spcAft>
            </a:pPr>
            <a:r>
              <a:rPr sz="1200" b="1">
                <a:solidFill>
                  <a:srgbClr val="D55E00"/>
                </a:solidFill>
                <a:latin typeface="Arial"/>
              </a:rPr>
              <a:t>assume hijacked</a:t>
            </a:r>
          </a:p>
        </p:txBody>
      </p:sp>
      <p:cxnSp>
        <p:nvCxnSpPr>
          <p:cNvPr id="19" name="Connector 18"/>
          <p:cNvCxnSpPr/>
          <p:nvPr/>
        </p:nvCxnSpPr>
        <p:spPr>
          <a:xfrm>
            <a:off x="2606040" y="2029968"/>
            <a:ext cx="548640" cy="0"/>
          </a:xfrm>
          <a:prstGeom prst="line">
            <a:avLst/>
          </a:prstGeom>
          <a:ln w="22225">
            <a:solidFill>
              <a:srgbClr val="1E223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5349240" y="2029968"/>
            <a:ext cx="685800" cy="0"/>
          </a:xfrm>
          <a:prstGeom prst="line">
            <a:avLst/>
          </a:prstGeom>
          <a:ln w="22225">
            <a:solidFill>
              <a:srgbClr val="1E223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251960" y="2487168"/>
            <a:ext cx="0" cy="210312"/>
          </a:xfrm>
          <a:prstGeom prst="line">
            <a:avLst/>
          </a:prstGeom>
          <a:ln w="22225">
            <a:solidFill>
              <a:srgbClr val="1E223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251960" y="3429000"/>
            <a:ext cx="0" cy="731520"/>
          </a:xfrm>
          <a:prstGeom prst="line">
            <a:avLst/>
          </a:prstGeom>
          <a:ln w="22225">
            <a:solidFill>
              <a:srgbClr val="1E223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606040" y="4544568"/>
            <a:ext cx="640080" cy="0"/>
          </a:xfrm>
          <a:prstGeom prst="line">
            <a:avLst/>
          </a:prstGeom>
          <a:ln w="22225">
            <a:solidFill>
              <a:srgbClr val="1E223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257800" y="4544568"/>
            <a:ext cx="777240" cy="0"/>
          </a:xfrm>
          <a:prstGeom prst="line">
            <a:avLst/>
          </a:prstGeom>
          <a:ln w="22225">
            <a:solidFill>
              <a:srgbClr val="1E223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800600" y="4937760"/>
            <a:ext cx="0" cy="292608"/>
          </a:xfrm>
          <a:prstGeom prst="line">
            <a:avLst/>
          </a:prstGeom>
          <a:ln w="22225">
            <a:solidFill>
              <a:srgbClr val="1E223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943100" y="3429000"/>
            <a:ext cx="0" cy="731520"/>
          </a:xfrm>
          <a:prstGeom prst="line">
            <a:avLst/>
          </a:prstGeom>
          <a:ln w="22225">
            <a:solidFill>
              <a:srgbClr val="1E223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585216" y="3429000"/>
            <a:ext cx="329184" cy="2185416"/>
          </a:xfrm>
          <a:custGeom>
            <a:avLst/>
            <a:gdLst/>
            <a:ahLst/>
            <a:cxnLst/>
            <a:rect l="l" t="t" r="r" b="b"/>
            <a:pathLst>
              <a:path w="329184" h="2185416">
                <a:moveTo>
                  <a:pt x="329184" y="0"/>
                </a:moveTo>
                <a:lnTo>
                  <a:pt x="329184" y="182880"/>
                </a:lnTo>
                <a:lnTo>
                  <a:pt x="0" y="182880"/>
                </a:lnTo>
                <a:lnTo>
                  <a:pt x="0" y="2185416"/>
                </a:lnTo>
                <a:lnTo>
                  <a:pt x="146304" y="2185416"/>
                </a:lnTo>
              </a:path>
            </a:pathLst>
          </a:custGeom>
          <a:noFill/>
          <a:ln w="22225">
            <a:solidFill>
              <a:srgbClr val="1E2235"/>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4892040" y="3429000"/>
            <a:ext cx="1600200" cy="731520"/>
          </a:xfrm>
          <a:custGeom>
            <a:avLst/>
            <a:gdLst/>
            <a:ahLst/>
            <a:cxnLst/>
            <a:rect l="l" t="t" r="r" b="b"/>
            <a:pathLst>
              <a:path w="1600200" h="731520">
                <a:moveTo>
                  <a:pt x="1600200" y="0"/>
                </a:moveTo>
                <a:lnTo>
                  <a:pt x="1600200" y="502920"/>
                </a:lnTo>
                <a:lnTo>
                  <a:pt x="0" y="502920"/>
                </a:lnTo>
                <a:lnTo>
                  <a:pt x="0" y="731520"/>
                </a:lnTo>
              </a:path>
            </a:pathLst>
          </a:custGeom>
          <a:noFill/>
          <a:ln w="22225">
            <a:solidFill>
              <a:srgbClr val="1E2235"/>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06040" y="1700784"/>
            <a:ext cx="548640" cy="292608"/>
          </a:xfrm>
          <a:prstGeom prst="rect">
            <a:avLst/>
          </a:prstGeom>
          <a:noFill/>
        </p:spPr>
        <p:txBody>
          <a:bodyPr wrap="square" lIns="0" rIns="0" tIns="36576" bIns="36576" anchor="t">
            <a:noAutofit/>
          </a:bodyPr>
          <a:lstStyle/>
          <a:p>
            <a:pPr algn="ctr">
              <a:lnSpc>
                <a:spcPct val="100000"/>
              </a:lnSpc>
              <a:spcAft>
                <a:spcPts val="0"/>
              </a:spcAft>
            </a:pPr>
            <a:r>
              <a:rPr sz="1300" b="0">
                <a:solidFill>
                  <a:srgbClr val="5B6075"/>
                </a:solidFill>
                <a:latin typeface="Arial"/>
              </a:rPr>
              <a:t>intent</a:t>
            </a:r>
          </a:p>
        </p:txBody>
      </p:sp>
      <p:sp>
        <p:nvSpPr>
          <p:cNvPr id="30" name="TextBox 29"/>
          <p:cNvSpPr txBox="1"/>
          <p:nvPr/>
        </p:nvSpPr>
        <p:spPr>
          <a:xfrm>
            <a:off x="5349240" y="1700784"/>
            <a:ext cx="685800" cy="292608"/>
          </a:xfrm>
          <a:prstGeom prst="rect">
            <a:avLst/>
          </a:prstGeom>
          <a:noFill/>
        </p:spPr>
        <p:txBody>
          <a:bodyPr wrap="square" lIns="0" rIns="0" tIns="36576" bIns="36576" anchor="t">
            <a:noAutofit/>
          </a:bodyPr>
          <a:lstStyle/>
          <a:p>
            <a:pPr algn="ctr">
              <a:lnSpc>
                <a:spcPct val="100000"/>
              </a:lnSpc>
              <a:spcAft>
                <a:spcPts val="0"/>
              </a:spcAft>
            </a:pPr>
            <a:r>
              <a:rPr sz="1300" b="0">
                <a:solidFill>
                  <a:srgbClr val="5B6075"/>
                </a:solidFill>
                <a:latin typeface="Arial"/>
              </a:rPr>
              <a:t>invoice</a:t>
            </a:r>
          </a:p>
        </p:txBody>
      </p:sp>
      <p:sp>
        <p:nvSpPr>
          <p:cNvPr id="31" name="TextBox 30"/>
          <p:cNvSpPr txBox="1"/>
          <p:nvPr/>
        </p:nvSpPr>
        <p:spPr>
          <a:xfrm>
            <a:off x="4297680" y="3438144"/>
            <a:ext cx="1188720" cy="292608"/>
          </a:xfrm>
          <a:prstGeom prst="rect">
            <a:avLst/>
          </a:prstGeom>
          <a:noFill/>
        </p:spPr>
        <p:txBody>
          <a:bodyPr wrap="square" lIns="0" rIns="0" tIns="36576" bIns="36576" anchor="t">
            <a:noAutofit/>
          </a:bodyPr>
          <a:lstStyle/>
          <a:p>
            <a:pPr algn="l">
              <a:lnSpc>
                <a:spcPct val="100000"/>
              </a:lnSpc>
              <a:spcAft>
                <a:spcPts val="0"/>
              </a:spcAft>
            </a:pPr>
            <a:r>
              <a:rPr sz="1300" b="0">
                <a:solidFill>
                  <a:srgbClr val="5B6075"/>
                </a:solidFill>
                <a:latin typeface="Arial"/>
              </a:rPr>
              <a:t>signed tx</a:t>
            </a:r>
          </a:p>
        </p:txBody>
      </p:sp>
      <p:sp>
        <p:nvSpPr>
          <p:cNvPr id="32" name="TextBox 31"/>
          <p:cNvSpPr txBox="1"/>
          <p:nvPr/>
        </p:nvSpPr>
        <p:spPr>
          <a:xfrm>
            <a:off x="2606040" y="4224528"/>
            <a:ext cx="640080" cy="292608"/>
          </a:xfrm>
          <a:prstGeom prst="rect">
            <a:avLst/>
          </a:prstGeom>
          <a:noFill/>
        </p:spPr>
        <p:txBody>
          <a:bodyPr wrap="square" lIns="0" rIns="0" tIns="36576" bIns="36576" anchor="t">
            <a:noAutofit/>
          </a:bodyPr>
          <a:lstStyle/>
          <a:p>
            <a:pPr algn="ctr">
              <a:lnSpc>
                <a:spcPct val="100000"/>
              </a:lnSpc>
              <a:spcAft>
                <a:spcPts val="0"/>
              </a:spcAft>
            </a:pPr>
            <a:r>
              <a:rPr sz="1300" b="0">
                <a:solidFill>
                  <a:srgbClr val="5B6075"/>
                </a:solidFill>
                <a:latin typeface="Arial"/>
              </a:rPr>
              <a:t>grade</a:t>
            </a:r>
          </a:p>
        </p:txBody>
      </p:sp>
      <p:sp>
        <p:nvSpPr>
          <p:cNvPr id="33" name="TextBox 32"/>
          <p:cNvSpPr txBox="1"/>
          <p:nvPr/>
        </p:nvSpPr>
        <p:spPr>
          <a:xfrm>
            <a:off x="5257800" y="4224528"/>
            <a:ext cx="777240" cy="292608"/>
          </a:xfrm>
          <a:prstGeom prst="rect">
            <a:avLst/>
          </a:prstGeom>
          <a:noFill/>
        </p:spPr>
        <p:txBody>
          <a:bodyPr wrap="square" lIns="0" rIns="0" tIns="36576" bIns="36576" anchor="t">
            <a:noAutofit/>
          </a:bodyPr>
          <a:lstStyle/>
          <a:p>
            <a:pPr algn="ctr">
              <a:lnSpc>
                <a:spcPct val="100000"/>
              </a:lnSpc>
              <a:spcAft>
                <a:spcPts val="0"/>
              </a:spcAft>
            </a:pPr>
            <a:r>
              <a:rPr sz="1300" b="0">
                <a:solidFill>
                  <a:srgbClr val="5B6075"/>
                </a:solidFill>
                <a:latin typeface="Arial"/>
              </a:rPr>
              <a:t>wallet</a:t>
            </a:r>
          </a:p>
        </p:txBody>
      </p:sp>
      <p:sp>
        <p:nvSpPr>
          <p:cNvPr id="34" name="TextBox 33"/>
          <p:cNvSpPr txBox="1"/>
          <p:nvPr/>
        </p:nvSpPr>
        <p:spPr>
          <a:xfrm>
            <a:off x="1988820" y="3438144"/>
            <a:ext cx="731520" cy="292608"/>
          </a:xfrm>
          <a:prstGeom prst="rect">
            <a:avLst/>
          </a:prstGeom>
          <a:noFill/>
        </p:spPr>
        <p:txBody>
          <a:bodyPr wrap="square" lIns="0" rIns="0" tIns="36576" bIns="36576" anchor="t">
            <a:noAutofit/>
          </a:bodyPr>
          <a:lstStyle/>
          <a:p>
            <a:pPr algn="l">
              <a:lnSpc>
                <a:spcPct val="100000"/>
              </a:lnSpc>
              <a:spcAft>
                <a:spcPts val="0"/>
              </a:spcAft>
            </a:pPr>
            <a:r>
              <a:rPr sz="1300" b="0">
                <a:solidFill>
                  <a:srgbClr val="5B6075"/>
                </a:solidFill>
                <a:latin typeface="Arial"/>
              </a:rPr>
              <a:t>posts</a:t>
            </a:r>
          </a:p>
        </p:txBody>
      </p:sp>
      <p:sp>
        <p:nvSpPr>
          <p:cNvPr id="35" name="TextBox 34"/>
          <p:cNvSpPr txBox="1"/>
          <p:nvPr/>
        </p:nvSpPr>
        <p:spPr>
          <a:xfrm>
            <a:off x="6537960" y="3438144"/>
            <a:ext cx="914400" cy="292608"/>
          </a:xfrm>
          <a:prstGeom prst="rect">
            <a:avLst/>
          </a:prstGeom>
          <a:noFill/>
        </p:spPr>
        <p:txBody>
          <a:bodyPr wrap="square" lIns="0" rIns="0" tIns="36576" bIns="36576" anchor="t">
            <a:noAutofit/>
          </a:bodyPr>
          <a:lstStyle/>
          <a:p>
            <a:pPr algn="l">
              <a:lnSpc>
                <a:spcPct val="100000"/>
              </a:lnSpc>
              <a:spcAft>
                <a:spcPts val="0"/>
              </a:spcAft>
            </a:pPr>
            <a:r>
              <a:rPr sz="1300" b="0">
                <a:solidFill>
                  <a:srgbClr val="5B6075"/>
                </a:solidFill>
                <a:latin typeface="Arial"/>
              </a:rPr>
              <a:t>tier</a:t>
            </a:r>
          </a:p>
        </p:txBody>
      </p:sp>
      <p:sp>
        <p:nvSpPr>
          <p:cNvPr id="36" name="TextBox 35"/>
          <p:cNvSpPr txBox="1"/>
          <p:nvPr/>
        </p:nvSpPr>
        <p:spPr>
          <a:xfrm>
            <a:off x="4846320" y="4937760"/>
            <a:ext cx="914400" cy="292608"/>
          </a:xfrm>
          <a:prstGeom prst="rect">
            <a:avLst/>
          </a:prstGeom>
          <a:noFill/>
        </p:spPr>
        <p:txBody>
          <a:bodyPr wrap="square" lIns="0" rIns="0" tIns="36576" bIns="36576" anchor="t">
            <a:noAutofit/>
          </a:bodyPr>
          <a:lstStyle/>
          <a:p>
            <a:pPr algn="l">
              <a:lnSpc>
                <a:spcPct val="100000"/>
              </a:lnSpc>
              <a:spcAft>
                <a:spcPts val="0"/>
              </a:spcAft>
            </a:pPr>
            <a:r>
              <a:rPr sz="1300" b="0">
                <a:solidFill>
                  <a:srgbClr val="5B6075"/>
                </a:solidFill>
                <a:latin typeface="Arial"/>
              </a:rPr>
              <a:t>reads</a:t>
            </a:r>
          </a:p>
        </p:txBody>
      </p:sp>
      <p:sp>
        <p:nvSpPr>
          <p:cNvPr id="37" name="TextBox 36"/>
          <p:cNvSpPr txBox="1"/>
          <p:nvPr/>
        </p:nvSpPr>
        <p:spPr>
          <a:xfrm>
            <a:off x="8001000" y="1261872"/>
            <a:ext cx="3657600" cy="4983480"/>
          </a:xfrm>
          <a:prstGeom prst="rect">
            <a:avLst/>
          </a:prstGeom>
          <a:noFill/>
        </p:spPr>
        <p:txBody>
          <a:bodyPr wrap="square" lIns="73152" rIns="73152" tIns="36576" bIns="36576" anchor="t">
            <a:noAutofit/>
          </a:bodyPr>
          <a:lstStyle/>
          <a:p>
            <a:pPr algn="l" marL="256032" indent="-256032">
              <a:lnSpc>
                <a:spcPct val="100000"/>
              </a:lnSpc>
              <a:spcAft>
                <a:spcPts val="700"/>
              </a:spcAft>
              <a:buClr>
                <a:srgbClr val="6779C6"/>
              </a:buClr>
              <a:buFont typeface="Arial"/>
              <a:buChar char="•"/>
            </a:pPr>
            <a:r>
              <a:rPr sz="1800" b="0">
                <a:solidFill>
                  <a:srgbClr val="1E2235"/>
                </a:solidFill>
                <a:latin typeface="Arial"/>
              </a:rPr>
              <a:t>The owner states intent in chat; the LLM holds no key</a:t>
            </a:r>
          </a:p>
          <a:p>
            <a:pPr algn="l" marL="256032" indent="-256032">
              <a:lnSpc>
                <a:spcPct val="100000"/>
              </a:lnSpc>
              <a:spcAft>
                <a:spcPts val="700"/>
              </a:spcAft>
              <a:buClr>
                <a:srgbClr val="6779C6"/>
              </a:buClr>
              <a:buFont typeface="Arial"/>
              <a:buChar char="•"/>
            </a:pPr>
            <a:r>
              <a:rPr sz="1800" b="0">
                <a:solidFill>
                  <a:srgbClr val="1E2235"/>
                </a:solidFill>
                <a:latin typeface="Arial"/>
              </a:rPr>
              <a:t>The owner registers the mandate on-chain: payees, pinned wallets, budgets, expiry</a:t>
            </a:r>
          </a:p>
          <a:p>
            <a:pPr algn="l" marL="256032" indent="-256032">
              <a:lnSpc>
                <a:spcPct val="100000"/>
              </a:lnSpc>
              <a:spcAft>
                <a:spcPts val="700"/>
              </a:spcAft>
              <a:buClr>
                <a:srgbClr val="6779C6"/>
              </a:buClr>
              <a:buFont typeface="Arial"/>
              <a:buChar char="•"/>
            </a:pPr>
            <a:r>
              <a:rPr sz="1800" b="0">
                <a:solidFill>
                  <a:srgbClr val="1E2235"/>
                </a:solidFill>
                <a:latin typeface="Arial"/>
              </a:rPr>
              <a:t>A separate signer re-checks each payment; only it holds the agent key</a:t>
            </a:r>
          </a:p>
          <a:p>
            <a:pPr algn="l" marL="256032" indent="-256032">
              <a:lnSpc>
                <a:spcPct val="100000"/>
              </a:lnSpc>
              <a:spcAft>
                <a:spcPts val="700"/>
              </a:spcAft>
              <a:buClr>
                <a:srgbClr val="6779C6"/>
              </a:buClr>
              <a:buFont typeface="Arial"/>
              <a:buChar char="•"/>
            </a:pPr>
            <a:r>
              <a:rPr sz="1800" b="0">
                <a:solidFill>
                  <a:srgbClr val="1E2235"/>
                </a:solidFill>
                <a:latin typeface="Arial"/>
              </a:rPr>
              <a:t>The TierVault enforces mandate, tier caps, grade gate, reserve floor, freeze</a:t>
            </a:r>
          </a:p>
          <a:p>
            <a:pPr algn="l" marL="256032" indent="-256032">
              <a:lnSpc>
                <a:spcPct val="100000"/>
              </a:lnSpc>
              <a:spcAft>
                <a:spcPts val="0"/>
              </a:spcAft>
              <a:buClr>
                <a:srgbClr val="6779C6"/>
              </a:buClr>
              <a:buFont typeface="Arial"/>
              <a:buChar char="•"/>
            </a:pPr>
            <a:r>
              <a:rPr sz="1800" b="0">
                <a:solidFill>
                  <a:srgbClr val="1E2235"/>
                </a:solidFill>
                <a:latin typeface="Arial"/>
              </a:rPr>
              <a:t>Separate keys: the bureau grades, the autonomy operator promotes, the owner unfreezes</a:t>
            </a:r>
          </a:p>
        </p:txBody>
      </p:sp>
      <p:sp>
        <p:nvSpPr>
          <p:cNvPr id="38" name="Footer"/>
          <p:cNvSpPr txBox="1"/>
          <p:nvPr/>
        </p:nvSpPr>
        <p:spPr>
          <a:xfrm>
            <a:off x="457200" y="6272784"/>
            <a:ext cx="11292840" cy="347472"/>
          </a:xfrm>
          <a:prstGeom prst="rect">
            <a:avLst/>
          </a:prstGeom>
          <a:noFill/>
        </p:spPr>
        <p:txBody>
          <a:bodyPr wrap="square" lIns="73152" rIns="73152" tIns="36576" bIns="36576" anchor="t">
            <a:noAutofit/>
          </a:bodyPr>
          <a:lstStyle/>
          <a:p>
            <a:pPr algn="l">
              <a:lnSpc>
                <a:spcPct val="100000"/>
              </a:lnSpc>
              <a:spcAft>
                <a:spcPts val="0"/>
              </a:spcAft>
            </a:pPr>
            <a:r>
              <a:rPr sz="1100" b="0">
                <a:solidFill>
                  <a:srgbClr val="5B6075"/>
                </a:solidFill>
                <a:latin typeface="Arial"/>
              </a:rPr>
              <a:t>Addresses: ACB </a:t>
            </a:r>
            <a:r>
              <a:rPr sz="1100" b="0">
                <a:solidFill>
                  <a:srgbClr val="5B6075"/>
                </a:solidFill>
                <a:latin typeface="Courier New"/>
              </a:rPr>
              <a:t>0xd88f1f...4374</a:t>
            </a:r>
            <a:r>
              <a:rPr sz="1100" b="0">
                <a:solidFill>
                  <a:srgbClr val="5B6075"/>
                </a:solidFill>
                <a:latin typeface="Arial"/>
              </a:rPr>
              <a:t>, wallet vault </a:t>
            </a:r>
            <a:r>
              <a:rPr sz="1100" b="0">
                <a:solidFill>
                  <a:srgbClr val="5B6075"/>
                </a:solidFill>
                <a:latin typeface="Courier New"/>
              </a:rPr>
              <a:t>0x16c7a9...12ad</a:t>
            </a:r>
            <a:r>
              <a:rPr sz="1100" b="0">
                <a:solidFill>
                  <a:srgbClr val="5B6075"/>
                </a:solidFill>
                <a:latin typeface="Arial"/>
              </a:rPr>
              <a:t>, Identity </a:t>
            </a:r>
            <a:r>
              <a:rPr sz="1100" b="0">
                <a:solidFill>
                  <a:srgbClr val="5B6075"/>
                </a:solidFill>
                <a:latin typeface="Courier New"/>
              </a:rPr>
              <a:t>0x8004a8...bd9e</a:t>
            </a:r>
            <a:r>
              <a:rPr sz="1100" b="0">
                <a:solidFill>
                  <a:srgbClr val="5B6075"/>
                </a:solidFill>
                <a:latin typeface="Arial"/>
              </a:rPr>
              <a:t>, Reputation </a:t>
            </a:r>
            <a:r>
              <a:rPr sz="1100" b="0">
                <a:solidFill>
                  <a:srgbClr val="5B6075"/>
                </a:solidFill>
                <a:latin typeface="Courier New"/>
              </a:rPr>
              <a:t>0x8004b6...8713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2400" b="1">
                <a:solidFill>
                  <a:srgbClr val="FFFFFF"/>
                </a:solidFill>
                <a:latin typeface="Arial"/>
              </a:rPr>
              <a:t>The credit bureau: a scorecard anyone can recompute</a:t>
            </a:r>
          </a:p>
        </p:txBody>
      </p:sp>
      <p:sp>
        <p:nvSpPr>
          <p:cNvPr id="3" name="TextBox 2"/>
          <p:cNvSpPr txBox="1"/>
          <p:nvPr/>
        </p:nvSpPr>
        <p:spPr>
          <a:xfrm>
            <a:off x="457200" y="1261872"/>
            <a:ext cx="5577840" cy="3611880"/>
          </a:xfrm>
          <a:prstGeom prst="rect">
            <a:avLst/>
          </a:prstGeom>
          <a:noFill/>
        </p:spPr>
        <p:txBody>
          <a:bodyPr wrap="square" lIns="73152" rIns="73152" tIns="36576" bIns="36576" anchor="t">
            <a:noAutofit/>
          </a:bodyPr>
          <a:lstStyle/>
          <a:p>
            <a:pPr algn="l" marL="256032" indent="-256032">
              <a:lnSpc>
                <a:spcPct val="100000"/>
              </a:lnSpc>
              <a:spcAft>
                <a:spcPts val="800"/>
              </a:spcAft>
              <a:buClr>
                <a:srgbClr val="6779C6"/>
              </a:buClr>
              <a:buFont typeface="Arial"/>
              <a:buChar char="•"/>
            </a:pPr>
            <a:r>
              <a:rPr sz="1800" b="0">
                <a:solidFill>
                  <a:srgbClr val="1E2235"/>
                </a:solidFill>
                <a:latin typeface="Arial"/>
              </a:rPr>
              <a:t>Counts only registered-vault orders with a payee-signed invoice</a:t>
            </a:r>
          </a:p>
          <a:p>
            <a:pPr algn="l" marL="256032" indent="-256032">
              <a:lnSpc>
                <a:spcPct val="100000"/>
              </a:lnSpc>
              <a:spcAft>
                <a:spcPts val="800"/>
              </a:spcAft>
              <a:buClr>
                <a:srgbClr val="6779C6"/>
              </a:buClr>
              <a:buFont typeface="Arial"/>
              <a:buChar char="•"/>
            </a:pPr>
            <a:r>
              <a:rPr sz="1800" b="0">
                <a:solidFill>
                  <a:srgbClr val="1E2235"/>
                </a:solidFill>
                <a:latin typeface="Arial"/>
              </a:rPr>
              <a:t>Score = 600 + points, 300-850; A &gt;= 700, B &gt;= 640, C &gt;= 560, else D</a:t>
            </a:r>
          </a:p>
          <a:p>
            <a:pPr algn="l" marL="256032" indent="-256032">
              <a:lnSpc>
                <a:spcPct val="100000"/>
              </a:lnSpc>
              <a:spcAft>
                <a:spcPts val="800"/>
              </a:spcAft>
              <a:buClr>
                <a:srgbClr val="6779C6"/>
              </a:buClr>
              <a:buFont typeface="Arial"/>
              <a:buChar char="•"/>
            </a:pPr>
            <a:r>
              <a:rPr sz="1800" b="0">
                <a:solidFill>
                  <a:srgbClr val="1E2235"/>
                </a:solidFill>
                <a:latin typeface="Arial"/>
              </a:rPr>
              <a:t>Under 3 settled orders: NEW, or C or D after failures or flags</a:t>
            </a:r>
          </a:p>
          <a:p>
            <a:pPr algn="l" marL="256032" indent="-256032">
              <a:lnSpc>
                <a:spcPct val="100000"/>
              </a:lnSpc>
              <a:spcAft>
                <a:spcPts val="800"/>
              </a:spcAft>
              <a:buClr>
                <a:srgbClr val="6779C6"/>
              </a:buClr>
              <a:buFont typeface="Arial"/>
              <a:buChar char="•"/>
            </a:pPr>
            <a:r>
              <a:rPr sz="1800" b="0">
                <a:solidFill>
                  <a:srgbClr val="1E2235"/>
                </a:solidFill>
                <a:latin typeface="Arial"/>
              </a:rPr>
              <a:t>Praise and a new identity's accusations weigh 0</a:t>
            </a:r>
          </a:p>
          <a:p>
            <a:pPr algn="l" marL="256032" indent="-256032">
              <a:lnSpc>
                <a:spcPct val="100000"/>
              </a:lnSpc>
              <a:spcAft>
                <a:spcPts val="0"/>
              </a:spcAft>
              <a:buClr>
                <a:srgbClr val="6779C6"/>
              </a:buClr>
              <a:buFont typeface="Arial"/>
              <a:buChar char="•"/>
            </a:pPr>
            <a:r>
              <a:rPr sz="1800" b="0">
                <a:solidFill>
                  <a:srgbClr val="1E2235"/>
                </a:solidFill>
                <a:latin typeface="Arial"/>
              </a:rPr>
              <a:t>Each grade posts model id, config hash, evidence hash, up to 4 reason codes</a:t>
            </a:r>
          </a:p>
        </p:txBody>
      </p:sp>
      <p:sp>
        <p:nvSpPr>
          <p:cNvPr id="4" name="Rounded Rectangle 3"/>
          <p:cNvSpPr/>
          <p:nvPr/>
        </p:nvSpPr>
        <p:spPr>
          <a:xfrm>
            <a:off x="548640" y="4956048"/>
            <a:ext cx="5394960" cy="777240"/>
          </a:xfrm>
          <a:prstGeom prst="roundRect">
            <a:avLst>
              <a:gd name="adj" fmla="val 8000"/>
            </a:avLst>
          </a:prstGeom>
          <a:solidFill>
            <a:srgbClr val="1E2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noAutofit/>
          </a:bodyPr>
          <a:lstStyle/>
          <a:p>
            <a:pPr algn="l">
              <a:lnSpc>
                <a:spcPct val="100000"/>
              </a:lnSpc>
              <a:spcAft>
                <a:spcPts val="200"/>
              </a:spcAft>
            </a:pPr>
            <a:r>
              <a:rPr sz="1400" b="0">
                <a:solidFill>
                  <a:srgbClr val="E6E8F2"/>
                </a:solidFill>
                <a:latin typeface="Courier New"/>
              </a:rPr>
              <a:t>$ acb bureau recompute --tx 0x58d9b3...254f</a:t>
            </a:r>
          </a:p>
          <a:p>
            <a:pPr algn="l">
              <a:lnSpc>
                <a:spcPct val="100000"/>
              </a:lnSpc>
              <a:spcAft>
                <a:spcPts val="0"/>
              </a:spcAft>
            </a:pPr>
            <a:r>
              <a:rPr sz="1400" b="1">
                <a:solidFill>
                  <a:srgbClr val="009E73"/>
                </a:solidFill>
                <a:latin typeface="Courier New"/>
              </a:rPr>
              <a:t>MATCH</a:t>
            </a:r>
          </a:p>
        </p:txBody>
      </p:sp>
      <p:sp>
        <p:nvSpPr>
          <p:cNvPr id="5" name="Rounded Rectangle 4"/>
          <p:cNvSpPr/>
          <p:nvPr/>
        </p:nvSpPr>
        <p:spPr>
          <a:xfrm>
            <a:off x="6263640" y="1261872"/>
            <a:ext cx="5394960" cy="4937760"/>
          </a:xfrm>
          <a:prstGeom prst="roundRect">
            <a:avLst>
              <a:gd name="adj" fmla="val 3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307592"/>
            <a:ext cx="5120640" cy="411480"/>
          </a:xfrm>
          <a:prstGeom prst="rect">
            <a:avLst/>
          </a:prstGeom>
          <a:noFill/>
        </p:spPr>
        <p:txBody>
          <a:bodyPr wrap="square" lIns="73152" rIns="73152" tIns="36576" bIns="36576" anchor="t">
            <a:noAutofit/>
          </a:bodyPr>
          <a:lstStyle/>
          <a:p>
            <a:pPr algn="l">
              <a:lnSpc>
                <a:spcPct val="100000"/>
              </a:lnSpc>
              <a:spcAft>
                <a:spcPts val="0"/>
              </a:spcAft>
            </a:pPr>
            <a:r>
              <a:rPr sz="1800" b="1">
                <a:solidFill>
                  <a:srgbClr val="3F4C9E"/>
                </a:solidFill>
                <a:latin typeface="Arial"/>
              </a:rPr>
              <a:t>Ghost Feeds: grade posting at S11</a:t>
            </a:r>
          </a:p>
        </p:txBody>
      </p:sp>
      <p:sp>
        <p:nvSpPr>
          <p:cNvPr id="7" name="TextBox 6"/>
          <p:cNvSpPr txBox="1"/>
          <p:nvPr/>
        </p:nvSpPr>
        <p:spPr>
          <a:xfrm>
            <a:off x="6400800" y="1810512"/>
            <a:ext cx="1828800" cy="347472"/>
          </a:xfrm>
          <a:prstGeom prst="rect">
            <a:avLst/>
          </a:prstGeom>
          <a:noFill/>
        </p:spPr>
        <p:txBody>
          <a:bodyPr wrap="square" lIns="73152" rIns="73152" tIns="36576" bIns="36576" anchor="ctr">
            <a:noAutofit/>
          </a:bodyPr>
          <a:lstStyle/>
          <a:p>
            <a:pPr algn="l">
              <a:lnSpc>
                <a:spcPct val="100000"/>
              </a:lnSpc>
              <a:spcAft>
                <a:spcPts val="0"/>
              </a:spcAft>
            </a:pPr>
            <a:r>
              <a:rPr sz="1400" b="0">
                <a:solidFill>
                  <a:srgbClr val="5B6075"/>
                </a:solidFill>
                <a:latin typeface="Arial"/>
              </a:rPr>
              <a:t>Grade bands</a:t>
            </a:r>
          </a:p>
        </p:txBody>
      </p:sp>
      <p:sp>
        <p:nvSpPr>
          <p:cNvPr id="8" name="Rectangle 7"/>
          <p:cNvSpPr/>
          <p:nvPr/>
        </p:nvSpPr>
        <p:spPr>
          <a:xfrm>
            <a:off x="8229600" y="1810512"/>
            <a:ext cx="1491303" cy="347472"/>
          </a:xfrm>
          <a:prstGeom prst="rect">
            <a:avLst/>
          </a:prstGeom>
          <a:solidFill>
            <a:srgbClr val="D55E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lnSpc>
                <a:spcPct val="100000"/>
              </a:lnSpc>
              <a:spcAft>
                <a:spcPts val="0"/>
              </a:spcAft>
            </a:pPr>
            <a:r>
              <a:rPr sz="1400" b="1">
                <a:solidFill>
                  <a:srgbClr val="FFFFFF"/>
                </a:solidFill>
                <a:latin typeface="Arial"/>
              </a:rPr>
              <a:t>D</a:t>
            </a:r>
          </a:p>
        </p:txBody>
      </p:sp>
      <p:sp>
        <p:nvSpPr>
          <p:cNvPr id="9" name="Rectangle 8"/>
          <p:cNvSpPr/>
          <p:nvPr/>
        </p:nvSpPr>
        <p:spPr>
          <a:xfrm>
            <a:off x="9720903" y="1810512"/>
            <a:ext cx="458863" cy="347472"/>
          </a:xfrm>
          <a:prstGeom prst="rect">
            <a:avLst/>
          </a:prstGeom>
          <a:solidFill>
            <a:srgbClr val="E69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lnSpc>
                <a:spcPct val="100000"/>
              </a:lnSpc>
              <a:spcAft>
                <a:spcPts val="0"/>
              </a:spcAft>
            </a:pPr>
            <a:r>
              <a:rPr sz="1400" b="1">
                <a:solidFill>
                  <a:srgbClr val="1E2235"/>
                </a:solidFill>
                <a:latin typeface="Arial"/>
              </a:rPr>
              <a:t>C</a:t>
            </a:r>
          </a:p>
        </p:txBody>
      </p:sp>
      <p:sp>
        <p:nvSpPr>
          <p:cNvPr id="10" name="Rectangle 9"/>
          <p:cNvSpPr/>
          <p:nvPr/>
        </p:nvSpPr>
        <p:spPr>
          <a:xfrm>
            <a:off x="10179766" y="1810512"/>
            <a:ext cx="344147" cy="347472"/>
          </a:xfrm>
          <a:prstGeom prst="rect">
            <a:avLst/>
          </a:prstGeom>
          <a:solidFill>
            <a:srgbClr val="56B4E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lnSpc>
                <a:spcPct val="100000"/>
              </a:lnSpc>
              <a:spcAft>
                <a:spcPts val="0"/>
              </a:spcAft>
            </a:pPr>
            <a:r>
              <a:rPr sz="1400" b="1">
                <a:solidFill>
                  <a:srgbClr val="FFFFFF"/>
                </a:solidFill>
                <a:latin typeface="Arial"/>
              </a:rPr>
              <a:t>B</a:t>
            </a:r>
          </a:p>
        </p:txBody>
      </p:sp>
      <p:sp>
        <p:nvSpPr>
          <p:cNvPr id="11" name="Rectangle 10"/>
          <p:cNvSpPr/>
          <p:nvPr/>
        </p:nvSpPr>
        <p:spPr>
          <a:xfrm>
            <a:off x="10523913" y="1810512"/>
            <a:ext cx="860367" cy="347472"/>
          </a:xfrm>
          <a:prstGeom prst="rect">
            <a:avLst/>
          </a:prstGeom>
          <a:solidFill>
            <a:srgbClr val="009E7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lnSpc>
                <a:spcPct val="100000"/>
              </a:lnSpc>
              <a:spcAft>
                <a:spcPts val="0"/>
              </a:spcAft>
            </a:pPr>
            <a:r>
              <a:rPr sz="1400" b="1">
                <a:solidFill>
                  <a:srgbClr val="FFFFFF"/>
                </a:solidFill>
                <a:latin typeface="Arial"/>
              </a:rPr>
              <a:t>A</a:t>
            </a:r>
          </a:p>
        </p:txBody>
      </p:sp>
      <p:sp>
        <p:nvSpPr>
          <p:cNvPr id="12" name="TextBox 11"/>
          <p:cNvSpPr txBox="1"/>
          <p:nvPr/>
        </p:nvSpPr>
        <p:spPr>
          <a:xfrm>
            <a:off x="7955280" y="2157984"/>
            <a:ext cx="548640" cy="237744"/>
          </a:xfrm>
          <a:prstGeom prst="rect">
            <a:avLst/>
          </a:prstGeom>
          <a:noFill/>
        </p:spPr>
        <p:txBody>
          <a:bodyPr wrap="square" lIns="0" rIns="0" tIns="36576" bIns="36576" anchor="t">
            <a:noAutofit/>
          </a:bodyPr>
          <a:lstStyle/>
          <a:p>
            <a:pPr algn="ctr">
              <a:lnSpc>
                <a:spcPct val="100000"/>
              </a:lnSpc>
              <a:spcAft>
                <a:spcPts val="0"/>
              </a:spcAft>
            </a:pPr>
            <a:r>
              <a:rPr sz="1000" b="0">
                <a:solidFill>
                  <a:srgbClr val="5B6075"/>
                </a:solidFill>
                <a:latin typeface="Arial"/>
              </a:rPr>
              <a:t>300</a:t>
            </a:r>
          </a:p>
        </p:txBody>
      </p:sp>
      <p:sp>
        <p:nvSpPr>
          <p:cNvPr id="13" name="TextBox 12"/>
          <p:cNvSpPr txBox="1"/>
          <p:nvPr/>
        </p:nvSpPr>
        <p:spPr>
          <a:xfrm>
            <a:off x="9446583" y="2157984"/>
            <a:ext cx="548640" cy="237744"/>
          </a:xfrm>
          <a:prstGeom prst="rect">
            <a:avLst/>
          </a:prstGeom>
          <a:noFill/>
        </p:spPr>
        <p:txBody>
          <a:bodyPr wrap="square" lIns="0" rIns="0" tIns="36576" bIns="36576" anchor="t">
            <a:noAutofit/>
          </a:bodyPr>
          <a:lstStyle/>
          <a:p>
            <a:pPr algn="ctr">
              <a:lnSpc>
                <a:spcPct val="100000"/>
              </a:lnSpc>
              <a:spcAft>
                <a:spcPts val="0"/>
              </a:spcAft>
            </a:pPr>
            <a:r>
              <a:rPr sz="1000" b="0">
                <a:solidFill>
                  <a:srgbClr val="5B6075"/>
                </a:solidFill>
                <a:latin typeface="Arial"/>
              </a:rPr>
              <a:t>560</a:t>
            </a:r>
          </a:p>
        </p:txBody>
      </p:sp>
      <p:sp>
        <p:nvSpPr>
          <p:cNvPr id="14" name="TextBox 13"/>
          <p:cNvSpPr txBox="1"/>
          <p:nvPr/>
        </p:nvSpPr>
        <p:spPr>
          <a:xfrm>
            <a:off x="9905446" y="2157984"/>
            <a:ext cx="548640" cy="237744"/>
          </a:xfrm>
          <a:prstGeom prst="rect">
            <a:avLst/>
          </a:prstGeom>
          <a:noFill/>
        </p:spPr>
        <p:txBody>
          <a:bodyPr wrap="square" lIns="0" rIns="0" tIns="36576" bIns="36576" anchor="t">
            <a:noAutofit/>
          </a:bodyPr>
          <a:lstStyle/>
          <a:p>
            <a:pPr algn="ctr">
              <a:lnSpc>
                <a:spcPct val="100000"/>
              </a:lnSpc>
              <a:spcAft>
                <a:spcPts val="0"/>
              </a:spcAft>
            </a:pPr>
            <a:r>
              <a:rPr sz="1000" b="0">
                <a:solidFill>
                  <a:srgbClr val="5B6075"/>
                </a:solidFill>
                <a:latin typeface="Arial"/>
              </a:rPr>
              <a:t>640</a:t>
            </a:r>
          </a:p>
        </p:txBody>
      </p:sp>
      <p:sp>
        <p:nvSpPr>
          <p:cNvPr id="15" name="TextBox 14"/>
          <p:cNvSpPr txBox="1"/>
          <p:nvPr/>
        </p:nvSpPr>
        <p:spPr>
          <a:xfrm>
            <a:off x="10249593" y="2157984"/>
            <a:ext cx="548640" cy="237744"/>
          </a:xfrm>
          <a:prstGeom prst="rect">
            <a:avLst/>
          </a:prstGeom>
          <a:noFill/>
        </p:spPr>
        <p:txBody>
          <a:bodyPr wrap="square" lIns="0" rIns="0" tIns="36576" bIns="36576" anchor="t">
            <a:noAutofit/>
          </a:bodyPr>
          <a:lstStyle/>
          <a:p>
            <a:pPr algn="ctr">
              <a:lnSpc>
                <a:spcPct val="100000"/>
              </a:lnSpc>
              <a:spcAft>
                <a:spcPts val="0"/>
              </a:spcAft>
            </a:pPr>
            <a:r>
              <a:rPr sz="1000" b="0">
                <a:solidFill>
                  <a:srgbClr val="5B6075"/>
                </a:solidFill>
                <a:latin typeface="Arial"/>
              </a:rPr>
              <a:t>700</a:t>
            </a:r>
          </a:p>
        </p:txBody>
      </p:sp>
      <p:sp>
        <p:nvSpPr>
          <p:cNvPr id="16" name="TextBox 15"/>
          <p:cNvSpPr txBox="1"/>
          <p:nvPr/>
        </p:nvSpPr>
        <p:spPr>
          <a:xfrm>
            <a:off x="11109960" y="2157984"/>
            <a:ext cx="548640" cy="237744"/>
          </a:xfrm>
          <a:prstGeom prst="rect">
            <a:avLst/>
          </a:prstGeom>
          <a:noFill/>
        </p:spPr>
        <p:txBody>
          <a:bodyPr wrap="square" lIns="0" rIns="0" tIns="36576" bIns="36576" anchor="t">
            <a:noAutofit/>
          </a:bodyPr>
          <a:lstStyle/>
          <a:p>
            <a:pPr algn="ctr">
              <a:lnSpc>
                <a:spcPct val="100000"/>
              </a:lnSpc>
              <a:spcAft>
                <a:spcPts val="0"/>
              </a:spcAft>
            </a:pPr>
            <a:r>
              <a:rPr sz="1000" b="0">
                <a:solidFill>
                  <a:srgbClr val="5B6075"/>
                </a:solidFill>
                <a:latin typeface="Arial"/>
              </a:rPr>
              <a:t>850</a:t>
            </a:r>
          </a:p>
        </p:txBody>
      </p:sp>
      <p:sp>
        <p:nvSpPr>
          <p:cNvPr id="17" name="TextBox 16"/>
          <p:cNvSpPr txBox="1"/>
          <p:nvPr/>
        </p:nvSpPr>
        <p:spPr>
          <a:xfrm>
            <a:off x="6400800" y="2542032"/>
            <a:ext cx="1828800" cy="329184"/>
          </a:xfrm>
          <a:prstGeom prst="rect">
            <a:avLst/>
          </a:prstGeom>
          <a:noFill/>
        </p:spPr>
        <p:txBody>
          <a:bodyPr wrap="square" lIns="18288" rIns="18288" tIns="36576" bIns="36576" anchor="ctr">
            <a:noAutofit/>
          </a:bodyPr>
          <a:lstStyle/>
          <a:p>
            <a:pPr algn="l">
              <a:lnSpc>
                <a:spcPct val="100000"/>
              </a:lnSpc>
              <a:spcAft>
                <a:spcPts val="0"/>
              </a:spcAft>
            </a:pPr>
            <a:r>
              <a:rPr sz="1400" b="1">
                <a:solidFill>
                  <a:srgbClr val="1E2235"/>
                </a:solidFill>
                <a:latin typeface="Arial"/>
              </a:rPr>
              <a:t>Base</a:t>
            </a:r>
          </a:p>
        </p:txBody>
      </p:sp>
      <p:sp>
        <p:nvSpPr>
          <p:cNvPr id="18" name="Rectangle 17"/>
          <p:cNvSpPr/>
          <p:nvPr/>
        </p:nvSpPr>
        <p:spPr>
          <a:xfrm>
            <a:off x="9886327" y="2587752"/>
            <a:ext cx="128016" cy="237744"/>
          </a:xfrm>
          <a:prstGeom prst="rect">
            <a:avLst/>
          </a:prstGeom>
          <a:solidFill>
            <a:srgbClr val="1E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926080"/>
            <a:ext cx="1828800" cy="329184"/>
          </a:xfrm>
          <a:prstGeom prst="rect">
            <a:avLst/>
          </a:prstGeom>
          <a:noFill/>
        </p:spPr>
        <p:txBody>
          <a:bodyPr wrap="square" lIns="18288" rIns="18288" tIns="36576" bIns="36576" anchor="ctr">
            <a:noAutofit/>
          </a:bodyPr>
          <a:lstStyle/>
          <a:p>
            <a:pPr algn="l">
              <a:lnSpc>
                <a:spcPct val="100000"/>
              </a:lnSpc>
              <a:spcAft>
                <a:spcPts val="0"/>
              </a:spcAft>
            </a:pPr>
            <a:r>
              <a:rPr sz="1400" b="0">
                <a:solidFill>
                  <a:srgbClr val="1E2235"/>
                </a:solidFill>
                <a:latin typeface="Arial"/>
              </a:rPr>
              <a:t>F1 fulfilment -60</a:t>
            </a:r>
          </a:p>
        </p:txBody>
      </p:sp>
      <p:sp>
        <p:nvSpPr>
          <p:cNvPr id="20" name="Rectangle 19"/>
          <p:cNvSpPr/>
          <p:nvPr/>
        </p:nvSpPr>
        <p:spPr>
          <a:xfrm>
            <a:off x="9606188" y="2980944"/>
            <a:ext cx="344147" cy="219456"/>
          </a:xfrm>
          <a:prstGeom prst="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3310128"/>
            <a:ext cx="1828800" cy="329184"/>
          </a:xfrm>
          <a:prstGeom prst="rect">
            <a:avLst/>
          </a:prstGeom>
          <a:noFill/>
        </p:spPr>
        <p:txBody>
          <a:bodyPr wrap="square" lIns="18288" rIns="18288" tIns="36576" bIns="36576" anchor="ctr">
            <a:noAutofit/>
          </a:bodyPr>
          <a:lstStyle/>
          <a:p>
            <a:pPr algn="l">
              <a:lnSpc>
                <a:spcPct val="100000"/>
              </a:lnSpc>
              <a:spcAft>
                <a:spcPts val="0"/>
              </a:spcAft>
            </a:pPr>
            <a:r>
              <a:rPr sz="1400" b="0">
                <a:solidFill>
                  <a:srgbClr val="1E2235"/>
                </a:solidFill>
                <a:latin typeface="Arial"/>
              </a:rPr>
              <a:t>F2 failures -150</a:t>
            </a:r>
          </a:p>
        </p:txBody>
      </p:sp>
      <p:sp>
        <p:nvSpPr>
          <p:cNvPr id="22" name="Rectangle 21"/>
          <p:cNvSpPr/>
          <p:nvPr/>
        </p:nvSpPr>
        <p:spPr>
          <a:xfrm>
            <a:off x="8745820" y="3364992"/>
            <a:ext cx="860367" cy="219456"/>
          </a:xfrm>
          <a:prstGeom prst="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694176"/>
            <a:ext cx="1828800" cy="329184"/>
          </a:xfrm>
          <a:prstGeom prst="rect">
            <a:avLst/>
          </a:prstGeom>
          <a:noFill/>
        </p:spPr>
        <p:txBody>
          <a:bodyPr wrap="square" lIns="18288" rIns="18288" tIns="36576" bIns="36576" anchor="ctr">
            <a:noAutofit/>
          </a:bodyPr>
          <a:lstStyle/>
          <a:p>
            <a:pPr algn="l">
              <a:lnSpc>
                <a:spcPct val="100000"/>
              </a:lnSpc>
              <a:spcAft>
                <a:spcPts val="0"/>
              </a:spcAft>
            </a:pPr>
            <a:r>
              <a:rPr sz="1400" b="0">
                <a:solidFill>
                  <a:srgbClr val="1E2235"/>
                </a:solidFill>
                <a:latin typeface="Arial"/>
              </a:rPr>
              <a:t>F5a diversity +20</a:t>
            </a:r>
          </a:p>
        </p:txBody>
      </p:sp>
      <p:sp>
        <p:nvSpPr>
          <p:cNvPr id="24" name="Rectangle 23"/>
          <p:cNvSpPr/>
          <p:nvPr/>
        </p:nvSpPr>
        <p:spPr>
          <a:xfrm>
            <a:off x="8745820" y="3749040"/>
            <a:ext cx="114716" cy="21945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078224"/>
            <a:ext cx="1828800" cy="329184"/>
          </a:xfrm>
          <a:prstGeom prst="rect">
            <a:avLst/>
          </a:prstGeom>
          <a:noFill/>
        </p:spPr>
        <p:txBody>
          <a:bodyPr wrap="square" lIns="18288" rIns="18288" tIns="36576" bIns="36576" anchor="ctr">
            <a:noAutofit/>
          </a:bodyPr>
          <a:lstStyle/>
          <a:p>
            <a:pPr algn="l">
              <a:lnSpc>
                <a:spcPct val="100000"/>
              </a:lnSpc>
              <a:spcAft>
                <a:spcPts val="0"/>
              </a:spcAft>
            </a:pPr>
            <a:r>
              <a:rPr sz="1400" b="1">
                <a:solidFill>
                  <a:srgbClr val="1E2235"/>
                </a:solidFill>
                <a:latin typeface="Arial"/>
              </a:rPr>
              <a:t>Score 410</a:t>
            </a:r>
          </a:p>
        </p:txBody>
      </p:sp>
      <p:sp>
        <p:nvSpPr>
          <p:cNvPr id="26" name="Rectangle 25"/>
          <p:cNvSpPr/>
          <p:nvPr/>
        </p:nvSpPr>
        <p:spPr>
          <a:xfrm>
            <a:off x="8796528" y="4123944"/>
            <a:ext cx="128016" cy="237744"/>
          </a:xfrm>
          <a:prstGeom prst="rect">
            <a:avLst/>
          </a:prstGeom>
          <a:solidFill>
            <a:srgbClr val="1E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480560"/>
            <a:ext cx="5120640" cy="274320"/>
          </a:xfrm>
          <a:prstGeom prst="rect">
            <a:avLst/>
          </a:prstGeom>
          <a:noFill/>
        </p:spPr>
        <p:txBody>
          <a:bodyPr wrap="square" lIns="73152" rIns="73152" tIns="36576" bIns="36576" anchor="t">
            <a:noAutofit/>
          </a:bodyPr>
          <a:lstStyle/>
          <a:p>
            <a:pPr algn="l">
              <a:lnSpc>
                <a:spcPct val="100000"/>
              </a:lnSpc>
              <a:spcAft>
                <a:spcPts val="0"/>
              </a:spcAft>
            </a:pPr>
            <a:r>
              <a:rPr sz="1200" b="0">
                <a:solidFill>
                  <a:srgbClr val="5B6075"/>
                </a:solidFill>
                <a:latin typeface="Arial"/>
              </a:rPr>
              <a:t>0 points: F3, F4a, F4b, F5b, F5c, F6</a:t>
            </a:r>
          </a:p>
        </p:txBody>
      </p:sp>
      <p:sp>
        <p:nvSpPr>
          <p:cNvPr id="28" name="TextBox 27"/>
          <p:cNvSpPr txBox="1"/>
          <p:nvPr/>
        </p:nvSpPr>
        <p:spPr>
          <a:xfrm>
            <a:off x="6400800" y="4773168"/>
            <a:ext cx="5120640" cy="1325880"/>
          </a:xfrm>
          <a:prstGeom prst="rect">
            <a:avLst/>
          </a:prstGeom>
          <a:noFill/>
        </p:spPr>
        <p:txBody>
          <a:bodyPr wrap="square" lIns="73152" rIns="73152" tIns="36576" bIns="36576" anchor="t">
            <a:noAutofit/>
          </a:bodyPr>
          <a:lstStyle/>
          <a:p>
            <a:pPr algn="l">
              <a:lnSpc>
                <a:spcPct val="100000"/>
              </a:lnSpc>
              <a:spcAft>
                <a:spcPts val="100"/>
              </a:spcAft>
            </a:pPr>
            <a:r>
              <a:rPr sz="1400" b="1">
                <a:solidFill>
                  <a:srgbClr val="1E2235"/>
                </a:solidFill>
                <a:latin typeface="Arial"/>
              </a:rPr>
              <a:t>Reason codes</a:t>
            </a:r>
          </a:p>
          <a:p>
            <a:pPr algn="l">
              <a:lnSpc>
                <a:spcPct val="100000"/>
              </a:lnSpc>
              <a:spcAft>
                <a:spcPts val="100"/>
              </a:spcAft>
            </a:pPr>
            <a:r>
              <a:rPr sz="1400" b="0">
                <a:solidFill>
                  <a:srgbClr val="1E2235"/>
                </a:solidFill>
                <a:latin typeface="Arial"/>
              </a:rPr>
              <a:t>1002  Orders were paid but not delivered</a:t>
            </a:r>
          </a:p>
          <a:p>
            <a:pPr algn="l">
              <a:lnSpc>
                <a:spcPct val="100000"/>
              </a:lnSpc>
              <a:spcAft>
                <a:spcPts val="100"/>
              </a:spcAft>
            </a:pPr>
            <a:r>
              <a:rPr sz="1400" b="0">
                <a:solidFill>
                  <a:srgbClr val="1E2235"/>
                </a:solidFill>
                <a:latin typeface="Arial"/>
              </a:rPr>
              <a:t>1001  Share of orders delivered on time is low</a:t>
            </a:r>
          </a:p>
          <a:p>
            <a:pPr algn="l">
              <a:lnSpc>
                <a:spcPct val="100000"/>
              </a:lnSpc>
              <a:spcAft>
                <a:spcPts val="100"/>
              </a:spcAft>
            </a:pPr>
            <a:r>
              <a:rPr sz="1400" b="0">
                <a:solidFill>
                  <a:srgbClr val="1E2235"/>
                </a:solidFill>
                <a:latin typeface="Arial"/>
              </a:rPr>
              <a:t>1006  Few completed orders</a:t>
            </a:r>
          </a:p>
          <a:p>
            <a:pPr algn="l">
              <a:lnSpc>
                <a:spcPct val="100000"/>
              </a:lnSpc>
              <a:spcAft>
                <a:spcPts val="0"/>
              </a:spcAft>
            </a:pPr>
            <a:r>
              <a:rPr sz="1400" b="0">
                <a:solidFill>
                  <a:srgbClr val="1E2235"/>
                </a:solidFill>
                <a:latin typeface="Arial"/>
              </a:rPr>
              <a:t>1007  Identity registered recently</a:t>
            </a:r>
          </a:p>
        </p:txBody>
      </p:sp>
      <p:sp>
        <p:nvSpPr>
          <p:cNvPr id="29" name="Footer"/>
          <p:cNvSpPr txBox="1"/>
          <p:nvPr/>
        </p:nvSpPr>
        <p:spPr>
          <a:xfrm>
            <a:off x="457200" y="6272784"/>
            <a:ext cx="11292840" cy="347472"/>
          </a:xfrm>
          <a:prstGeom prst="rect">
            <a:avLst/>
          </a:prstGeom>
          <a:noFill/>
        </p:spPr>
        <p:txBody>
          <a:bodyPr wrap="square" lIns="73152" rIns="73152" tIns="36576" bIns="36576" anchor="t">
            <a:noAutofit/>
          </a:bodyPr>
          <a:lstStyle/>
          <a:p>
            <a:pPr algn="l">
              <a:lnSpc>
                <a:spcPct val="100000"/>
              </a:lnSpc>
              <a:spcAft>
                <a:spcPts val="0"/>
              </a:spcAft>
            </a:pPr>
            <a:r>
              <a:rPr sz="1200" b="0">
                <a:solidFill>
                  <a:srgbClr val="5B6075"/>
                </a:solidFill>
                <a:latin typeface="Arial"/>
              </a:rPr>
              <a:t>Ghost Feeds: NONE -&gt; NEW (S4) -&gt; A (S4) -&gt; D (S11); score 410; reasons 1002, 1001, 1006, 1007; recompute MATCH; grade tx </a:t>
            </a:r>
            <a:r>
              <a:rPr sz="1200" b="0" u="sng">
                <a:solidFill>
                  <a:srgbClr val="0072B2"/>
                </a:solidFill>
                <a:latin typeface="Arial"/>
                <a:hlinkClick r:id="rId2"/>
              </a:rPr>
              <a:t>0x58d9b3...254f</a:t>
            </a:r>
            <a:r>
              <a:rPr sz="1200" b="0">
                <a:solidFill>
                  <a:srgbClr val="5B6075"/>
                </a:solidFill>
                <a:latin typeface="Arial"/>
              </a:rPr>
              <a:t>. Bands and base: config/scorecard.yaml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2400" b="1">
                <a:solidFill>
                  <a:srgbClr val="FFFFFF"/>
                </a:solidFill>
                <a:latin typeface="Arial"/>
              </a:rPr>
              <a:t>Earned Autonomy: the wallet's limits are on-chain and move by formula</a:t>
            </a:r>
          </a:p>
        </p:txBody>
      </p:sp>
      <p:graphicFrame>
        <p:nvGraphicFramePr>
          <p:cNvPr id="3" name="Table 2"/>
          <p:cNvGraphicFramePr>
            <a:graphicFrameLocks noGrp="1"/>
          </p:cNvGraphicFramePr>
          <p:nvPr/>
        </p:nvGraphicFramePr>
        <p:xfrm>
          <a:off x="548640" y="1261872"/>
          <a:ext cx="11091672" cy="2212848"/>
        </p:xfrm>
        <a:graphic>
          <a:graphicData uri="http://schemas.openxmlformats.org/drawingml/2006/table">
            <a:tbl>
              <a:tblPr firstRow="0" bandRow="0">
                <a:tableStyleId>{5C22544A-7EE6-4342-B048-85BDC9FD1C3A}</a:tableStyleId>
              </a:tblPr>
              <a:tblGrid>
                <a:gridCol w="1051560"/>
                <a:gridCol w="1874520"/>
                <a:gridCol w="1371600"/>
                <a:gridCol w="1325880"/>
                <a:gridCol w="1234440"/>
                <a:gridCol w="2697480"/>
                <a:gridCol w="1536192"/>
              </a:tblGrid>
              <a:tr h="566928">
                <a:tc>
                  <a:txBody>
                    <a:bodyPr wrap="square"/>
                    <a:lstStyle/>
                    <a:p>
                      <a:pPr algn="ctr"/>
                      <a:r>
                        <a:rPr sz="1400" b="1">
                          <a:solidFill>
                            <a:srgbClr val="FFFFFF"/>
                          </a:solidFill>
                          <a:latin typeface="Arial"/>
                        </a:rPr>
                        <a:t>Tier</a:t>
                      </a:r>
                    </a:p>
                  </a:txBody>
                  <a:tcPr marL="54864" marR="54864" marT="27432" marB="27432" anchor="ctr">
                    <a:solidFill>
                      <a:srgbClr val="3F4C9E"/>
                    </a:solidFill>
                  </a:tcPr>
                </a:tc>
                <a:tc>
                  <a:txBody>
                    <a:bodyPr wrap="square"/>
                    <a:lstStyle/>
                    <a:p>
                      <a:pPr algn="l"/>
                      <a:r>
                        <a:rPr sz="1400" b="1">
                          <a:solidFill>
                            <a:srgbClr val="FFFFFF"/>
                          </a:solidFill>
                          <a:latin typeface="Arial"/>
                        </a:rPr>
                        <a:t>Name</a:t>
                      </a:r>
                    </a:p>
                  </a:txBody>
                  <a:tcPr marL="54864" marR="54864" marT="27432" marB="27432" anchor="ctr">
                    <a:solidFill>
                      <a:srgbClr val="3F4C9E"/>
                    </a:solidFill>
                  </a:tcPr>
                </a:tc>
                <a:tc>
                  <a:txBody>
                    <a:bodyPr wrap="square"/>
                    <a:lstStyle/>
                    <a:p>
                      <a:pPr algn="r"/>
                      <a:r>
                        <a:rPr sz="1400" b="1">
                          <a:solidFill>
                            <a:srgbClr val="FFFFFF"/>
                          </a:solidFill>
                          <a:latin typeface="Arial"/>
                        </a:rPr>
                        <a:t>Per payment</a:t>
                      </a:r>
                    </a:p>
                  </a:txBody>
                  <a:tcPr marL="54864" marR="54864" marT="27432" marB="27432" anchor="ctr">
                    <a:solidFill>
                      <a:srgbClr val="3F4C9E"/>
                    </a:solidFill>
                  </a:tcPr>
                </a:tc>
                <a:tc>
                  <a:txBody>
                    <a:bodyPr wrap="square"/>
                    <a:lstStyle/>
                    <a:p>
                      <a:pPr algn="r"/>
                      <a:r>
                        <a:rPr sz="1400" b="1">
                          <a:solidFill>
                            <a:srgbClr val="FFFFFF"/>
                          </a:solidFill>
                          <a:latin typeface="Arial"/>
                        </a:rPr>
                        <a:t>24 h window</a:t>
                      </a:r>
                    </a:p>
                  </a:txBody>
                  <a:tcPr marL="54864" marR="54864" marT="27432" marB="27432" anchor="ctr">
                    <a:solidFill>
                      <a:srgbClr val="3F4C9E"/>
                    </a:solidFill>
                  </a:tcPr>
                </a:tc>
                <a:tc>
                  <a:txBody>
                    <a:bodyPr wrap="square"/>
                    <a:lstStyle/>
                    <a:p>
                      <a:pPr algn="ctr"/>
                      <a:r>
                        <a:rPr sz="1400" b="1">
                          <a:solidFill>
                            <a:srgbClr val="FFFFFF"/>
                          </a:solidFill>
                          <a:latin typeface="Arial"/>
                        </a:rPr>
                        <a:t>Tx per window</a:t>
                      </a:r>
                    </a:p>
                  </a:txBody>
                  <a:tcPr marL="54864" marR="54864" marT="27432" marB="27432" anchor="ctr">
                    <a:solidFill>
                      <a:srgbClr val="3F4C9E"/>
                    </a:solidFill>
                  </a:tcPr>
                </a:tc>
                <a:tc>
                  <a:txBody>
                    <a:bodyPr wrap="square"/>
                    <a:lstStyle/>
                    <a:p>
                      <a:pPr algn="l"/>
                      <a:r>
                        <a:rPr sz="1400" b="1">
                          <a:solidFill>
                            <a:srgbClr val="FFFFFF"/>
                          </a:solidFill>
                          <a:latin typeface="Arial"/>
                        </a:rPr>
                        <a:t>Pays directly</a:t>
                      </a:r>
                    </a:p>
                  </a:txBody>
                  <a:tcPr marL="54864" marR="54864" marT="27432" marB="27432" anchor="ctr">
                    <a:solidFill>
                      <a:srgbClr val="3F4C9E"/>
                    </a:solidFill>
                  </a:tcPr>
                </a:tc>
                <a:tc>
                  <a:txBody>
                    <a:bodyPr wrap="square"/>
                    <a:lstStyle/>
                    <a:p>
                      <a:pPr algn="ctr"/>
                      <a:r>
                        <a:rPr sz="1400" b="1">
                          <a:solidFill>
                            <a:srgbClr val="FFFFFF"/>
                          </a:solidFill>
                          <a:latin typeface="Arial"/>
                        </a:rPr>
                        <a:t>Clean orders to promote</a:t>
                      </a:r>
                    </a:p>
                  </a:txBody>
                  <a:tcPr marL="54864" marR="54864" marT="27432" marB="27432" anchor="ctr">
                    <a:solidFill>
                      <a:srgbClr val="3F4C9E"/>
                    </a:solidFill>
                  </a:tcPr>
                </a:tc>
              </a:tr>
              <a:tr h="329184">
                <a:tc>
                  <a:txBody>
                    <a:bodyPr wrap="square"/>
                    <a:lstStyle/>
                    <a:p>
                      <a:pPr algn="ctr"/>
                      <a:r>
                        <a:rPr sz="1500" b="0">
                          <a:solidFill>
                            <a:srgbClr val="1E2235"/>
                          </a:solidFill>
                          <a:latin typeface="Arial"/>
                        </a:rPr>
                        <a:t>0</a:t>
                      </a:r>
                    </a:p>
                  </a:txBody>
                  <a:tcPr marL="54864" marR="54864" marT="27432" marB="27432" anchor="ctr">
                    <a:solidFill>
                      <a:srgbClr val="FFFFFF"/>
                    </a:solidFill>
                  </a:tcPr>
                </a:tc>
                <a:tc>
                  <a:txBody>
                    <a:bodyPr wrap="square"/>
                    <a:lstStyle/>
                    <a:p>
                      <a:pPr algn="l"/>
                      <a:r>
                        <a:rPr sz="1500" b="0">
                          <a:solidFill>
                            <a:srgbClr val="1E2235"/>
                          </a:solidFill>
                          <a:latin typeface="Arial"/>
                        </a:rPr>
                        <a:t>Maker-checker</a:t>
                      </a:r>
                    </a:p>
                  </a:txBody>
                  <a:tcPr marL="54864" marR="54864" marT="27432" marB="27432" anchor="ctr">
                    <a:solidFill>
                      <a:srgbClr val="FFFFFF"/>
                    </a:solidFill>
                  </a:tcPr>
                </a:tc>
                <a:tc>
                  <a:txBody>
                    <a:bodyPr wrap="square"/>
                    <a:lstStyle/>
                    <a:p>
                      <a:pPr algn="r"/>
                      <a:r>
                        <a:rPr sz="1500" b="0">
                          <a:solidFill>
                            <a:srgbClr val="1E2235"/>
                          </a:solidFill>
                          <a:latin typeface="Arial"/>
                        </a:rPr>
                        <a:t>0</a:t>
                      </a:r>
                    </a:p>
                  </a:txBody>
                  <a:tcPr marL="54864" marR="54864" marT="27432" marB="27432" anchor="ctr">
                    <a:solidFill>
                      <a:srgbClr val="FFFFFF"/>
                    </a:solidFill>
                  </a:tcPr>
                </a:tc>
                <a:tc>
                  <a:txBody>
                    <a:bodyPr wrap="square"/>
                    <a:lstStyle/>
                    <a:p>
                      <a:pPr algn="r"/>
                      <a:r>
                        <a:rPr sz="1500" b="0">
                          <a:solidFill>
                            <a:srgbClr val="1E2235"/>
                          </a:solidFill>
                          <a:latin typeface="Arial"/>
                        </a:rPr>
                        <a:t>0</a:t>
                      </a:r>
                    </a:p>
                  </a:txBody>
                  <a:tcPr marL="54864" marR="54864" marT="27432" marB="27432" anchor="ctr">
                    <a:solidFill>
                      <a:srgbClr val="FFFFFF"/>
                    </a:solidFill>
                  </a:tcPr>
                </a:tc>
                <a:tc>
                  <a:txBody>
                    <a:bodyPr wrap="square"/>
                    <a:lstStyle/>
                    <a:p>
                      <a:pPr algn="ctr"/>
                      <a:r>
                        <a:rPr sz="1500" b="0">
                          <a:solidFill>
                            <a:srgbClr val="1E2235"/>
                          </a:solidFill>
                          <a:latin typeface="Arial"/>
                        </a:rPr>
                        <a:t>0</a:t>
                      </a:r>
                    </a:p>
                  </a:txBody>
                  <a:tcPr marL="54864" marR="54864" marT="27432" marB="27432" anchor="ctr">
                    <a:solidFill>
                      <a:srgbClr val="FFFFFF"/>
                    </a:solidFill>
                  </a:tcPr>
                </a:tc>
                <a:tc>
                  <a:txBody>
                    <a:bodyPr wrap="square"/>
                    <a:lstStyle/>
                    <a:p>
                      <a:pPr algn="l"/>
                      <a:r>
                        <a:rPr sz="1500" b="0">
                          <a:solidFill>
                            <a:srgbClr val="1E2235"/>
                          </a:solidFill>
                          <a:latin typeface="Arial"/>
                        </a:rPr>
                        <a:t>none (owner approves each)</a:t>
                      </a:r>
                    </a:p>
                  </a:txBody>
                  <a:tcPr marL="54864" marR="54864" marT="27432" marB="27432" anchor="ctr">
                    <a:solidFill>
                      <a:srgbClr val="FFFFFF"/>
                    </a:solidFill>
                  </a:tcPr>
                </a:tc>
                <a:tc>
                  <a:txBody>
                    <a:bodyPr wrap="square"/>
                    <a:lstStyle/>
                    <a:p>
                      <a:pPr algn="ctr"/>
                      <a:r>
                        <a:rPr sz="1500" b="0">
                          <a:solidFill>
                            <a:srgbClr val="1E2235"/>
                          </a:solidFill>
                          <a:latin typeface="Arial"/>
                        </a:rPr>
                        <a:t>3</a:t>
                      </a:r>
                    </a:p>
                  </a:txBody>
                  <a:tcPr marL="54864" marR="54864" marT="27432" marB="27432" anchor="ctr">
                    <a:solidFill>
                      <a:srgbClr val="FFFFFF"/>
                    </a:solidFill>
                  </a:tcPr>
                </a:tc>
              </a:tr>
              <a:tr h="329184">
                <a:tc>
                  <a:txBody>
                    <a:bodyPr wrap="square"/>
                    <a:lstStyle/>
                    <a:p>
                      <a:pPr algn="ctr"/>
                      <a:r>
                        <a:rPr sz="1500" b="0">
                          <a:solidFill>
                            <a:srgbClr val="1E2235"/>
                          </a:solidFill>
                          <a:latin typeface="Arial"/>
                        </a:rPr>
                        <a:t>1</a:t>
                      </a:r>
                    </a:p>
                  </a:txBody>
                  <a:tcPr marL="54864" marR="54864" marT="27432" marB="27432" anchor="ctr">
                    <a:solidFill>
                      <a:srgbClr val="F7F8FC"/>
                    </a:solidFill>
                  </a:tcPr>
                </a:tc>
                <a:tc>
                  <a:txBody>
                    <a:bodyPr wrap="square"/>
                    <a:lstStyle/>
                    <a:p>
                      <a:pPr algn="l"/>
                      <a:r>
                        <a:rPr sz="1500" b="0">
                          <a:solidFill>
                            <a:srgbClr val="1E2235"/>
                          </a:solidFill>
                          <a:latin typeface="Arial"/>
                        </a:rPr>
                        <a:t>Small payments</a:t>
                      </a:r>
                    </a:p>
                  </a:txBody>
                  <a:tcPr marL="54864" marR="54864" marT="27432" marB="27432" anchor="ctr">
                    <a:solidFill>
                      <a:srgbClr val="F7F8FC"/>
                    </a:solidFill>
                  </a:tcPr>
                </a:tc>
                <a:tc>
                  <a:txBody>
                    <a:bodyPr wrap="square"/>
                    <a:lstStyle/>
                    <a:p>
                      <a:pPr algn="r"/>
                      <a:r>
                        <a:rPr sz="1500" b="0">
                          <a:solidFill>
                            <a:srgbClr val="1E2235"/>
                          </a:solidFill>
                          <a:latin typeface="Arial"/>
                        </a:rPr>
                        <a:t>1.00 USDC</a:t>
                      </a:r>
                    </a:p>
                  </a:txBody>
                  <a:tcPr marL="54864" marR="54864" marT="27432" marB="27432" anchor="ctr">
                    <a:solidFill>
                      <a:srgbClr val="F7F8FC"/>
                    </a:solidFill>
                  </a:tcPr>
                </a:tc>
                <a:tc>
                  <a:txBody>
                    <a:bodyPr wrap="square"/>
                    <a:lstStyle/>
                    <a:p>
                      <a:pPr algn="r"/>
                      <a:r>
                        <a:rPr sz="1500" b="0">
                          <a:solidFill>
                            <a:srgbClr val="1E2235"/>
                          </a:solidFill>
                          <a:latin typeface="Arial"/>
                        </a:rPr>
                        <a:t>5.00 USDC</a:t>
                      </a:r>
                    </a:p>
                  </a:txBody>
                  <a:tcPr marL="54864" marR="54864" marT="27432" marB="27432" anchor="ctr">
                    <a:solidFill>
                      <a:srgbClr val="F7F8FC"/>
                    </a:solidFill>
                  </a:tcPr>
                </a:tc>
                <a:tc>
                  <a:txBody>
                    <a:bodyPr wrap="square"/>
                    <a:lstStyle/>
                    <a:p>
                      <a:pPr algn="ctr"/>
                      <a:r>
                        <a:rPr sz="1500" b="0">
                          <a:solidFill>
                            <a:srgbClr val="1E2235"/>
                          </a:solidFill>
                          <a:latin typeface="Arial"/>
                        </a:rPr>
                        <a:t>10</a:t>
                      </a:r>
                    </a:p>
                  </a:txBody>
                  <a:tcPr marL="54864" marR="54864" marT="27432" marB="27432" anchor="ctr">
                    <a:solidFill>
                      <a:srgbClr val="F7F8FC"/>
                    </a:solidFill>
                  </a:tcPr>
                </a:tc>
                <a:tc>
                  <a:txBody>
                    <a:bodyPr wrap="square"/>
                    <a:lstStyle/>
                    <a:p>
                      <a:pPr algn="l"/>
                      <a:r>
                        <a:rPr sz="1500" b="0">
                          <a:solidFill>
                            <a:srgbClr val="1E2235"/>
                          </a:solidFill>
                          <a:latin typeface="Arial"/>
                        </a:rPr>
                        <a:t>A; B up to half</a:t>
                      </a:r>
                    </a:p>
                  </a:txBody>
                  <a:tcPr marL="54864" marR="54864" marT="27432" marB="27432" anchor="ctr">
                    <a:solidFill>
                      <a:srgbClr val="F7F8FC"/>
                    </a:solidFill>
                  </a:tcPr>
                </a:tc>
                <a:tc>
                  <a:txBody>
                    <a:bodyPr wrap="square"/>
                    <a:lstStyle/>
                    <a:p>
                      <a:pPr algn="ctr"/>
                      <a:r>
                        <a:rPr sz="1500" b="0">
                          <a:solidFill>
                            <a:srgbClr val="1E2235"/>
                          </a:solidFill>
                          <a:latin typeface="Arial"/>
                        </a:rPr>
                        <a:t>3</a:t>
                      </a:r>
                    </a:p>
                  </a:txBody>
                  <a:tcPr marL="54864" marR="54864" marT="27432" marB="27432" anchor="ctr">
                    <a:solidFill>
                      <a:srgbClr val="F7F8FC"/>
                    </a:solidFill>
                  </a:tcPr>
                </a:tc>
              </a:tr>
              <a:tr h="329184">
                <a:tc>
                  <a:txBody>
                    <a:bodyPr wrap="square"/>
                    <a:lstStyle/>
                    <a:p>
                      <a:pPr algn="ctr"/>
                      <a:r>
                        <a:rPr sz="1500" b="0">
                          <a:solidFill>
                            <a:srgbClr val="1E2235"/>
                          </a:solidFill>
                          <a:latin typeface="Arial"/>
                        </a:rPr>
                        <a:t>2</a:t>
                      </a:r>
                    </a:p>
                  </a:txBody>
                  <a:tcPr marL="54864" marR="54864" marT="27432" marB="27432" anchor="ctr">
                    <a:solidFill>
                      <a:srgbClr val="FFFFFF"/>
                    </a:solidFill>
                  </a:tcPr>
                </a:tc>
                <a:tc>
                  <a:txBody>
                    <a:bodyPr wrap="square"/>
                    <a:lstStyle/>
                    <a:p>
                      <a:pPr algn="l"/>
                      <a:r>
                        <a:rPr sz="1500" b="0">
                          <a:solidFill>
                            <a:srgbClr val="1E2235"/>
                          </a:solidFill>
                          <a:latin typeface="Arial"/>
                        </a:rPr>
                        <a:t>Standard</a:t>
                      </a:r>
                    </a:p>
                  </a:txBody>
                  <a:tcPr marL="54864" marR="54864" marT="27432" marB="27432" anchor="ctr">
                    <a:solidFill>
                      <a:srgbClr val="FFFFFF"/>
                    </a:solidFill>
                  </a:tcPr>
                </a:tc>
                <a:tc>
                  <a:txBody>
                    <a:bodyPr wrap="square"/>
                    <a:lstStyle/>
                    <a:p>
                      <a:pPr algn="r"/>
                      <a:r>
                        <a:rPr sz="1500" b="0">
                          <a:solidFill>
                            <a:srgbClr val="1E2235"/>
                          </a:solidFill>
                          <a:latin typeface="Arial"/>
                        </a:rPr>
                        <a:t>2.00 USDC</a:t>
                      </a:r>
                    </a:p>
                  </a:txBody>
                  <a:tcPr marL="54864" marR="54864" marT="27432" marB="27432" anchor="ctr">
                    <a:solidFill>
                      <a:srgbClr val="FFFFFF"/>
                    </a:solidFill>
                  </a:tcPr>
                </a:tc>
                <a:tc>
                  <a:txBody>
                    <a:bodyPr wrap="square"/>
                    <a:lstStyle/>
                    <a:p>
                      <a:pPr algn="r"/>
                      <a:r>
                        <a:rPr sz="1500" b="0">
                          <a:solidFill>
                            <a:srgbClr val="1E2235"/>
                          </a:solidFill>
                          <a:latin typeface="Arial"/>
                        </a:rPr>
                        <a:t>10.00 USDC</a:t>
                      </a:r>
                    </a:p>
                  </a:txBody>
                  <a:tcPr marL="54864" marR="54864" marT="27432" marB="27432" anchor="ctr">
                    <a:solidFill>
                      <a:srgbClr val="FFFFFF"/>
                    </a:solidFill>
                  </a:tcPr>
                </a:tc>
                <a:tc>
                  <a:txBody>
                    <a:bodyPr wrap="square"/>
                    <a:lstStyle/>
                    <a:p>
                      <a:pPr algn="ctr"/>
                      <a:r>
                        <a:rPr sz="1500" b="0">
                          <a:solidFill>
                            <a:srgbClr val="1E2235"/>
                          </a:solidFill>
                          <a:latin typeface="Arial"/>
                        </a:rPr>
                        <a:t>20</a:t>
                      </a:r>
                    </a:p>
                  </a:txBody>
                  <a:tcPr marL="54864" marR="54864" marT="27432" marB="27432" anchor="ctr">
                    <a:solidFill>
                      <a:srgbClr val="FFFFFF"/>
                    </a:solidFill>
                  </a:tcPr>
                </a:tc>
                <a:tc>
                  <a:txBody>
                    <a:bodyPr wrap="square"/>
                    <a:lstStyle/>
                    <a:p>
                      <a:pPr algn="l"/>
                      <a:r>
                        <a:rPr sz="1500" b="0">
                          <a:solidFill>
                            <a:srgbClr val="1E2235"/>
                          </a:solidFill>
                          <a:latin typeface="Arial"/>
                        </a:rPr>
                        <a:t>A; B up to half</a:t>
                      </a:r>
                    </a:p>
                  </a:txBody>
                  <a:tcPr marL="54864" marR="54864" marT="27432" marB="27432" anchor="ctr">
                    <a:solidFill>
                      <a:srgbClr val="FFFFFF"/>
                    </a:solidFill>
                  </a:tcPr>
                </a:tc>
                <a:tc>
                  <a:txBody>
                    <a:bodyPr wrap="square"/>
                    <a:lstStyle/>
                    <a:p>
                      <a:pPr algn="ctr"/>
                      <a:r>
                        <a:rPr sz="1500" b="0">
                          <a:solidFill>
                            <a:srgbClr val="1E2235"/>
                          </a:solidFill>
                          <a:latin typeface="Arial"/>
                        </a:rPr>
                        <a:t>6</a:t>
                      </a:r>
                    </a:p>
                  </a:txBody>
                  <a:tcPr marL="54864" marR="54864" marT="27432" marB="27432" anchor="ctr">
                    <a:solidFill>
                      <a:srgbClr val="FFFFFF"/>
                    </a:solidFill>
                  </a:tcPr>
                </a:tc>
              </a:tr>
              <a:tr h="329184">
                <a:tc>
                  <a:txBody>
                    <a:bodyPr wrap="square"/>
                    <a:lstStyle/>
                    <a:p>
                      <a:pPr algn="ctr"/>
                      <a:r>
                        <a:rPr sz="1500" b="0">
                          <a:solidFill>
                            <a:srgbClr val="1E2235"/>
                          </a:solidFill>
                          <a:latin typeface="Arial"/>
                        </a:rPr>
                        <a:t>3</a:t>
                      </a:r>
                    </a:p>
                  </a:txBody>
                  <a:tcPr marL="54864" marR="54864" marT="27432" marB="27432" anchor="ctr">
                    <a:solidFill>
                      <a:srgbClr val="F7F8FC"/>
                    </a:solidFill>
                  </a:tcPr>
                </a:tc>
                <a:tc>
                  <a:txBody>
                    <a:bodyPr wrap="square"/>
                    <a:lstStyle/>
                    <a:p>
                      <a:pPr algn="l"/>
                      <a:r>
                        <a:rPr sz="1500" b="0">
                          <a:solidFill>
                            <a:srgbClr val="1E2235"/>
                          </a:solidFill>
                          <a:latin typeface="Arial"/>
                        </a:rPr>
                        <a:t>Extended</a:t>
                      </a:r>
                    </a:p>
                  </a:txBody>
                  <a:tcPr marL="54864" marR="54864" marT="27432" marB="27432" anchor="ctr">
                    <a:solidFill>
                      <a:srgbClr val="F7F8FC"/>
                    </a:solidFill>
                  </a:tcPr>
                </a:tc>
                <a:tc>
                  <a:txBody>
                    <a:bodyPr wrap="square"/>
                    <a:lstStyle/>
                    <a:p>
                      <a:pPr algn="r"/>
                      <a:r>
                        <a:rPr sz="1500" b="0">
                          <a:solidFill>
                            <a:srgbClr val="1E2235"/>
                          </a:solidFill>
                          <a:latin typeface="Arial"/>
                        </a:rPr>
                        <a:t>4.00 USDC</a:t>
                      </a:r>
                    </a:p>
                  </a:txBody>
                  <a:tcPr marL="54864" marR="54864" marT="27432" marB="27432" anchor="ctr">
                    <a:solidFill>
                      <a:srgbClr val="F7F8FC"/>
                    </a:solidFill>
                  </a:tcPr>
                </a:tc>
                <a:tc>
                  <a:txBody>
                    <a:bodyPr wrap="square"/>
                    <a:lstStyle/>
                    <a:p>
                      <a:pPr algn="r"/>
                      <a:r>
                        <a:rPr sz="1500" b="0">
                          <a:solidFill>
                            <a:srgbClr val="1E2235"/>
                          </a:solidFill>
                          <a:latin typeface="Arial"/>
                        </a:rPr>
                        <a:t>20.00 USDC</a:t>
                      </a:r>
                    </a:p>
                  </a:txBody>
                  <a:tcPr marL="54864" marR="54864" marT="27432" marB="27432" anchor="ctr">
                    <a:solidFill>
                      <a:srgbClr val="F7F8FC"/>
                    </a:solidFill>
                  </a:tcPr>
                </a:tc>
                <a:tc>
                  <a:txBody>
                    <a:bodyPr wrap="square"/>
                    <a:lstStyle/>
                    <a:p>
                      <a:pPr algn="ctr"/>
                      <a:r>
                        <a:rPr sz="1500" b="0">
                          <a:solidFill>
                            <a:srgbClr val="1E2235"/>
                          </a:solidFill>
                          <a:latin typeface="Arial"/>
                        </a:rPr>
                        <a:t>32</a:t>
                      </a:r>
                    </a:p>
                  </a:txBody>
                  <a:tcPr marL="54864" marR="54864" marT="27432" marB="27432" anchor="ctr">
                    <a:solidFill>
                      <a:srgbClr val="F7F8FC"/>
                    </a:solidFill>
                  </a:tcPr>
                </a:tc>
                <a:tc>
                  <a:txBody>
                    <a:bodyPr wrap="square"/>
                    <a:lstStyle/>
                    <a:p>
                      <a:pPr algn="l"/>
                      <a:r>
                        <a:rPr sz="1500" b="0">
                          <a:solidFill>
                            <a:srgbClr val="1E2235"/>
                          </a:solidFill>
                          <a:latin typeface="Arial"/>
                        </a:rPr>
                        <a:t>A; B up to half; NEW</a:t>
                      </a:r>
                    </a:p>
                  </a:txBody>
                  <a:tcPr marL="54864" marR="54864" marT="27432" marB="27432" anchor="ctr">
                    <a:solidFill>
                      <a:srgbClr val="F7F8FC"/>
                    </a:solidFill>
                  </a:tcPr>
                </a:tc>
                <a:tc>
                  <a:txBody>
                    <a:bodyPr wrap="square"/>
                    <a:lstStyle/>
                    <a:p>
                      <a:pPr algn="ctr"/>
                      <a:r>
                        <a:rPr sz="1500" b="0">
                          <a:solidFill>
                            <a:srgbClr val="1E2235"/>
                          </a:solidFill>
                          <a:latin typeface="Arial"/>
                        </a:rPr>
                        <a:t>-</a:t>
                      </a:r>
                    </a:p>
                  </a:txBody>
                  <a:tcPr marL="54864" marR="54864" marT="27432" marB="27432" anchor="ctr">
                    <a:solidFill>
                      <a:srgbClr val="F7F8FC"/>
                    </a:solidFill>
                  </a:tcPr>
                </a:tc>
              </a:tr>
              <a:tr h="329184">
                <a:tc>
                  <a:txBody>
                    <a:bodyPr wrap="square"/>
                    <a:lstStyle/>
                    <a:p>
                      <a:pPr algn="ctr"/>
                      <a:r>
                        <a:rPr sz="1500" b="0">
                          <a:solidFill>
                            <a:srgbClr val="1E2235"/>
                          </a:solidFill>
                          <a:latin typeface="Arial"/>
                        </a:rPr>
                        <a:t>FROZEN</a:t>
                      </a:r>
                    </a:p>
                  </a:txBody>
                  <a:tcPr marL="54864" marR="54864" marT="27432" marB="27432" anchor="ctr">
                    <a:solidFill>
                      <a:srgbClr val="FBE9E0"/>
                    </a:solidFill>
                  </a:tcPr>
                </a:tc>
                <a:tc>
                  <a:txBody>
                    <a:bodyPr wrap="square"/>
                    <a:lstStyle/>
                    <a:p>
                      <a:pPr algn="l"/>
                      <a:r>
                        <a:rPr sz="1500" b="0">
                          <a:solidFill>
                            <a:srgbClr val="1E2235"/>
                          </a:solidFill>
                          <a:latin typeface="Arial"/>
                        </a:rPr>
                        <a:t>Circuit breaker</a:t>
                      </a:r>
                    </a:p>
                  </a:txBody>
                  <a:tcPr marL="54864" marR="54864" marT="27432" marB="27432" anchor="ctr">
                    <a:solidFill>
                      <a:srgbClr val="FBE9E0"/>
                    </a:solidFill>
                  </a:tcPr>
                </a:tc>
                <a:tc gridSpan="5">
                  <a:txBody>
                    <a:bodyPr wrap="square"/>
                    <a:lstStyle/>
                    <a:p>
                      <a:pPr algn="l"/>
                      <a:r>
                        <a:rPr sz="1500" b="0">
                          <a:solidFill>
                            <a:srgbClr val="1E2235"/>
                          </a:solidFill>
                          <a:latin typeface="Arial"/>
                        </a:rPr>
                        <a:t>nothing leaves except owner actions</a:t>
                      </a:r>
                    </a:p>
                  </a:txBody>
                  <a:tcPr marL="54864" marR="54864" marT="27432" marB="27432" anchor="ctr">
                    <a:solidFill>
                      <a:srgbClr val="FBE9E0"/>
                    </a:solidFill>
                  </a:tcPr>
                </a:tc>
                <a:tc hMerge="1">
                  <a:txBody>
                    <a:bodyPr wrap="square"/>
                    <a:lstStyle/>
                    <a:p>
                      <a:pPr algn="r"/>
                    </a:p>
                  </a:txBody>
                  <a:tcPr marL="54864" marR="54864" marT="27432" marB="27432" anchor="ctr">
                    <a:solidFill>
                      <a:srgbClr val="FBE9E0"/>
                    </a:solidFill>
                  </a:tcPr>
                </a:tc>
                <a:tc hMerge="1">
                  <a:txBody>
                    <a:bodyPr wrap="square"/>
                    <a:lstStyle/>
                    <a:p>
                      <a:pPr algn="ctr"/>
                    </a:p>
                  </a:txBody>
                  <a:tcPr marL="54864" marR="54864" marT="27432" marB="27432" anchor="ctr">
                    <a:solidFill>
                      <a:srgbClr val="FBE9E0"/>
                    </a:solidFill>
                  </a:tcPr>
                </a:tc>
                <a:tc hMerge="1">
                  <a:txBody>
                    <a:bodyPr wrap="square"/>
                    <a:lstStyle/>
                    <a:p>
                      <a:pPr algn="l"/>
                    </a:p>
                  </a:txBody>
                  <a:tcPr marL="54864" marR="54864" marT="27432" marB="27432" anchor="ctr">
                    <a:solidFill>
                      <a:srgbClr val="FBE9E0"/>
                    </a:solidFill>
                  </a:tcPr>
                </a:tc>
                <a:tc hMerge="1">
                  <a:txBody>
                    <a:bodyPr wrap="square"/>
                    <a:lstStyle/>
                    <a:p>
                      <a:pPr algn="ctr"/>
                    </a:p>
                  </a:txBody>
                  <a:tcPr marL="54864" marR="54864" marT="27432" marB="27432" anchor="ctr">
                    <a:solidFill>
                      <a:srgbClr val="FBE9E0"/>
                    </a:solidFill>
                  </a:tcPr>
                </a:tc>
              </a:tr>
            </a:tbl>
          </a:graphicData>
        </a:graphic>
      </p:graphicFrame>
      <p:sp>
        <p:nvSpPr>
          <p:cNvPr id="4" name="TextBox 3"/>
          <p:cNvSpPr txBox="1"/>
          <p:nvPr/>
        </p:nvSpPr>
        <p:spPr>
          <a:xfrm>
            <a:off x="548640" y="3584448"/>
            <a:ext cx="11064240" cy="292608"/>
          </a:xfrm>
          <a:prstGeom prst="rect">
            <a:avLst/>
          </a:prstGeom>
          <a:noFill/>
        </p:spPr>
        <p:txBody>
          <a:bodyPr wrap="square" lIns="73152" rIns="73152" tIns="36576" bIns="36576" anchor="t">
            <a:noAutofit/>
          </a:bodyPr>
          <a:lstStyle/>
          <a:p>
            <a:pPr algn="l">
              <a:lnSpc>
                <a:spcPct val="100000"/>
              </a:lnSpc>
              <a:spcAft>
                <a:spcPts val="0"/>
              </a:spcAft>
            </a:pPr>
            <a:r>
              <a:rPr sz="1200" b="0">
                <a:solidFill>
                  <a:srgbClr val="5B6075"/>
                </a:solidFill>
                <a:latin typeface="Arial"/>
              </a:rPr>
              <a:t>B payees are paid directly up to half the per-payment cap (b_cap_bps 5000); C and NEW go to escrow; D is refused.</a:t>
            </a:r>
          </a:p>
        </p:txBody>
      </p:sp>
      <p:sp>
        <p:nvSpPr>
          <p:cNvPr id="5" name="TextBox 4"/>
          <p:cNvSpPr txBox="1"/>
          <p:nvPr/>
        </p:nvSpPr>
        <p:spPr>
          <a:xfrm>
            <a:off x="457200" y="3895344"/>
            <a:ext cx="5440680" cy="2395728"/>
          </a:xfrm>
          <a:prstGeom prst="rect">
            <a:avLst/>
          </a:prstGeom>
          <a:noFill/>
        </p:spPr>
        <p:txBody>
          <a:bodyPr wrap="square" lIns="73152" rIns="73152" tIns="36576" bIns="36576" anchor="t">
            <a:noAutofit/>
          </a:bodyPr>
          <a:lstStyle/>
          <a:p>
            <a:pPr algn="l" marL="256032" indent="-256032">
              <a:lnSpc>
                <a:spcPct val="100000"/>
              </a:lnSpc>
              <a:spcAft>
                <a:spcPts val="300"/>
              </a:spcAft>
              <a:buClr>
                <a:srgbClr val="6779C6"/>
              </a:buClr>
              <a:buFont typeface="Arial"/>
              <a:buChar char="•"/>
            </a:pPr>
            <a:r>
              <a:rPr sz="1800" b="0">
                <a:solidFill>
                  <a:srgbClr val="1E2235"/>
                </a:solidFill>
                <a:latin typeface="Arial"/>
              </a:rPr>
              <a:t>Starts at tier 1; promoted one tier after clean settled orders</a:t>
            </a:r>
          </a:p>
          <a:p>
            <a:pPr algn="l" marL="256032" indent="-256032">
              <a:lnSpc>
                <a:spcPct val="100000"/>
              </a:lnSpc>
              <a:spcAft>
                <a:spcPts val="300"/>
              </a:spcAft>
              <a:buClr>
                <a:srgbClr val="6779C6"/>
              </a:buClr>
              <a:buFont typeface="Arial"/>
              <a:buChar char="•"/>
            </a:pPr>
            <a:r>
              <a:rPr sz="1800" b="0">
                <a:solidFill>
                  <a:srgbClr val="1E2235"/>
                </a:solidFill>
                <a:latin typeface="Arial"/>
              </a:rPr>
              <a:t>Serious violation: demote one tier; severe violation: freeze in the same transaction</a:t>
            </a:r>
          </a:p>
          <a:p>
            <a:pPr algn="l" marL="256032" indent="-256032">
              <a:lnSpc>
                <a:spcPct val="100000"/>
              </a:lnSpc>
              <a:spcAft>
                <a:spcPts val="300"/>
              </a:spcAft>
              <a:buClr>
                <a:srgbClr val="6779C6"/>
              </a:buClr>
              <a:buFont typeface="Arial"/>
              <a:buChar char="•"/>
            </a:pPr>
            <a:r>
              <a:rPr sz="1800" b="0">
                <a:solidFill>
                  <a:srgbClr val="1E2235"/>
                </a:solidFill>
                <a:latin typeface="Arial"/>
              </a:rPr>
              <a:t>Only the owner unfreezes, to tier 0 or 1, with key rotation</a:t>
            </a:r>
          </a:p>
          <a:p>
            <a:pPr algn="l" marL="256032" indent="-256032">
              <a:lnSpc>
                <a:spcPct val="100000"/>
              </a:lnSpc>
              <a:spcAft>
                <a:spcPts val="0"/>
              </a:spcAft>
              <a:buClr>
                <a:srgbClr val="6779C6"/>
              </a:buClr>
              <a:buFont typeface="Arial"/>
              <a:buChar char="•"/>
            </a:pPr>
            <a:r>
              <a:rPr sz="1800" b="0">
                <a:solidFill>
                  <a:srgbClr val="1E2235"/>
                </a:solidFill>
                <a:latin typeface="Arial"/>
              </a:rPr>
              <a:t>Automatic promotion stops at tier 2; tier 3 needs the owner</a:t>
            </a:r>
          </a:p>
        </p:txBody>
      </p:sp>
      <p:pic>
        <p:nvPicPr>
          <p:cNvPr id="6" name="Picture 5" descr="tier-timeline.png"/>
          <p:cNvPicPr>
            <a:picLocks noChangeAspect="1"/>
          </p:cNvPicPr>
          <p:nvPr/>
        </p:nvPicPr>
        <p:blipFill>
          <a:blip r:embed="rId2"/>
          <a:stretch>
            <a:fillRect/>
          </a:stretch>
        </p:blipFill>
        <p:spPr>
          <a:xfrm>
            <a:off x="5989320" y="3858768"/>
            <a:ext cx="5669280" cy="2240280"/>
          </a:xfrm>
          <a:prstGeom prst="rect">
            <a:avLst/>
          </a:prstGeom>
        </p:spPr>
      </p:pic>
      <p:sp>
        <p:nvSpPr>
          <p:cNvPr id="7" name="TextBox 6"/>
          <p:cNvSpPr txBox="1"/>
          <p:nvPr/>
        </p:nvSpPr>
        <p:spPr>
          <a:xfrm>
            <a:off x="5989320" y="6108192"/>
            <a:ext cx="5669280" cy="365760"/>
          </a:xfrm>
          <a:prstGeom prst="rect">
            <a:avLst/>
          </a:prstGeom>
          <a:noFill/>
        </p:spPr>
        <p:txBody>
          <a:bodyPr wrap="square" lIns="73152" rIns="73152" tIns="36576" bIns="36576" anchor="t">
            <a:noAutofit/>
          </a:bodyPr>
          <a:lstStyle/>
          <a:p>
            <a:pPr algn="l">
              <a:lnSpc>
                <a:spcPct val="100000"/>
              </a:lnSpc>
              <a:spcAft>
                <a:spcPts val="0"/>
              </a:spcAft>
            </a:pPr>
            <a:r>
              <a:rPr sz="1200" b="0">
                <a:solidFill>
                  <a:srgbClr val="5B6075"/>
                </a:solidFill>
                <a:latin typeface="Arial"/>
              </a:rPr>
              <a:t>Tier changes: S10 </a:t>
            </a:r>
            <a:r>
              <a:rPr sz="1200" b="0" u="sng">
                <a:solidFill>
                  <a:srgbClr val="0072B2"/>
                </a:solidFill>
                <a:latin typeface="Arial"/>
                <a:hlinkClick r:id="rId3"/>
              </a:rPr>
              <a:t>0x2923c9...e4b6</a:t>
            </a:r>
            <a:r>
              <a:rPr sz="1200" b="0">
                <a:solidFill>
                  <a:srgbClr val="5B6075"/>
                </a:solidFill>
                <a:latin typeface="Arial"/>
              </a:rPr>
              <a:t>, S15 </a:t>
            </a:r>
            <a:r>
              <a:rPr sz="1200" b="0" u="sng">
                <a:solidFill>
                  <a:srgbClr val="0072B2"/>
                </a:solidFill>
                <a:latin typeface="Arial"/>
                <a:hlinkClick r:id="rId4"/>
              </a:rPr>
              <a:t>0x8e8dc7...b700</a:t>
            </a:r>
            <a:r>
              <a:rPr sz="1200" b="0">
                <a:solidFill>
                  <a:srgbClr val="5B6075"/>
                </a:solidFill>
                <a:latin typeface="Arial"/>
              </a:rPr>
              <a:t>, S16 </a:t>
            </a:r>
            <a:r>
              <a:rPr sz="1200" b="0" u="sng">
                <a:solidFill>
                  <a:srgbClr val="0072B2"/>
                </a:solidFill>
                <a:latin typeface="Arial"/>
                <a:hlinkClick r:id="rId5"/>
              </a:rPr>
              <a:t>0x2a829d...9de0</a:t>
            </a:r>
            <a:r>
              <a:rPr sz="1200" b="0">
                <a:solidFill>
                  <a:srgbClr val="5B6075"/>
                </a:solidFill>
                <a:latin typeface="Arial"/>
              </a:rPr>
              <a:t>, S18 </a:t>
            </a:r>
            <a:r>
              <a:rPr sz="1200" b="0" u="sng">
                <a:solidFill>
                  <a:srgbClr val="0072B2"/>
                </a:solidFill>
                <a:latin typeface="Arial"/>
                <a:hlinkClick r:id="rId6"/>
              </a:rPr>
              <a:t>0x555966...c636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2400" b="1">
                <a:solidFill>
                  <a:srgbClr val="FFFFFF"/>
                </a:solidFill>
                <a:latin typeface="Arial"/>
              </a:rPr>
              <a:t>Demo: one recorded run on Base Sepolia, every claim has a hash</a:t>
            </a:r>
          </a:p>
        </p:txBody>
      </p:sp>
      <p:cxnSp>
        <p:nvCxnSpPr>
          <p:cNvPr id="3" name="Connector 2"/>
          <p:cNvCxnSpPr/>
          <p:nvPr/>
        </p:nvCxnSpPr>
        <p:spPr>
          <a:xfrm>
            <a:off x="640080" y="1938528"/>
            <a:ext cx="10927080" cy="0"/>
          </a:xfrm>
          <a:prstGeom prst="line">
            <a:avLst/>
          </a:prstGeom>
          <a:ln w="25400">
            <a:solidFill>
              <a:srgbClr val="5B60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713232" y="1828800"/>
            <a:ext cx="219456" cy="219456"/>
          </a:xfrm>
          <a:prstGeom prst="ellipse">
            <a:avLst/>
          </a:prstGeom>
          <a:solidFill>
            <a:srgbClr val="0072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 y="1280160"/>
            <a:ext cx="1737360" cy="512064"/>
          </a:xfrm>
          <a:prstGeom prst="rect">
            <a:avLst/>
          </a:prstGeom>
          <a:noFill/>
        </p:spPr>
        <p:txBody>
          <a:bodyPr wrap="square" lIns="18288" rIns="18288" tIns="36576" bIns="36576" anchor="b">
            <a:noAutofit/>
          </a:bodyPr>
          <a:lstStyle/>
          <a:p>
            <a:pPr algn="ctr">
              <a:lnSpc>
                <a:spcPct val="100000"/>
              </a:lnSpc>
              <a:spcAft>
                <a:spcPts val="0"/>
              </a:spcAft>
            </a:pPr>
            <a:r>
              <a:rPr sz="1300" b="1">
                <a:solidFill>
                  <a:srgbClr val="1E2235"/>
                </a:solidFill>
                <a:latin typeface="Arial"/>
              </a:rPr>
              <a:t>S5 mandate M1</a:t>
            </a:r>
          </a:p>
        </p:txBody>
      </p:sp>
      <p:sp>
        <p:nvSpPr>
          <p:cNvPr id="6" name="Oval 5"/>
          <p:cNvSpPr/>
          <p:nvPr/>
        </p:nvSpPr>
        <p:spPr>
          <a:xfrm>
            <a:off x="1764792" y="1828800"/>
            <a:ext cx="219456" cy="219456"/>
          </a:xfrm>
          <a:prstGeom prst="ellipse">
            <a:avLst/>
          </a:prstGeom>
          <a:solidFill>
            <a:srgbClr val="0072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84832"/>
            <a:ext cx="1737360" cy="512064"/>
          </a:xfrm>
          <a:prstGeom prst="rect">
            <a:avLst/>
          </a:prstGeom>
          <a:noFill/>
        </p:spPr>
        <p:txBody>
          <a:bodyPr wrap="square" lIns="18288" rIns="18288" tIns="36576" bIns="36576" anchor="t">
            <a:noAutofit/>
          </a:bodyPr>
          <a:lstStyle/>
          <a:p>
            <a:pPr algn="ctr">
              <a:lnSpc>
                <a:spcPct val="100000"/>
              </a:lnSpc>
              <a:spcAft>
                <a:spcPts val="0"/>
              </a:spcAft>
            </a:pPr>
            <a:r>
              <a:rPr sz="1300" b="1">
                <a:solidFill>
                  <a:srgbClr val="1E2235"/>
                </a:solidFill>
                <a:latin typeface="Arial"/>
              </a:rPr>
              <a:t>S6/S7 pay A, capped B</a:t>
            </a:r>
          </a:p>
        </p:txBody>
      </p:sp>
      <p:sp>
        <p:nvSpPr>
          <p:cNvPr id="8" name="Oval 7"/>
          <p:cNvSpPr/>
          <p:nvPr/>
        </p:nvSpPr>
        <p:spPr>
          <a:xfrm>
            <a:off x="2816352" y="1828800"/>
            <a:ext cx="219456" cy="219456"/>
          </a:xfrm>
          <a:prstGeom prst="ellipse">
            <a:avLst/>
          </a:prstGeom>
          <a:solidFill>
            <a:srgbClr val="E69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1280160"/>
            <a:ext cx="1737360" cy="512064"/>
          </a:xfrm>
          <a:prstGeom prst="rect">
            <a:avLst/>
          </a:prstGeom>
          <a:noFill/>
        </p:spPr>
        <p:txBody>
          <a:bodyPr wrap="square" lIns="18288" rIns="18288" tIns="36576" bIns="36576" anchor="b">
            <a:noAutofit/>
          </a:bodyPr>
          <a:lstStyle/>
          <a:p>
            <a:pPr algn="ctr">
              <a:lnSpc>
                <a:spcPct val="100000"/>
              </a:lnSpc>
              <a:spcAft>
                <a:spcPts val="0"/>
              </a:spcAft>
            </a:pPr>
            <a:r>
              <a:rPr sz="1300" b="1">
                <a:solidFill>
                  <a:srgbClr val="1E2235"/>
                </a:solidFill>
                <a:latin typeface="Arial"/>
              </a:rPr>
              <a:t>S8 escrow, release</a:t>
            </a:r>
          </a:p>
        </p:txBody>
      </p:sp>
      <p:sp>
        <p:nvSpPr>
          <p:cNvPr id="10" name="Oval 9"/>
          <p:cNvSpPr/>
          <p:nvPr/>
        </p:nvSpPr>
        <p:spPr>
          <a:xfrm>
            <a:off x="5269992" y="1828800"/>
            <a:ext cx="219456" cy="219456"/>
          </a:xfrm>
          <a:prstGeom prst="ellipse">
            <a:avLst/>
          </a:prstGeom>
          <a:solidFill>
            <a:srgbClr val="D55E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1040" y="2084832"/>
            <a:ext cx="1737360" cy="512064"/>
          </a:xfrm>
          <a:prstGeom prst="rect">
            <a:avLst/>
          </a:prstGeom>
          <a:noFill/>
        </p:spPr>
        <p:txBody>
          <a:bodyPr wrap="square" lIns="18288" rIns="18288" tIns="36576" bIns="36576" anchor="t">
            <a:noAutofit/>
          </a:bodyPr>
          <a:lstStyle/>
          <a:p>
            <a:pPr algn="ctr">
              <a:lnSpc>
                <a:spcPct val="100000"/>
              </a:lnSpc>
              <a:spcAft>
                <a:spcPts val="0"/>
              </a:spcAft>
            </a:pPr>
            <a:r>
              <a:rPr sz="1300" b="1">
                <a:solidFill>
                  <a:srgbClr val="1E2235"/>
                </a:solidFill>
                <a:latin typeface="Arial"/>
              </a:rPr>
              <a:t>S11/S12 Ghost to D, refused</a:t>
            </a:r>
          </a:p>
        </p:txBody>
      </p:sp>
      <p:sp>
        <p:nvSpPr>
          <p:cNvPr id="12" name="Oval 11"/>
          <p:cNvSpPr/>
          <p:nvPr/>
        </p:nvSpPr>
        <p:spPr>
          <a:xfrm>
            <a:off x="6321552" y="1828800"/>
            <a:ext cx="219456" cy="219456"/>
          </a:xfrm>
          <a:prstGeom prst="ellipse">
            <a:avLst/>
          </a:prstGeom>
          <a:solidFill>
            <a:srgbClr val="D55E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62600" y="1280160"/>
            <a:ext cx="1737360" cy="512064"/>
          </a:xfrm>
          <a:prstGeom prst="rect">
            <a:avLst/>
          </a:prstGeom>
          <a:noFill/>
        </p:spPr>
        <p:txBody>
          <a:bodyPr wrap="square" lIns="18288" rIns="18288" tIns="36576" bIns="36576" anchor="b">
            <a:noAutofit/>
          </a:bodyPr>
          <a:lstStyle/>
          <a:p>
            <a:pPr algn="ctr">
              <a:lnSpc>
                <a:spcPct val="100000"/>
              </a:lnSpc>
              <a:spcAft>
                <a:spcPts val="0"/>
              </a:spcAft>
            </a:pPr>
            <a:r>
              <a:rPr sz="1300" b="1">
                <a:solidFill>
                  <a:srgbClr val="1E2235"/>
                </a:solidFill>
                <a:latin typeface="Arial"/>
              </a:rPr>
              <a:t>S13 stolen key reverts</a:t>
            </a:r>
          </a:p>
        </p:txBody>
      </p:sp>
      <p:sp>
        <p:nvSpPr>
          <p:cNvPr id="14" name="Oval 13"/>
          <p:cNvSpPr/>
          <p:nvPr/>
        </p:nvSpPr>
        <p:spPr>
          <a:xfrm>
            <a:off x="8074152" y="1828800"/>
            <a:ext cx="219456" cy="219456"/>
          </a:xfrm>
          <a:prstGeom prst="ellipse">
            <a:avLst/>
          </a:prstGeom>
          <a:solidFill>
            <a:srgbClr val="D55E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2084832"/>
            <a:ext cx="1737360" cy="512064"/>
          </a:xfrm>
          <a:prstGeom prst="rect">
            <a:avLst/>
          </a:prstGeom>
          <a:noFill/>
        </p:spPr>
        <p:txBody>
          <a:bodyPr wrap="square" lIns="18288" rIns="18288" tIns="36576" bIns="36576" anchor="t">
            <a:noAutofit/>
          </a:bodyPr>
          <a:lstStyle/>
          <a:p>
            <a:pPr algn="ctr">
              <a:lnSpc>
                <a:spcPct val="100000"/>
              </a:lnSpc>
              <a:spcAft>
                <a:spcPts val="0"/>
              </a:spcAft>
            </a:pPr>
            <a:r>
              <a:rPr sz="1300" b="1">
                <a:solidFill>
                  <a:srgbClr val="1E2235"/>
                </a:solidFill>
                <a:latin typeface="Arial"/>
              </a:rPr>
              <a:t>S15/S16 demote, freeze</a:t>
            </a:r>
          </a:p>
        </p:txBody>
      </p:sp>
      <p:sp>
        <p:nvSpPr>
          <p:cNvPr id="16" name="Oval 15"/>
          <p:cNvSpPr/>
          <p:nvPr/>
        </p:nvSpPr>
        <p:spPr>
          <a:xfrm>
            <a:off x="9826752" y="1828800"/>
            <a:ext cx="219456" cy="219456"/>
          </a:xfrm>
          <a:prstGeom prst="ellipse">
            <a:avLst/>
          </a:prstGeom>
          <a:solidFill>
            <a:srgbClr val="0072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67800" y="1280160"/>
            <a:ext cx="1737360" cy="512064"/>
          </a:xfrm>
          <a:prstGeom prst="rect">
            <a:avLst/>
          </a:prstGeom>
          <a:noFill/>
        </p:spPr>
        <p:txBody>
          <a:bodyPr wrap="square" lIns="18288" rIns="18288" tIns="36576" bIns="36576" anchor="b">
            <a:noAutofit/>
          </a:bodyPr>
          <a:lstStyle/>
          <a:p>
            <a:pPr algn="ctr">
              <a:lnSpc>
                <a:spcPct val="100000"/>
              </a:lnSpc>
              <a:spcAft>
                <a:spcPts val="0"/>
              </a:spcAft>
            </a:pPr>
            <a:r>
              <a:rPr sz="1300" b="1">
                <a:solidFill>
                  <a:srgbClr val="1E2235"/>
                </a:solidFill>
                <a:latin typeface="Arial"/>
              </a:rPr>
              <a:t>S18 owner reset, approval</a:t>
            </a:r>
          </a:p>
        </p:txBody>
      </p:sp>
      <p:sp>
        <p:nvSpPr>
          <p:cNvPr id="18" name="TextBox 17"/>
          <p:cNvSpPr txBox="1"/>
          <p:nvPr/>
        </p:nvSpPr>
        <p:spPr>
          <a:xfrm>
            <a:off x="11247120" y="2048256"/>
            <a:ext cx="548640" cy="274320"/>
          </a:xfrm>
          <a:prstGeom prst="rect">
            <a:avLst/>
          </a:prstGeom>
          <a:noFill/>
        </p:spPr>
        <p:txBody>
          <a:bodyPr wrap="square" lIns="0" rIns="0" tIns="36576" bIns="36576" anchor="t">
            <a:noAutofit/>
          </a:bodyPr>
          <a:lstStyle/>
          <a:p>
            <a:pPr algn="l">
              <a:lnSpc>
                <a:spcPct val="100000"/>
              </a:lnSpc>
              <a:spcAft>
                <a:spcPts val="0"/>
              </a:spcAft>
            </a:pPr>
            <a:r>
              <a:rPr sz="1100" b="0">
                <a:solidFill>
                  <a:srgbClr val="5B6075"/>
                </a:solidFill>
                <a:latin typeface="Arial"/>
              </a:rPr>
              <a:t>S20</a:t>
            </a:r>
          </a:p>
        </p:txBody>
      </p:sp>
      <p:sp>
        <p:nvSpPr>
          <p:cNvPr id="19" name="TextBox 18"/>
          <p:cNvSpPr txBox="1"/>
          <p:nvPr/>
        </p:nvSpPr>
        <p:spPr>
          <a:xfrm>
            <a:off x="457200" y="2743200"/>
            <a:ext cx="5440680" cy="3474720"/>
          </a:xfrm>
          <a:prstGeom prst="rect">
            <a:avLst/>
          </a:prstGeom>
          <a:noFill/>
        </p:spPr>
        <p:txBody>
          <a:bodyPr wrap="square" lIns="73152" rIns="73152" tIns="36576" bIns="36576" anchor="t">
            <a:noAutofit/>
          </a:bodyPr>
          <a:lstStyle/>
          <a:p>
            <a:pPr algn="l" marL="256032" indent="-256032">
              <a:lnSpc>
                <a:spcPct val="100000"/>
              </a:lnSpc>
              <a:spcAft>
                <a:spcPts val="800"/>
              </a:spcAft>
              <a:buClr>
                <a:srgbClr val="6779C6"/>
              </a:buClr>
              <a:buFont typeface="Arial"/>
              <a:buChar char="•"/>
            </a:pPr>
            <a:r>
              <a:rPr sz="1800" b="0">
                <a:solidFill>
                  <a:srgbClr val="1E2235"/>
                </a:solidFill>
                <a:latin typeface="Arial"/>
              </a:rPr>
              <a:t>Owner mandate on-chain; pay grade A; capped pay to grade B</a:t>
            </a:r>
          </a:p>
          <a:p>
            <a:pPr algn="l" marL="256032" indent="-256032">
              <a:lnSpc>
                <a:spcPct val="100000"/>
              </a:lnSpc>
              <a:spcAft>
                <a:spcPts val="800"/>
              </a:spcAft>
              <a:buClr>
                <a:srgbClr val="6779C6"/>
              </a:buClr>
              <a:buFont typeface="Arial"/>
              <a:buChar char="•"/>
            </a:pPr>
            <a:r>
              <a:rPr sz="1800" b="0">
                <a:solidFill>
                  <a:srgbClr val="1E2235"/>
                </a:solidFill>
                <a:latin typeface="Arial"/>
              </a:rPr>
              <a:t>Unrated provider paid through escrow, released after its on-chain claim</a:t>
            </a:r>
          </a:p>
          <a:p>
            <a:pPr algn="l" marL="256032" indent="-256032">
              <a:lnSpc>
                <a:spcPct val="100000"/>
              </a:lnSpc>
              <a:spcAft>
                <a:spcPts val="800"/>
              </a:spcAft>
              <a:buClr>
                <a:srgbClr val="6779C6"/>
              </a:buClr>
              <a:buFont typeface="Arial"/>
              <a:buChar char="•"/>
            </a:pPr>
            <a:r>
              <a:rPr sz="1800" b="0">
                <a:solidFill>
                  <a:srgbClr val="1E2235"/>
                </a:solidFill>
                <a:latin typeface="Arial"/>
              </a:rPr>
              <a:t>Ghost defaults, drops to D, and is refused on-chain</a:t>
            </a:r>
          </a:p>
          <a:p>
            <a:pPr algn="l" marL="256032" indent="-256032">
              <a:lnSpc>
                <a:spcPct val="100000"/>
              </a:lnSpc>
              <a:spcAft>
                <a:spcPts val="800"/>
              </a:spcAft>
              <a:buClr>
                <a:srgbClr val="6779C6"/>
              </a:buClr>
              <a:buFont typeface="Arial"/>
              <a:buChar char="•"/>
            </a:pPr>
            <a:r>
              <a:rPr sz="1800" b="0">
                <a:solidFill>
                  <a:srgbClr val="1E2235"/>
                </a:solidFill>
                <a:latin typeface="Arial"/>
              </a:rPr>
              <a:t>Stolen key reverts; scripted hijack freezes the vault; owner resets</a:t>
            </a:r>
          </a:p>
          <a:p>
            <a:pPr algn="l" marL="256032" indent="-256032">
              <a:lnSpc>
                <a:spcPct val="100000"/>
              </a:lnSpc>
              <a:spcAft>
                <a:spcPts val="0"/>
              </a:spcAft>
              <a:buClr>
                <a:srgbClr val="6779C6"/>
              </a:buClr>
              <a:buFont typeface="Arial"/>
              <a:buChar char="•"/>
            </a:pPr>
            <a:r>
              <a:rPr sz="1800" b="0">
                <a:solidFill>
                  <a:srgbClr val="1E2235"/>
                </a:solidFill>
                <a:latin typeface="Arial"/>
              </a:rPr>
              <a:t>214 transactions, 26 agent-signed; offline check 236 / 236</a:t>
            </a:r>
          </a:p>
        </p:txBody>
      </p:sp>
      <p:graphicFrame>
        <p:nvGraphicFramePr>
          <p:cNvPr id="20" name="Table 19"/>
          <p:cNvGraphicFramePr>
            <a:graphicFrameLocks noGrp="1"/>
          </p:cNvGraphicFramePr>
          <p:nvPr/>
        </p:nvGraphicFramePr>
        <p:xfrm>
          <a:off x="6080760" y="2788920"/>
          <a:ext cx="5577840" cy="2615184"/>
        </p:xfrm>
        <a:graphic>
          <a:graphicData uri="http://schemas.openxmlformats.org/drawingml/2006/table">
            <a:tbl>
              <a:tblPr firstRow="0" bandRow="0">
                <a:tableStyleId>{5C22544A-7EE6-4342-B048-85BDC9FD1C3A}</a:tableStyleId>
              </a:tblPr>
              <a:tblGrid>
                <a:gridCol w="960120"/>
                <a:gridCol w="2240280"/>
                <a:gridCol w="2377440"/>
              </a:tblGrid>
              <a:tr h="329184">
                <a:tc>
                  <a:txBody>
                    <a:bodyPr wrap="square"/>
                    <a:lstStyle/>
                    <a:p>
                      <a:pPr algn="l"/>
                      <a:r>
                        <a:rPr sz="1300" b="1">
                          <a:solidFill>
                            <a:srgbClr val="FFFFFF"/>
                          </a:solidFill>
                          <a:latin typeface="Arial"/>
                        </a:rPr>
                        <a:t>Step</a:t>
                      </a:r>
                    </a:p>
                  </a:txBody>
                  <a:tcPr marL="54864" marR="54864" marT="27432" marB="27432" anchor="ctr">
                    <a:solidFill>
                      <a:srgbClr val="3F4C9E"/>
                    </a:solidFill>
                  </a:tcPr>
                </a:tc>
                <a:tc>
                  <a:txBody>
                    <a:bodyPr wrap="square"/>
                    <a:lstStyle/>
                    <a:p>
                      <a:pPr algn="l"/>
                      <a:r>
                        <a:rPr sz="1300" b="1">
                          <a:solidFill>
                            <a:srgbClr val="FFFFFF"/>
                          </a:solidFill>
                          <a:latin typeface="Arial"/>
                        </a:rPr>
                        <a:t>Claim</a:t>
                      </a:r>
                    </a:p>
                  </a:txBody>
                  <a:tcPr marL="54864" marR="54864" marT="27432" marB="27432" anchor="ctr">
                    <a:solidFill>
                      <a:srgbClr val="3F4C9E"/>
                    </a:solidFill>
                  </a:tcPr>
                </a:tc>
                <a:tc>
                  <a:txBody>
                    <a:bodyPr wrap="square"/>
                    <a:lstStyle/>
                    <a:p>
                      <a:pPr algn="l"/>
                      <a:r>
                        <a:rPr sz="1300" b="1">
                          <a:solidFill>
                            <a:srgbClr val="FFFFFF"/>
                          </a:solidFill>
                          <a:latin typeface="Arial"/>
                        </a:rPr>
                        <a:t>Transaction</a:t>
                      </a:r>
                    </a:p>
                  </a:txBody>
                  <a:tcPr marL="54864" marR="54864" marT="27432" marB="27432" anchor="ctr">
                    <a:solidFill>
                      <a:srgbClr val="3F4C9E"/>
                    </a:solidFill>
                  </a:tcPr>
                </a:tc>
              </a:tr>
              <a:tr h="457200">
                <a:tc>
                  <a:txBody>
                    <a:bodyPr wrap="square"/>
                    <a:lstStyle/>
                    <a:p>
                      <a:pPr algn="l"/>
                      <a:r>
                        <a:rPr sz="1300" b="0">
                          <a:solidFill>
                            <a:srgbClr val="1E2235"/>
                          </a:solidFill>
                          <a:latin typeface="Arial"/>
                        </a:rPr>
                        <a:t>S5</a:t>
                      </a:r>
                    </a:p>
                  </a:txBody>
                  <a:tcPr marL="54864" marR="54864" marT="27432" marB="27432" anchor="ctr">
                    <a:solidFill>
                      <a:srgbClr val="FFFFFF"/>
                    </a:solidFill>
                  </a:tcPr>
                </a:tc>
                <a:tc>
                  <a:txBody>
                    <a:bodyPr wrap="square"/>
                    <a:lstStyle/>
                    <a:p>
                      <a:pPr algn="l"/>
                      <a:r>
                        <a:rPr sz="1300" b="0">
                          <a:solidFill>
                            <a:srgbClr val="1E2235"/>
                          </a:solidFill>
                          <a:latin typeface="Arial"/>
                        </a:rPr>
                        <a:t>Owner registers mandate M1</a:t>
                      </a:r>
                    </a:p>
                  </a:txBody>
                  <a:tcPr marL="54864" marR="54864" marT="27432" marB="27432" anchor="ctr">
                    <a:solidFill>
                      <a:srgbClr val="FFFFFF"/>
                    </a:solidFill>
                  </a:tcPr>
                </a:tc>
                <a:tc>
                  <a:txBody>
                    <a:bodyPr wrap="square"/>
                    <a:lstStyle/>
                    <a:p>
                      <a:pPr algn="l"/>
                      <a:r>
                        <a:rPr sz="1300" b="0" u="sng">
                          <a:solidFill>
                            <a:srgbClr val="0072B2"/>
                          </a:solidFill>
                          <a:latin typeface="Arial"/>
                          <a:hlinkClick r:id="rId2"/>
                        </a:rPr>
                        <a:t>0x0fd2d2...8fe1</a:t>
                      </a:r>
                    </a:p>
                  </a:txBody>
                  <a:tcPr marL="54864" marR="54864" marT="27432" marB="27432" anchor="ctr">
                    <a:solidFill>
                      <a:srgbClr val="FFFFFF"/>
                    </a:solidFill>
                  </a:tcPr>
                </a:tc>
              </a:tr>
              <a:tr h="457200">
                <a:tc>
                  <a:txBody>
                    <a:bodyPr wrap="square"/>
                    <a:lstStyle/>
                    <a:p>
                      <a:pPr algn="l"/>
                      <a:r>
                        <a:rPr sz="1300" b="0">
                          <a:solidFill>
                            <a:srgbClr val="1E2235"/>
                          </a:solidFill>
                          <a:latin typeface="Arial"/>
                        </a:rPr>
                        <a:t>S6 / S7</a:t>
                      </a:r>
                    </a:p>
                  </a:txBody>
                  <a:tcPr marL="54864" marR="54864" marT="27432" marB="27432" anchor="ctr">
                    <a:solidFill>
                      <a:srgbClr val="F7F8FC"/>
                    </a:solidFill>
                  </a:tcPr>
                </a:tc>
                <a:tc>
                  <a:txBody>
                    <a:bodyPr wrap="square"/>
                    <a:lstStyle/>
                    <a:p>
                      <a:pPr algn="l"/>
                      <a:r>
                        <a:rPr sz="1300" b="0">
                          <a:solidFill>
                            <a:srgbClr val="1E2235"/>
                          </a:solidFill>
                          <a:latin typeface="Arial"/>
                        </a:rPr>
                        <a:t>Pay grade A; capped pay to grade B</a:t>
                      </a:r>
                    </a:p>
                  </a:txBody>
                  <a:tcPr marL="54864" marR="54864" marT="27432" marB="27432" anchor="ctr">
                    <a:solidFill>
                      <a:srgbClr val="F7F8FC"/>
                    </a:solidFill>
                  </a:tcPr>
                </a:tc>
                <a:tc>
                  <a:txBody>
                    <a:bodyPr wrap="square"/>
                    <a:lstStyle/>
                    <a:p>
                      <a:pPr algn="l"/>
                      <a:r>
                        <a:rPr sz="1300" b="0" u="sng">
                          <a:solidFill>
                            <a:srgbClr val="0072B2"/>
                          </a:solidFill>
                          <a:latin typeface="Arial"/>
                          <a:hlinkClick r:id="rId3"/>
                        </a:rPr>
                        <a:t>0xdd46a8...902e</a:t>
                      </a:r>
                      <a:r>
                        <a:rPr sz="1300" b="0">
                          <a:solidFill>
                            <a:srgbClr val="1E2235"/>
                          </a:solidFill>
                          <a:latin typeface="Arial"/>
                        </a:rPr>
                        <a:t>, </a:t>
                      </a:r>
                      <a:r>
                        <a:rPr sz="1300" b="0" u="sng">
                          <a:solidFill>
                            <a:srgbClr val="0072B2"/>
                          </a:solidFill>
                          <a:latin typeface="Arial"/>
                          <a:hlinkClick r:id="rId4"/>
                        </a:rPr>
                        <a:t>0x7fb6ed...80bb</a:t>
                      </a:r>
                    </a:p>
                  </a:txBody>
                  <a:tcPr marL="54864" marR="54864" marT="27432" marB="27432" anchor="ctr">
                    <a:solidFill>
                      <a:srgbClr val="F7F8FC"/>
                    </a:solidFill>
                  </a:tcPr>
                </a:tc>
              </a:tr>
              <a:tr h="457200">
                <a:tc>
                  <a:txBody>
                    <a:bodyPr wrap="square"/>
                    <a:lstStyle/>
                    <a:p>
                      <a:pPr algn="l"/>
                      <a:r>
                        <a:rPr sz="1300" b="0">
                          <a:solidFill>
                            <a:srgbClr val="1E2235"/>
                          </a:solidFill>
                          <a:latin typeface="Arial"/>
                        </a:rPr>
                        <a:t>S8</a:t>
                      </a:r>
                    </a:p>
                  </a:txBody>
                  <a:tcPr marL="54864" marR="54864" marT="27432" marB="27432" anchor="ctr">
                    <a:solidFill>
                      <a:srgbClr val="FFFFFF"/>
                    </a:solidFill>
                  </a:tcPr>
                </a:tc>
                <a:tc>
                  <a:txBody>
                    <a:bodyPr wrap="square"/>
                    <a:lstStyle/>
                    <a:p>
                      <a:pPr algn="l"/>
                      <a:r>
                        <a:rPr sz="1300" b="0">
                          <a:solidFill>
                            <a:srgbClr val="1E2235"/>
                          </a:solidFill>
                          <a:latin typeface="Arial"/>
                        </a:rPr>
                        <a:t>Escrow, delivery claim, release</a:t>
                      </a:r>
                    </a:p>
                  </a:txBody>
                  <a:tcPr marL="54864" marR="54864" marT="27432" marB="27432" anchor="ctr">
                    <a:solidFill>
                      <a:srgbClr val="FFFFFF"/>
                    </a:solidFill>
                  </a:tcPr>
                </a:tc>
                <a:tc>
                  <a:txBody>
                    <a:bodyPr wrap="square"/>
                    <a:lstStyle/>
                    <a:p>
                      <a:pPr algn="l"/>
                      <a:r>
                        <a:rPr sz="1300" b="0" u="sng">
                          <a:solidFill>
                            <a:srgbClr val="0072B2"/>
                          </a:solidFill>
                          <a:latin typeface="Arial"/>
                          <a:hlinkClick r:id="rId5"/>
                        </a:rPr>
                        <a:t>0x36bdc1...4e7d</a:t>
                      </a:r>
                      <a:r>
                        <a:rPr sz="1300" b="0">
                          <a:solidFill>
                            <a:srgbClr val="1E2235"/>
                          </a:solidFill>
                          <a:latin typeface="Arial"/>
                        </a:rPr>
                        <a:t>, </a:t>
                      </a:r>
                      <a:r>
                        <a:rPr sz="1300" b="0" u="sng">
                          <a:solidFill>
                            <a:srgbClr val="0072B2"/>
                          </a:solidFill>
                          <a:latin typeface="Arial"/>
                          <a:hlinkClick r:id="rId6"/>
                        </a:rPr>
                        <a:t>0x3c0165...76af</a:t>
                      </a:r>
                      <a:r>
                        <a:rPr sz="1300" b="0">
                          <a:solidFill>
                            <a:srgbClr val="1E2235"/>
                          </a:solidFill>
                          <a:latin typeface="Arial"/>
                        </a:rPr>
                        <a:t>, </a:t>
                      </a:r>
                      <a:r>
                        <a:rPr sz="1300" b="0" u="sng">
                          <a:solidFill>
                            <a:srgbClr val="0072B2"/>
                          </a:solidFill>
                          <a:latin typeface="Arial"/>
                          <a:hlinkClick r:id="rId7"/>
                        </a:rPr>
                        <a:t>0x89d612...6bac</a:t>
                      </a:r>
                    </a:p>
                  </a:txBody>
                  <a:tcPr marL="54864" marR="54864" marT="27432" marB="27432" anchor="ctr">
                    <a:solidFill>
                      <a:srgbClr val="FFFFFF"/>
                    </a:solidFill>
                  </a:tcPr>
                </a:tc>
              </a:tr>
              <a:tr h="457200">
                <a:tc>
                  <a:txBody>
                    <a:bodyPr wrap="square"/>
                    <a:lstStyle/>
                    <a:p>
                      <a:pPr algn="l"/>
                      <a:r>
                        <a:rPr sz="1300" b="0">
                          <a:solidFill>
                            <a:srgbClr val="1E2235"/>
                          </a:solidFill>
                          <a:latin typeface="Arial"/>
                        </a:rPr>
                        <a:t>S12 / S13</a:t>
                      </a:r>
                    </a:p>
                  </a:txBody>
                  <a:tcPr marL="54864" marR="54864" marT="27432" marB="27432" anchor="ctr">
                    <a:solidFill>
                      <a:srgbClr val="F7F8FC"/>
                    </a:solidFill>
                  </a:tcPr>
                </a:tc>
                <a:tc>
                  <a:txBody>
                    <a:bodyPr wrap="square"/>
                    <a:lstStyle/>
                    <a:p>
                      <a:pPr algn="l"/>
                      <a:r>
                        <a:rPr sz="1300" b="0">
                          <a:solidFill>
                            <a:srgbClr val="1E2235"/>
                          </a:solidFill>
                          <a:latin typeface="Arial"/>
                        </a:rPr>
                        <a:t>Refuse grade D; stolen key reverts</a:t>
                      </a:r>
                    </a:p>
                  </a:txBody>
                  <a:tcPr marL="54864" marR="54864" marT="27432" marB="27432" anchor="ctr">
                    <a:solidFill>
                      <a:srgbClr val="F7F8FC"/>
                    </a:solidFill>
                  </a:tcPr>
                </a:tc>
                <a:tc>
                  <a:txBody>
                    <a:bodyPr wrap="square"/>
                    <a:lstStyle/>
                    <a:p>
                      <a:pPr algn="l"/>
                      <a:r>
                        <a:rPr sz="1300" b="0" u="sng">
                          <a:solidFill>
                            <a:srgbClr val="0072B2"/>
                          </a:solidFill>
                          <a:latin typeface="Arial"/>
                          <a:hlinkClick r:id="rId8"/>
                        </a:rPr>
                        <a:t>0xae242f...12a0</a:t>
                      </a:r>
                      <a:r>
                        <a:rPr sz="1300" b="0">
                          <a:solidFill>
                            <a:srgbClr val="1E2235"/>
                          </a:solidFill>
                          <a:latin typeface="Arial"/>
                        </a:rPr>
                        <a:t>, </a:t>
                      </a:r>
                      <a:r>
                        <a:rPr sz="1300" b="0" u="sng">
                          <a:solidFill>
                            <a:srgbClr val="0072B2"/>
                          </a:solidFill>
                          <a:latin typeface="Arial"/>
                          <a:hlinkClick r:id="rId9"/>
                        </a:rPr>
                        <a:t>0x024356...6bc4</a:t>
                      </a:r>
                    </a:p>
                  </a:txBody>
                  <a:tcPr marL="54864" marR="54864" marT="27432" marB="27432" anchor="ctr">
                    <a:solidFill>
                      <a:srgbClr val="F7F8FC"/>
                    </a:solidFill>
                  </a:tcPr>
                </a:tc>
              </a:tr>
              <a:tr h="457200">
                <a:tc>
                  <a:txBody>
                    <a:bodyPr wrap="square"/>
                    <a:lstStyle/>
                    <a:p>
                      <a:pPr algn="l"/>
                      <a:r>
                        <a:rPr sz="1300" b="0">
                          <a:solidFill>
                            <a:srgbClr val="1E2235"/>
                          </a:solidFill>
                          <a:latin typeface="Arial"/>
                        </a:rPr>
                        <a:t>S16 / S18</a:t>
                      </a:r>
                    </a:p>
                  </a:txBody>
                  <a:tcPr marL="54864" marR="54864" marT="27432" marB="27432" anchor="ctr">
                    <a:solidFill>
                      <a:srgbClr val="FFFFFF"/>
                    </a:solidFill>
                  </a:tcPr>
                </a:tc>
                <a:tc>
                  <a:txBody>
                    <a:bodyPr wrap="square"/>
                    <a:lstStyle/>
                    <a:p>
                      <a:pPr algn="l"/>
                      <a:r>
                        <a:rPr sz="1300" b="0">
                          <a:solidFill>
                            <a:srgbClr val="1E2235"/>
                          </a:solidFill>
                          <a:latin typeface="Arial"/>
                        </a:rPr>
                        <a:t>Freeze; owner reset; approved payment</a:t>
                      </a:r>
                    </a:p>
                  </a:txBody>
                  <a:tcPr marL="54864" marR="54864" marT="27432" marB="27432" anchor="ctr">
                    <a:solidFill>
                      <a:srgbClr val="FFFFFF"/>
                    </a:solidFill>
                  </a:tcPr>
                </a:tc>
                <a:tc>
                  <a:txBody>
                    <a:bodyPr wrap="square"/>
                    <a:lstStyle/>
                    <a:p>
                      <a:pPr algn="l"/>
                      <a:r>
                        <a:rPr sz="1300" b="0" u="sng">
                          <a:solidFill>
                            <a:srgbClr val="0072B2"/>
                          </a:solidFill>
                          <a:latin typeface="Arial"/>
                          <a:hlinkClick r:id="rId10"/>
                        </a:rPr>
                        <a:t>0x2a829d...9de0</a:t>
                      </a:r>
                      <a:r>
                        <a:rPr sz="1300" b="0">
                          <a:solidFill>
                            <a:srgbClr val="1E2235"/>
                          </a:solidFill>
                          <a:latin typeface="Arial"/>
                        </a:rPr>
                        <a:t>, </a:t>
                      </a:r>
                      <a:r>
                        <a:rPr sz="1300" b="0" u="sng">
                          <a:solidFill>
                            <a:srgbClr val="0072B2"/>
                          </a:solidFill>
                          <a:latin typeface="Arial"/>
                          <a:hlinkClick r:id="rId11"/>
                        </a:rPr>
                        <a:t>0x555966...c636</a:t>
                      </a:r>
                      <a:r>
                        <a:rPr sz="1300" b="0">
                          <a:solidFill>
                            <a:srgbClr val="1E2235"/>
                          </a:solidFill>
                          <a:latin typeface="Arial"/>
                        </a:rPr>
                        <a:t>, </a:t>
                      </a:r>
                      <a:r>
                        <a:rPr sz="1300" b="0" u="sng">
                          <a:solidFill>
                            <a:srgbClr val="0072B2"/>
                          </a:solidFill>
                          <a:latin typeface="Arial"/>
                          <a:hlinkClick r:id="rId12"/>
                        </a:rPr>
                        <a:t>0xc77acd...0ca6</a:t>
                      </a:r>
                    </a:p>
                  </a:txBody>
                  <a:tcPr marL="54864" marR="54864" marT="27432" marB="27432" anchor="ctr">
                    <a:solidFill>
                      <a:srgbClr val="FFFFFF"/>
                    </a:solidFill>
                  </a:tcPr>
                </a:tc>
              </a:tr>
            </a:tbl>
          </a:graphicData>
        </a:graphic>
      </p:graphicFrame>
      <p:sp>
        <p:nvSpPr>
          <p:cNvPr id="21" name="Footer"/>
          <p:cNvSpPr txBox="1"/>
          <p:nvPr/>
        </p:nvSpPr>
        <p:spPr>
          <a:xfrm>
            <a:off x="457200" y="6272784"/>
            <a:ext cx="11292840" cy="347472"/>
          </a:xfrm>
          <a:prstGeom prst="rect">
            <a:avLst/>
          </a:prstGeom>
          <a:noFill/>
        </p:spPr>
        <p:txBody>
          <a:bodyPr wrap="square" lIns="73152" rIns="73152" tIns="36576" bIns="36576" anchor="t">
            <a:noAutofit/>
          </a:bodyPr>
          <a:lstStyle/>
          <a:p>
            <a:pPr algn="l">
              <a:lnSpc>
                <a:spcPct val="100000"/>
              </a:lnSpc>
              <a:spcAft>
                <a:spcPts val="0"/>
              </a:spcAft>
            </a:pPr>
            <a:r>
              <a:rPr sz="1200" b="0">
                <a:solidFill>
                  <a:srgbClr val="5B6075"/>
                </a:solidFill>
                <a:latin typeface="Arial"/>
              </a:rPr>
              <a:t>All 25 headline claims: evidence/base_sepolia/HEADLINE.md; verify with scripts/verify_evidence.py (backup slides list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2400" b="1">
                <a:solidFill>
                  <a:srgbClr val="FFFFFF"/>
                </a:solidFill>
                <a:latin typeface="Arial"/>
              </a:rPr>
              <a:t>Security and compliance: counted attacks, by the official threat classes</a:t>
            </a:r>
          </a:p>
        </p:txBody>
      </p:sp>
      <p:graphicFrame>
        <p:nvGraphicFramePr>
          <p:cNvPr id="3" name="Table 2"/>
          <p:cNvGraphicFramePr>
            <a:graphicFrameLocks noGrp="1"/>
          </p:cNvGraphicFramePr>
          <p:nvPr/>
        </p:nvGraphicFramePr>
        <p:xfrm>
          <a:off x="548640" y="1261872"/>
          <a:ext cx="7534656" cy="2944368"/>
        </p:xfrm>
        <a:graphic>
          <a:graphicData uri="http://schemas.openxmlformats.org/drawingml/2006/table">
            <a:tbl>
              <a:tblPr firstRow="0" bandRow="0">
                <a:tableStyleId>{5C22544A-7EE6-4342-B048-85BDC9FD1C3A}</a:tableStyleId>
              </a:tblPr>
              <a:tblGrid>
                <a:gridCol w="2286000"/>
                <a:gridCol w="841248"/>
                <a:gridCol w="841248"/>
                <a:gridCol w="960120"/>
                <a:gridCol w="868680"/>
                <a:gridCol w="960120"/>
                <a:gridCol w="777240"/>
              </a:tblGrid>
              <a:tr h="384048">
                <a:tc>
                  <a:txBody>
                    <a:bodyPr wrap="square"/>
                    <a:lstStyle/>
                    <a:p>
                      <a:pPr algn="l"/>
                      <a:r>
                        <a:rPr sz="1200" b="1">
                          <a:solidFill>
                            <a:srgbClr val="FFFFFF"/>
                          </a:solidFill>
                          <a:latin typeface="Arial"/>
                        </a:rPr>
                        <a:t>Class</a:t>
                      </a:r>
                    </a:p>
                  </a:txBody>
                  <a:tcPr marL="54864" marR="54864" marT="27432" marB="27432" anchor="ctr">
                    <a:solidFill>
                      <a:srgbClr val="3F4C9E"/>
                    </a:solidFill>
                  </a:tcPr>
                </a:tc>
                <a:tc>
                  <a:txBody>
                    <a:bodyPr wrap="square"/>
                    <a:lstStyle/>
                    <a:p>
                      <a:pPr algn="ctr"/>
                      <a:r>
                        <a:rPr sz="1200" b="1">
                          <a:solidFill>
                            <a:srgbClr val="FFFFFF"/>
                          </a:solidFill>
                          <a:latin typeface="Arial"/>
                        </a:rPr>
                        <a:t>Attacks</a:t>
                      </a:r>
                    </a:p>
                  </a:txBody>
                  <a:tcPr marL="54864" marR="54864" marT="27432" marB="27432" anchor="ctr">
                    <a:solidFill>
                      <a:srgbClr val="3F4C9E"/>
                    </a:solidFill>
                  </a:tcPr>
                </a:tc>
                <a:tc>
                  <a:txBody>
                    <a:bodyPr wrap="square"/>
                    <a:lstStyle/>
                    <a:p>
                      <a:pPr algn="ctr"/>
                      <a:r>
                        <a:rPr sz="1200" b="1">
                          <a:solidFill>
                            <a:srgbClr val="FFFFFF"/>
                          </a:solidFill>
                          <a:latin typeface="Arial"/>
                        </a:rPr>
                        <a:t>Blocked</a:t>
                      </a:r>
                    </a:p>
                  </a:txBody>
                  <a:tcPr marL="54864" marR="54864" marT="27432" marB="27432" anchor="ctr">
                    <a:solidFill>
                      <a:srgbClr val="3F4C9E"/>
                    </a:solidFill>
                  </a:tcPr>
                </a:tc>
                <a:tc>
                  <a:txBody>
                    <a:bodyPr wrap="square"/>
                    <a:lstStyle/>
                    <a:p>
                      <a:pPr algn="ctr"/>
                      <a:r>
                        <a:rPr sz="1200" b="1">
                          <a:solidFill>
                            <a:srgbClr val="FFFFFF"/>
                          </a:solidFill>
                          <a:latin typeface="Arial"/>
                        </a:rPr>
                        <a:t>Contained</a:t>
                      </a:r>
                    </a:p>
                  </a:txBody>
                  <a:tcPr marL="54864" marR="54864" marT="27432" marB="27432" anchor="ctr">
                    <a:solidFill>
                      <a:srgbClr val="3F4C9E"/>
                    </a:solidFill>
                  </a:tcPr>
                </a:tc>
                <a:tc>
                  <a:txBody>
                    <a:bodyPr wrap="square"/>
                    <a:lstStyle/>
                    <a:p>
                      <a:pPr algn="ctr"/>
                      <a:r>
                        <a:rPr sz="1200" b="1">
                          <a:solidFill>
                            <a:srgbClr val="FFFFFF"/>
                          </a:solidFill>
                          <a:latin typeface="Arial"/>
                        </a:rPr>
                        <a:t>Bounded</a:t>
                      </a:r>
                    </a:p>
                  </a:txBody>
                  <a:tcPr marL="54864" marR="54864" marT="27432" marB="27432" anchor="ctr">
                    <a:solidFill>
                      <a:srgbClr val="3F4C9E"/>
                    </a:solidFill>
                  </a:tcPr>
                </a:tc>
                <a:tc>
                  <a:txBody>
                    <a:bodyPr wrap="square"/>
                    <a:lstStyle/>
                    <a:p>
                      <a:pPr algn="ctr"/>
                      <a:r>
                        <a:rPr sz="1200" b="1">
                          <a:solidFill>
                            <a:srgbClr val="FFFFFF"/>
                          </a:solidFill>
                          <a:latin typeface="Arial"/>
                        </a:rPr>
                        <a:t>Escalated</a:t>
                      </a:r>
                    </a:p>
                  </a:txBody>
                  <a:tcPr marL="54864" marR="54864" marT="27432" marB="27432" anchor="ctr">
                    <a:solidFill>
                      <a:srgbClr val="3F4C9E"/>
                    </a:solidFill>
                  </a:tcPr>
                </a:tc>
                <a:tc>
                  <a:txBody>
                    <a:bodyPr wrap="square"/>
                    <a:lstStyle/>
                    <a:p>
                      <a:pPr algn="ctr"/>
                      <a:r>
                        <a:rPr sz="1200" b="1">
                          <a:solidFill>
                            <a:srgbClr val="FFFFFF"/>
                          </a:solidFill>
                          <a:latin typeface="Arial"/>
                        </a:rPr>
                        <a:t>Failed</a:t>
                      </a:r>
                    </a:p>
                  </a:txBody>
                  <a:tcPr marL="54864" marR="54864" marT="27432" marB="27432" anchor="ctr">
                    <a:solidFill>
                      <a:srgbClr val="3F4C9E"/>
                    </a:solidFill>
                  </a:tcPr>
                </a:tc>
              </a:tr>
              <a:tr h="365760">
                <a:tc>
                  <a:txBody>
                    <a:bodyPr wrap="square"/>
                    <a:lstStyle/>
                    <a:p>
                      <a:pPr algn="l"/>
                      <a:r>
                        <a:rPr sz="1600" b="0">
                          <a:solidFill>
                            <a:srgbClr val="1E2235"/>
                          </a:solidFill>
                          <a:latin typeface="Arial"/>
                        </a:rPr>
                        <a:t>Induced transfer</a:t>
                      </a:r>
                    </a:p>
                  </a:txBody>
                  <a:tcPr marL="54864" marR="54864" marT="27432" marB="27432" anchor="ctr">
                    <a:solidFill>
                      <a:srgbClr val="E8EEF9"/>
                    </a:solidFill>
                  </a:tcPr>
                </a:tc>
                <a:tc>
                  <a:txBody>
                    <a:bodyPr wrap="square"/>
                    <a:lstStyle/>
                    <a:p>
                      <a:pPr algn="ctr"/>
                      <a:r>
                        <a:rPr sz="1600" b="0">
                          <a:solidFill>
                            <a:srgbClr val="1E2235"/>
                          </a:solidFill>
                          <a:latin typeface="Arial"/>
                        </a:rPr>
                        <a:t>16</a:t>
                      </a:r>
                    </a:p>
                  </a:txBody>
                  <a:tcPr marL="54864" marR="54864" marT="27432" marB="27432" anchor="ctr">
                    <a:solidFill>
                      <a:srgbClr val="E8EEF9"/>
                    </a:solidFill>
                  </a:tcPr>
                </a:tc>
                <a:tc>
                  <a:txBody>
                    <a:bodyPr wrap="square"/>
                    <a:lstStyle/>
                    <a:p>
                      <a:pPr algn="ctr"/>
                      <a:r>
                        <a:rPr sz="1600" b="0">
                          <a:solidFill>
                            <a:srgbClr val="1E2235"/>
                          </a:solidFill>
                          <a:latin typeface="Arial"/>
                        </a:rPr>
                        <a:t>14</a:t>
                      </a:r>
                    </a:p>
                  </a:txBody>
                  <a:tcPr marL="54864" marR="54864" marT="27432" marB="27432" anchor="ctr">
                    <a:solidFill>
                      <a:srgbClr val="E8EEF9"/>
                    </a:solidFill>
                  </a:tcPr>
                </a:tc>
                <a:tc>
                  <a:txBody>
                    <a:bodyPr wrap="square"/>
                    <a:lstStyle/>
                    <a:p>
                      <a:pPr algn="ctr"/>
                      <a:r>
                        <a:rPr sz="1600" b="0">
                          <a:solidFill>
                            <a:srgbClr val="1E2235"/>
                          </a:solidFill>
                          <a:latin typeface="Arial"/>
                        </a:rPr>
                        <a:t>1</a:t>
                      </a:r>
                    </a:p>
                  </a:txBody>
                  <a:tcPr marL="54864" marR="54864" marT="27432" marB="27432" anchor="ctr">
                    <a:solidFill>
                      <a:srgbClr val="E8EEF9"/>
                    </a:solidFill>
                  </a:tcPr>
                </a:tc>
                <a:tc>
                  <a:txBody>
                    <a:bodyPr wrap="square"/>
                    <a:lstStyle/>
                    <a:p>
                      <a:pPr algn="ctr"/>
                      <a:r>
                        <a:rPr sz="1600" b="0">
                          <a:solidFill>
                            <a:srgbClr val="1E2235"/>
                          </a:solidFill>
                          <a:latin typeface="Arial"/>
                        </a:rPr>
                        <a:t>0</a:t>
                      </a:r>
                    </a:p>
                  </a:txBody>
                  <a:tcPr marL="54864" marR="54864" marT="27432" marB="27432" anchor="ctr">
                    <a:solidFill>
                      <a:srgbClr val="E8EEF9"/>
                    </a:solidFill>
                  </a:tcPr>
                </a:tc>
                <a:tc>
                  <a:txBody>
                    <a:bodyPr wrap="square"/>
                    <a:lstStyle/>
                    <a:p>
                      <a:pPr algn="ctr"/>
                      <a:r>
                        <a:rPr sz="1600" b="0">
                          <a:solidFill>
                            <a:srgbClr val="1E2235"/>
                          </a:solidFill>
                          <a:latin typeface="Arial"/>
                        </a:rPr>
                        <a:t>1</a:t>
                      </a:r>
                    </a:p>
                  </a:txBody>
                  <a:tcPr marL="54864" marR="54864" marT="27432" marB="27432" anchor="ctr">
                    <a:solidFill>
                      <a:srgbClr val="E8EEF9"/>
                    </a:solidFill>
                  </a:tcPr>
                </a:tc>
                <a:tc>
                  <a:txBody>
                    <a:bodyPr wrap="square"/>
                    <a:lstStyle/>
                    <a:p>
                      <a:pPr algn="ctr"/>
                      <a:r>
                        <a:rPr sz="1600" b="0">
                          <a:solidFill>
                            <a:srgbClr val="1E2235"/>
                          </a:solidFill>
                          <a:latin typeface="Arial"/>
                        </a:rPr>
                        <a:t>0</a:t>
                      </a:r>
                    </a:p>
                  </a:txBody>
                  <a:tcPr marL="54864" marR="54864" marT="27432" marB="27432" anchor="ctr">
                    <a:solidFill>
                      <a:srgbClr val="E8EEF9"/>
                    </a:solidFill>
                  </a:tcPr>
                </a:tc>
              </a:tr>
              <a:tr h="365760">
                <a:tc>
                  <a:txBody>
                    <a:bodyPr wrap="square"/>
                    <a:lstStyle/>
                    <a:p>
                      <a:pPr algn="l"/>
                      <a:r>
                        <a:rPr sz="1600" b="0">
                          <a:solidFill>
                            <a:srgbClr val="1E2235"/>
                          </a:solidFill>
                          <a:latin typeface="Arial"/>
                        </a:rPr>
                        <a:t>Data extraction</a:t>
                      </a:r>
                    </a:p>
                  </a:txBody>
                  <a:tcPr marL="54864" marR="54864" marT="27432" marB="27432" anchor="ctr">
                    <a:solidFill>
                      <a:srgbClr val="E8EEF9"/>
                    </a:solidFill>
                  </a:tcPr>
                </a:tc>
                <a:tc>
                  <a:txBody>
                    <a:bodyPr wrap="square"/>
                    <a:lstStyle/>
                    <a:p>
                      <a:pPr algn="ctr"/>
                      <a:r>
                        <a:rPr sz="1600" b="0">
                          <a:solidFill>
                            <a:srgbClr val="1E2235"/>
                          </a:solidFill>
                          <a:latin typeface="Arial"/>
                        </a:rPr>
                        <a:t>5</a:t>
                      </a:r>
                    </a:p>
                  </a:txBody>
                  <a:tcPr marL="54864" marR="54864" marT="27432" marB="27432" anchor="ctr">
                    <a:solidFill>
                      <a:srgbClr val="E8EEF9"/>
                    </a:solidFill>
                  </a:tcPr>
                </a:tc>
                <a:tc>
                  <a:txBody>
                    <a:bodyPr wrap="square"/>
                    <a:lstStyle/>
                    <a:p>
                      <a:pPr algn="ctr"/>
                      <a:r>
                        <a:rPr sz="1600" b="0">
                          <a:solidFill>
                            <a:srgbClr val="1E2235"/>
                          </a:solidFill>
                          <a:latin typeface="Arial"/>
                        </a:rPr>
                        <a:t>4</a:t>
                      </a:r>
                    </a:p>
                  </a:txBody>
                  <a:tcPr marL="54864" marR="54864" marT="27432" marB="27432" anchor="ctr">
                    <a:solidFill>
                      <a:srgbClr val="E8EEF9"/>
                    </a:solidFill>
                  </a:tcPr>
                </a:tc>
                <a:tc>
                  <a:txBody>
                    <a:bodyPr wrap="square"/>
                    <a:lstStyle/>
                    <a:p>
                      <a:pPr algn="ctr"/>
                      <a:r>
                        <a:rPr sz="1600" b="0">
                          <a:solidFill>
                            <a:srgbClr val="1E2235"/>
                          </a:solidFill>
                          <a:latin typeface="Arial"/>
                        </a:rPr>
                        <a:t>1</a:t>
                      </a:r>
                    </a:p>
                  </a:txBody>
                  <a:tcPr marL="54864" marR="54864" marT="27432" marB="27432" anchor="ctr">
                    <a:solidFill>
                      <a:srgbClr val="E8EEF9"/>
                    </a:solidFill>
                  </a:tcPr>
                </a:tc>
                <a:tc>
                  <a:txBody>
                    <a:bodyPr wrap="square"/>
                    <a:lstStyle/>
                    <a:p>
                      <a:pPr algn="ctr"/>
                      <a:r>
                        <a:rPr sz="1600" b="0">
                          <a:solidFill>
                            <a:srgbClr val="1E2235"/>
                          </a:solidFill>
                          <a:latin typeface="Arial"/>
                        </a:rPr>
                        <a:t>0</a:t>
                      </a:r>
                    </a:p>
                  </a:txBody>
                  <a:tcPr marL="54864" marR="54864" marT="27432" marB="27432" anchor="ctr">
                    <a:solidFill>
                      <a:srgbClr val="E8EEF9"/>
                    </a:solidFill>
                  </a:tcPr>
                </a:tc>
                <a:tc>
                  <a:txBody>
                    <a:bodyPr wrap="square"/>
                    <a:lstStyle/>
                    <a:p>
                      <a:pPr algn="ctr"/>
                      <a:r>
                        <a:rPr sz="1600" b="0">
                          <a:solidFill>
                            <a:srgbClr val="1E2235"/>
                          </a:solidFill>
                          <a:latin typeface="Arial"/>
                        </a:rPr>
                        <a:t>0</a:t>
                      </a:r>
                    </a:p>
                  </a:txBody>
                  <a:tcPr marL="54864" marR="54864" marT="27432" marB="27432" anchor="ctr">
                    <a:solidFill>
                      <a:srgbClr val="E8EEF9"/>
                    </a:solidFill>
                  </a:tcPr>
                </a:tc>
                <a:tc>
                  <a:txBody>
                    <a:bodyPr wrap="square"/>
                    <a:lstStyle/>
                    <a:p>
                      <a:pPr algn="ctr"/>
                      <a:r>
                        <a:rPr sz="1600" b="0">
                          <a:solidFill>
                            <a:srgbClr val="1E2235"/>
                          </a:solidFill>
                          <a:latin typeface="Arial"/>
                        </a:rPr>
                        <a:t>0</a:t>
                      </a:r>
                    </a:p>
                  </a:txBody>
                  <a:tcPr marL="54864" marR="54864" marT="27432" marB="27432" anchor="ctr">
                    <a:solidFill>
                      <a:srgbClr val="E8EEF9"/>
                    </a:solidFill>
                  </a:tcPr>
                </a:tc>
              </a:tr>
              <a:tr h="365760">
                <a:tc>
                  <a:txBody>
                    <a:bodyPr wrap="square"/>
                    <a:lstStyle/>
                    <a:p>
                      <a:pPr algn="l"/>
                      <a:r>
                        <a:rPr sz="1600" b="0">
                          <a:solidFill>
                            <a:srgbClr val="1E2235"/>
                          </a:solidFill>
                          <a:latin typeface="Arial"/>
                        </a:rPr>
                        <a:t>Privilege escalation</a:t>
                      </a:r>
                    </a:p>
                  </a:txBody>
                  <a:tcPr marL="54864" marR="54864" marT="27432" marB="27432" anchor="ctr">
                    <a:solidFill>
                      <a:srgbClr val="E8EEF9"/>
                    </a:solidFill>
                  </a:tcPr>
                </a:tc>
                <a:tc>
                  <a:txBody>
                    <a:bodyPr wrap="square"/>
                    <a:lstStyle/>
                    <a:p>
                      <a:pPr algn="ctr"/>
                      <a:r>
                        <a:rPr sz="1600" b="0">
                          <a:solidFill>
                            <a:srgbClr val="1E2235"/>
                          </a:solidFill>
                          <a:latin typeface="Arial"/>
                        </a:rPr>
                        <a:t>10</a:t>
                      </a:r>
                    </a:p>
                  </a:txBody>
                  <a:tcPr marL="54864" marR="54864" marT="27432" marB="27432" anchor="ctr">
                    <a:solidFill>
                      <a:srgbClr val="E8EEF9"/>
                    </a:solidFill>
                  </a:tcPr>
                </a:tc>
                <a:tc>
                  <a:txBody>
                    <a:bodyPr wrap="square"/>
                    <a:lstStyle/>
                    <a:p>
                      <a:pPr algn="ctr"/>
                      <a:r>
                        <a:rPr sz="1600" b="0">
                          <a:solidFill>
                            <a:srgbClr val="1E2235"/>
                          </a:solidFill>
                          <a:latin typeface="Arial"/>
                        </a:rPr>
                        <a:t>8</a:t>
                      </a:r>
                    </a:p>
                  </a:txBody>
                  <a:tcPr marL="54864" marR="54864" marT="27432" marB="27432" anchor="ctr">
                    <a:solidFill>
                      <a:srgbClr val="E8EEF9"/>
                    </a:solidFill>
                  </a:tcPr>
                </a:tc>
                <a:tc>
                  <a:txBody>
                    <a:bodyPr wrap="square"/>
                    <a:lstStyle/>
                    <a:p>
                      <a:pPr algn="ctr"/>
                      <a:r>
                        <a:rPr sz="1600" b="0">
                          <a:solidFill>
                            <a:srgbClr val="1E2235"/>
                          </a:solidFill>
                          <a:latin typeface="Arial"/>
                        </a:rPr>
                        <a:t>2</a:t>
                      </a:r>
                    </a:p>
                  </a:txBody>
                  <a:tcPr marL="54864" marR="54864" marT="27432" marB="27432" anchor="ctr">
                    <a:solidFill>
                      <a:srgbClr val="E8EEF9"/>
                    </a:solidFill>
                  </a:tcPr>
                </a:tc>
                <a:tc>
                  <a:txBody>
                    <a:bodyPr wrap="square"/>
                    <a:lstStyle/>
                    <a:p>
                      <a:pPr algn="ctr"/>
                      <a:r>
                        <a:rPr sz="1600" b="0">
                          <a:solidFill>
                            <a:srgbClr val="1E2235"/>
                          </a:solidFill>
                          <a:latin typeface="Arial"/>
                        </a:rPr>
                        <a:t>0</a:t>
                      </a:r>
                    </a:p>
                  </a:txBody>
                  <a:tcPr marL="54864" marR="54864" marT="27432" marB="27432" anchor="ctr">
                    <a:solidFill>
                      <a:srgbClr val="E8EEF9"/>
                    </a:solidFill>
                  </a:tcPr>
                </a:tc>
                <a:tc>
                  <a:txBody>
                    <a:bodyPr wrap="square"/>
                    <a:lstStyle/>
                    <a:p>
                      <a:pPr algn="ctr"/>
                      <a:r>
                        <a:rPr sz="1600" b="0">
                          <a:solidFill>
                            <a:srgbClr val="1E2235"/>
                          </a:solidFill>
                          <a:latin typeface="Arial"/>
                        </a:rPr>
                        <a:t>0</a:t>
                      </a:r>
                    </a:p>
                  </a:txBody>
                  <a:tcPr marL="54864" marR="54864" marT="27432" marB="27432" anchor="ctr">
                    <a:solidFill>
                      <a:srgbClr val="E8EEF9"/>
                    </a:solidFill>
                  </a:tcPr>
                </a:tc>
                <a:tc>
                  <a:txBody>
                    <a:bodyPr wrap="square"/>
                    <a:lstStyle/>
                    <a:p>
                      <a:pPr algn="ctr"/>
                      <a:r>
                        <a:rPr sz="1600" b="0">
                          <a:solidFill>
                            <a:srgbClr val="1E2235"/>
                          </a:solidFill>
                          <a:latin typeface="Arial"/>
                        </a:rPr>
                        <a:t>0</a:t>
                      </a:r>
                    </a:p>
                  </a:txBody>
                  <a:tcPr marL="54864" marR="54864" marT="27432" marB="27432" anchor="ctr">
                    <a:solidFill>
                      <a:srgbClr val="E8EEF9"/>
                    </a:solidFill>
                  </a:tcPr>
                </a:tc>
              </a:tr>
              <a:tr h="365760">
                <a:tc>
                  <a:txBody>
                    <a:bodyPr wrap="square"/>
                    <a:lstStyle/>
                    <a:p>
                      <a:pPr algn="l"/>
                      <a:r>
                        <a:rPr sz="1600" b="0">
                          <a:solidFill>
                            <a:srgbClr val="1E2235"/>
                          </a:solidFill>
                          <a:latin typeface="Arial"/>
                        </a:rPr>
                        <a:t>Prompt injection</a:t>
                      </a:r>
                    </a:p>
                  </a:txBody>
                  <a:tcPr marL="54864" marR="54864" marT="27432" marB="27432" anchor="ctr">
                    <a:solidFill>
                      <a:srgbClr val="E8EEF9"/>
                    </a:solidFill>
                  </a:tcPr>
                </a:tc>
                <a:tc>
                  <a:txBody>
                    <a:bodyPr wrap="square"/>
                    <a:lstStyle/>
                    <a:p>
                      <a:pPr algn="ctr"/>
                      <a:r>
                        <a:rPr sz="1600" b="0">
                          <a:solidFill>
                            <a:srgbClr val="1E2235"/>
                          </a:solidFill>
                          <a:latin typeface="Arial"/>
                        </a:rPr>
                        <a:t>10</a:t>
                      </a:r>
                    </a:p>
                  </a:txBody>
                  <a:tcPr marL="54864" marR="54864" marT="27432" marB="27432" anchor="ctr">
                    <a:solidFill>
                      <a:srgbClr val="E8EEF9"/>
                    </a:solidFill>
                  </a:tcPr>
                </a:tc>
                <a:tc>
                  <a:txBody>
                    <a:bodyPr wrap="square"/>
                    <a:lstStyle/>
                    <a:p>
                      <a:pPr algn="ctr"/>
                      <a:r>
                        <a:rPr sz="1600" b="0">
                          <a:solidFill>
                            <a:srgbClr val="1E2235"/>
                          </a:solidFill>
                          <a:latin typeface="Arial"/>
                        </a:rPr>
                        <a:t>9</a:t>
                      </a:r>
                    </a:p>
                  </a:txBody>
                  <a:tcPr marL="54864" marR="54864" marT="27432" marB="27432" anchor="ctr">
                    <a:solidFill>
                      <a:srgbClr val="E8EEF9"/>
                    </a:solidFill>
                  </a:tcPr>
                </a:tc>
                <a:tc>
                  <a:txBody>
                    <a:bodyPr wrap="square"/>
                    <a:lstStyle/>
                    <a:p>
                      <a:pPr algn="ctr"/>
                      <a:r>
                        <a:rPr sz="1600" b="0">
                          <a:solidFill>
                            <a:srgbClr val="1E2235"/>
                          </a:solidFill>
                          <a:latin typeface="Arial"/>
                        </a:rPr>
                        <a:t>0</a:t>
                      </a:r>
                    </a:p>
                  </a:txBody>
                  <a:tcPr marL="54864" marR="54864" marT="27432" marB="27432" anchor="ctr">
                    <a:solidFill>
                      <a:srgbClr val="E8EEF9"/>
                    </a:solidFill>
                  </a:tcPr>
                </a:tc>
                <a:tc>
                  <a:txBody>
                    <a:bodyPr wrap="square"/>
                    <a:lstStyle/>
                    <a:p>
                      <a:pPr algn="ctr"/>
                      <a:r>
                        <a:rPr sz="1600" b="0">
                          <a:solidFill>
                            <a:srgbClr val="1E2235"/>
                          </a:solidFill>
                          <a:latin typeface="Arial"/>
                        </a:rPr>
                        <a:t>0</a:t>
                      </a:r>
                    </a:p>
                  </a:txBody>
                  <a:tcPr marL="54864" marR="54864" marT="27432" marB="27432" anchor="ctr">
                    <a:solidFill>
                      <a:srgbClr val="E8EEF9"/>
                    </a:solidFill>
                  </a:tcPr>
                </a:tc>
                <a:tc>
                  <a:txBody>
                    <a:bodyPr wrap="square"/>
                    <a:lstStyle/>
                    <a:p>
                      <a:pPr algn="ctr"/>
                      <a:r>
                        <a:rPr sz="1600" b="0">
                          <a:solidFill>
                            <a:srgbClr val="1E2235"/>
                          </a:solidFill>
                          <a:latin typeface="Arial"/>
                        </a:rPr>
                        <a:t>1</a:t>
                      </a:r>
                    </a:p>
                  </a:txBody>
                  <a:tcPr marL="54864" marR="54864" marT="27432" marB="27432" anchor="ctr">
                    <a:solidFill>
                      <a:srgbClr val="E8EEF9"/>
                    </a:solidFill>
                  </a:tcPr>
                </a:tc>
                <a:tc>
                  <a:txBody>
                    <a:bodyPr wrap="square"/>
                    <a:lstStyle/>
                    <a:p>
                      <a:pPr algn="ctr"/>
                      <a:r>
                        <a:rPr sz="1600" b="0">
                          <a:solidFill>
                            <a:srgbClr val="1E2235"/>
                          </a:solidFill>
                          <a:latin typeface="Arial"/>
                        </a:rPr>
                        <a:t>0</a:t>
                      </a:r>
                    </a:p>
                  </a:txBody>
                  <a:tcPr marL="54864" marR="54864" marT="27432" marB="27432" anchor="ctr">
                    <a:solidFill>
                      <a:srgbClr val="E8EEF9"/>
                    </a:solidFill>
                  </a:tcPr>
                </a:tc>
              </a:tr>
              <a:tr h="365760">
                <a:tc>
                  <a:txBody>
                    <a:bodyPr wrap="square"/>
                    <a:lstStyle/>
                    <a:p>
                      <a:pPr algn="l"/>
                      <a:r>
                        <a:rPr sz="1600" b="0">
                          <a:solidFill>
                            <a:srgbClr val="1E2235"/>
                          </a:solidFill>
                          <a:latin typeface="Arial"/>
                        </a:rPr>
                        <a:t>Attacks on the bureau</a:t>
                      </a:r>
                    </a:p>
                  </a:txBody>
                  <a:tcPr marL="54864" marR="54864" marT="27432" marB="27432" anchor="ctr">
                    <a:solidFill>
                      <a:srgbClr val="FFFFFF"/>
                    </a:solidFill>
                  </a:tcPr>
                </a:tc>
                <a:tc>
                  <a:txBody>
                    <a:bodyPr wrap="square"/>
                    <a:lstStyle/>
                    <a:p>
                      <a:pPr algn="ctr"/>
                      <a:r>
                        <a:rPr sz="1600" b="0">
                          <a:solidFill>
                            <a:srgbClr val="1E2235"/>
                          </a:solidFill>
                          <a:latin typeface="Arial"/>
                        </a:rPr>
                        <a:t>14</a:t>
                      </a:r>
                    </a:p>
                  </a:txBody>
                  <a:tcPr marL="54864" marR="54864" marT="27432" marB="27432" anchor="ctr">
                    <a:solidFill>
                      <a:srgbClr val="FFFFFF"/>
                    </a:solidFill>
                  </a:tcPr>
                </a:tc>
                <a:tc>
                  <a:txBody>
                    <a:bodyPr wrap="square"/>
                    <a:lstStyle/>
                    <a:p>
                      <a:pPr algn="ctr"/>
                      <a:r>
                        <a:rPr sz="1600" b="0">
                          <a:solidFill>
                            <a:srgbClr val="1E2235"/>
                          </a:solidFill>
                          <a:latin typeface="Arial"/>
                        </a:rPr>
                        <a:t>12</a:t>
                      </a:r>
                    </a:p>
                  </a:txBody>
                  <a:tcPr marL="54864" marR="54864" marT="27432" marB="27432" anchor="ctr">
                    <a:solidFill>
                      <a:srgbClr val="FFFFFF"/>
                    </a:solidFill>
                  </a:tcPr>
                </a:tc>
                <a:tc>
                  <a:txBody>
                    <a:bodyPr wrap="square"/>
                    <a:lstStyle/>
                    <a:p>
                      <a:pPr algn="ctr"/>
                      <a:r>
                        <a:rPr sz="1600" b="0">
                          <a:solidFill>
                            <a:srgbClr val="1E2235"/>
                          </a:solidFill>
                          <a:latin typeface="Arial"/>
                        </a:rPr>
                        <a:t>0</a:t>
                      </a:r>
                    </a:p>
                  </a:txBody>
                  <a:tcPr marL="54864" marR="54864" marT="27432" marB="27432" anchor="ctr">
                    <a:solidFill>
                      <a:srgbClr val="FFFFFF"/>
                    </a:solidFill>
                  </a:tcPr>
                </a:tc>
                <a:tc>
                  <a:txBody>
                    <a:bodyPr wrap="square"/>
                    <a:lstStyle/>
                    <a:p>
                      <a:pPr algn="ctr"/>
                      <a:r>
                        <a:rPr sz="1600" b="0">
                          <a:solidFill>
                            <a:srgbClr val="1E2235"/>
                          </a:solidFill>
                          <a:latin typeface="Arial"/>
                        </a:rPr>
                        <a:t>2</a:t>
                      </a:r>
                    </a:p>
                  </a:txBody>
                  <a:tcPr marL="54864" marR="54864" marT="27432" marB="27432" anchor="ctr">
                    <a:solidFill>
                      <a:srgbClr val="FFFFFF"/>
                    </a:solidFill>
                  </a:tcPr>
                </a:tc>
                <a:tc>
                  <a:txBody>
                    <a:bodyPr wrap="square"/>
                    <a:lstStyle/>
                    <a:p>
                      <a:pPr algn="ctr"/>
                      <a:r>
                        <a:rPr sz="1600" b="0">
                          <a:solidFill>
                            <a:srgbClr val="1E2235"/>
                          </a:solidFill>
                          <a:latin typeface="Arial"/>
                        </a:rPr>
                        <a:t>0</a:t>
                      </a:r>
                    </a:p>
                  </a:txBody>
                  <a:tcPr marL="54864" marR="54864" marT="27432" marB="27432" anchor="ctr">
                    <a:solidFill>
                      <a:srgbClr val="FFFFFF"/>
                    </a:solidFill>
                  </a:tcPr>
                </a:tc>
                <a:tc>
                  <a:txBody>
                    <a:bodyPr wrap="square"/>
                    <a:lstStyle/>
                    <a:p>
                      <a:pPr algn="ctr"/>
                      <a:r>
                        <a:rPr sz="1600" b="0">
                          <a:solidFill>
                            <a:srgbClr val="1E2235"/>
                          </a:solidFill>
                          <a:latin typeface="Arial"/>
                        </a:rPr>
                        <a:t>0</a:t>
                      </a:r>
                    </a:p>
                  </a:txBody>
                  <a:tcPr marL="54864" marR="54864" marT="27432" marB="27432" anchor="ctr">
                    <a:solidFill>
                      <a:srgbClr val="FFFFFF"/>
                    </a:solidFill>
                  </a:tcPr>
                </a:tc>
              </a:tr>
              <a:tr h="365760">
                <a:tc>
                  <a:txBody>
                    <a:bodyPr wrap="square"/>
                    <a:lstStyle/>
                    <a:p>
                      <a:pPr algn="l"/>
                      <a:r>
                        <a:rPr sz="1600" b="0">
                          <a:solidFill>
                            <a:srgbClr val="1E2235"/>
                          </a:solidFill>
                          <a:latin typeface="Arial"/>
                        </a:rPr>
                        <a:t>Other (limits, failure recovery, gas, registry)</a:t>
                      </a:r>
                    </a:p>
                  </a:txBody>
                  <a:tcPr marL="54864" marR="54864" marT="27432" marB="27432" anchor="ctr">
                    <a:solidFill>
                      <a:srgbClr val="F7F8FC"/>
                    </a:solidFill>
                  </a:tcPr>
                </a:tc>
                <a:tc>
                  <a:txBody>
                    <a:bodyPr wrap="square"/>
                    <a:lstStyle/>
                    <a:p>
                      <a:pPr algn="ctr"/>
                      <a:r>
                        <a:rPr sz="1600" b="0">
                          <a:solidFill>
                            <a:srgbClr val="1E2235"/>
                          </a:solidFill>
                          <a:latin typeface="Arial"/>
                        </a:rPr>
                        <a:t>8</a:t>
                      </a:r>
                    </a:p>
                  </a:txBody>
                  <a:tcPr marL="54864" marR="54864" marT="27432" marB="27432" anchor="ctr">
                    <a:solidFill>
                      <a:srgbClr val="F7F8FC"/>
                    </a:solidFill>
                  </a:tcPr>
                </a:tc>
                <a:tc>
                  <a:txBody>
                    <a:bodyPr wrap="square"/>
                    <a:lstStyle/>
                    <a:p>
                      <a:pPr algn="ctr"/>
                      <a:r>
                        <a:rPr sz="1600" b="0">
                          <a:solidFill>
                            <a:srgbClr val="1E2235"/>
                          </a:solidFill>
                          <a:latin typeface="Arial"/>
                        </a:rPr>
                        <a:t>7</a:t>
                      </a:r>
                    </a:p>
                  </a:txBody>
                  <a:tcPr marL="54864" marR="54864" marT="27432" marB="27432" anchor="ctr">
                    <a:solidFill>
                      <a:srgbClr val="F7F8FC"/>
                    </a:solidFill>
                  </a:tcPr>
                </a:tc>
                <a:tc>
                  <a:txBody>
                    <a:bodyPr wrap="square"/>
                    <a:lstStyle/>
                    <a:p>
                      <a:pPr algn="ctr"/>
                      <a:r>
                        <a:rPr sz="1600" b="0">
                          <a:solidFill>
                            <a:srgbClr val="1E2235"/>
                          </a:solidFill>
                          <a:latin typeface="Arial"/>
                        </a:rPr>
                        <a:t>0</a:t>
                      </a:r>
                    </a:p>
                  </a:txBody>
                  <a:tcPr marL="54864" marR="54864" marT="27432" marB="27432" anchor="ctr">
                    <a:solidFill>
                      <a:srgbClr val="F7F8FC"/>
                    </a:solidFill>
                  </a:tcPr>
                </a:tc>
                <a:tc>
                  <a:txBody>
                    <a:bodyPr wrap="square"/>
                    <a:lstStyle/>
                    <a:p>
                      <a:pPr algn="ctr"/>
                      <a:r>
                        <a:rPr sz="1600" b="0">
                          <a:solidFill>
                            <a:srgbClr val="1E2235"/>
                          </a:solidFill>
                          <a:latin typeface="Arial"/>
                        </a:rPr>
                        <a:t>0</a:t>
                      </a:r>
                    </a:p>
                  </a:txBody>
                  <a:tcPr marL="54864" marR="54864" marT="27432" marB="27432" anchor="ctr">
                    <a:solidFill>
                      <a:srgbClr val="F7F8FC"/>
                    </a:solidFill>
                  </a:tcPr>
                </a:tc>
                <a:tc>
                  <a:txBody>
                    <a:bodyPr wrap="square"/>
                    <a:lstStyle/>
                    <a:p>
                      <a:pPr algn="ctr"/>
                      <a:r>
                        <a:rPr sz="1600" b="0">
                          <a:solidFill>
                            <a:srgbClr val="1E2235"/>
                          </a:solidFill>
                          <a:latin typeface="Arial"/>
                        </a:rPr>
                        <a:t>1</a:t>
                      </a:r>
                    </a:p>
                  </a:txBody>
                  <a:tcPr marL="54864" marR="54864" marT="27432" marB="27432" anchor="ctr">
                    <a:solidFill>
                      <a:srgbClr val="F7F8FC"/>
                    </a:solidFill>
                  </a:tcPr>
                </a:tc>
                <a:tc>
                  <a:txBody>
                    <a:bodyPr wrap="square"/>
                    <a:lstStyle/>
                    <a:p>
                      <a:pPr algn="ctr"/>
                      <a:r>
                        <a:rPr sz="1600" b="0">
                          <a:solidFill>
                            <a:srgbClr val="1E2235"/>
                          </a:solidFill>
                          <a:latin typeface="Arial"/>
                        </a:rPr>
                        <a:t>0</a:t>
                      </a:r>
                    </a:p>
                  </a:txBody>
                  <a:tcPr marL="54864" marR="54864" marT="27432" marB="27432" anchor="ctr">
                    <a:solidFill>
                      <a:srgbClr val="F7F8FC"/>
                    </a:solidFill>
                  </a:tcPr>
                </a:tc>
              </a:tr>
              <a:tr h="365760">
                <a:tc>
                  <a:txBody>
                    <a:bodyPr wrap="square"/>
                    <a:lstStyle/>
                    <a:p>
                      <a:pPr algn="l"/>
                      <a:r>
                        <a:rPr sz="1600" b="1">
                          <a:solidFill>
                            <a:srgbClr val="1E2235"/>
                          </a:solidFill>
                          <a:latin typeface="Arial"/>
                        </a:rPr>
                        <a:t>Total</a:t>
                      </a:r>
                    </a:p>
                  </a:txBody>
                  <a:tcPr marL="54864" marR="54864" marT="27432" marB="27432" anchor="ctr">
                    <a:solidFill>
                      <a:srgbClr val="FFFFFF"/>
                    </a:solidFill>
                  </a:tcPr>
                </a:tc>
                <a:tc>
                  <a:txBody>
                    <a:bodyPr wrap="square"/>
                    <a:lstStyle/>
                    <a:p>
                      <a:pPr algn="ctr"/>
                      <a:r>
                        <a:rPr sz="1600" b="1">
                          <a:solidFill>
                            <a:srgbClr val="1E2235"/>
                          </a:solidFill>
                          <a:latin typeface="Arial"/>
                        </a:rPr>
                        <a:t>63</a:t>
                      </a:r>
                    </a:p>
                  </a:txBody>
                  <a:tcPr marL="54864" marR="54864" marT="27432" marB="27432" anchor="ctr">
                    <a:solidFill>
                      <a:srgbClr val="FFFFFF"/>
                    </a:solidFill>
                  </a:tcPr>
                </a:tc>
                <a:tc>
                  <a:txBody>
                    <a:bodyPr wrap="square"/>
                    <a:lstStyle/>
                    <a:p>
                      <a:pPr algn="ctr"/>
                      <a:r>
                        <a:rPr sz="1600" b="1">
                          <a:solidFill>
                            <a:srgbClr val="1E2235"/>
                          </a:solidFill>
                          <a:latin typeface="Arial"/>
                        </a:rPr>
                        <a:t>54</a:t>
                      </a:r>
                    </a:p>
                  </a:txBody>
                  <a:tcPr marL="54864" marR="54864" marT="27432" marB="27432" anchor="ctr">
                    <a:solidFill>
                      <a:srgbClr val="FFFFFF"/>
                    </a:solidFill>
                  </a:tcPr>
                </a:tc>
                <a:tc>
                  <a:txBody>
                    <a:bodyPr wrap="square"/>
                    <a:lstStyle/>
                    <a:p>
                      <a:pPr algn="ctr"/>
                      <a:r>
                        <a:rPr sz="1600" b="1">
                          <a:solidFill>
                            <a:srgbClr val="1E2235"/>
                          </a:solidFill>
                          <a:latin typeface="Arial"/>
                        </a:rPr>
                        <a:t>4</a:t>
                      </a:r>
                    </a:p>
                  </a:txBody>
                  <a:tcPr marL="54864" marR="54864" marT="27432" marB="27432" anchor="ctr">
                    <a:solidFill>
                      <a:srgbClr val="FFFFFF"/>
                    </a:solidFill>
                  </a:tcPr>
                </a:tc>
                <a:tc>
                  <a:txBody>
                    <a:bodyPr wrap="square"/>
                    <a:lstStyle/>
                    <a:p>
                      <a:pPr algn="ctr"/>
                      <a:r>
                        <a:rPr sz="1600" b="1">
                          <a:solidFill>
                            <a:srgbClr val="1E2235"/>
                          </a:solidFill>
                          <a:latin typeface="Arial"/>
                        </a:rPr>
                        <a:t>2</a:t>
                      </a:r>
                    </a:p>
                  </a:txBody>
                  <a:tcPr marL="54864" marR="54864" marT="27432" marB="27432" anchor="ctr">
                    <a:solidFill>
                      <a:srgbClr val="FFFFFF"/>
                    </a:solidFill>
                  </a:tcPr>
                </a:tc>
                <a:tc>
                  <a:txBody>
                    <a:bodyPr wrap="square"/>
                    <a:lstStyle/>
                    <a:p>
                      <a:pPr algn="ctr"/>
                      <a:r>
                        <a:rPr sz="1600" b="1">
                          <a:solidFill>
                            <a:srgbClr val="1E2235"/>
                          </a:solidFill>
                          <a:latin typeface="Arial"/>
                        </a:rPr>
                        <a:t>3</a:t>
                      </a:r>
                    </a:p>
                  </a:txBody>
                  <a:tcPr marL="54864" marR="54864" marT="27432" marB="27432" anchor="ctr">
                    <a:solidFill>
                      <a:srgbClr val="FFFFFF"/>
                    </a:solidFill>
                  </a:tcPr>
                </a:tc>
                <a:tc>
                  <a:txBody>
                    <a:bodyPr wrap="square"/>
                    <a:lstStyle/>
                    <a:p>
                      <a:pPr algn="ctr"/>
                      <a:r>
                        <a:rPr sz="1600" b="1">
                          <a:solidFill>
                            <a:srgbClr val="1E2235"/>
                          </a:solidFill>
                          <a:latin typeface="Arial"/>
                        </a:rPr>
                        <a:t>0</a:t>
                      </a:r>
                    </a:p>
                  </a:txBody>
                  <a:tcPr marL="54864" marR="54864" marT="27432" marB="27432" anchor="ctr">
                    <a:solidFill>
                      <a:srgbClr val="FFFFFF"/>
                    </a:solidFill>
                  </a:tcPr>
                </a:tc>
              </a:tr>
            </a:tbl>
          </a:graphicData>
        </a:graphic>
      </p:graphicFrame>
      <p:sp>
        <p:nvSpPr>
          <p:cNvPr id="4" name="TextBox 3"/>
          <p:cNvSpPr txBox="1"/>
          <p:nvPr/>
        </p:nvSpPr>
        <p:spPr>
          <a:xfrm>
            <a:off x="457200" y="4553712"/>
            <a:ext cx="7680960" cy="1700784"/>
          </a:xfrm>
          <a:prstGeom prst="rect">
            <a:avLst/>
          </a:prstGeom>
          <a:noFill/>
        </p:spPr>
        <p:txBody>
          <a:bodyPr wrap="square" lIns="73152" rIns="73152" tIns="36576" bIns="36576" anchor="t">
            <a:noAutofit/>
          </a:bodyPr>
          <a:lstStyle/>
          <a:p>
            <a:pPr algn="l" marL="256032" indent="-256032">
              <a:lnSpc>
                <a:spcPct val="100000"/>
              </a:lnSpc>
              <a:spcAft>
                <a:spcPts val="400"/>
              </a:spcAft>
              <a:buClr>
                <a:srgbClr val="6779C6"/>
              </a:buClr>
              <a:buFont typeface="Arial"/>
              <a:buChar char="•"/>
            </a:pPr>
            <a:r>
              <a:rPr sz="1700" b="0">
                <a:solidFill>
                  <a:srgbClr val="1E2235"/>
                </a:solidFill>
                <a:latin typeface="Arial"/>
              </a:rPr>
              <a:t>63 scripted attacks, classified from observed effects</a:t>
            </a:r>
          </a:p>
          <a:p>
            <a:pPr algn="l" marL="256032" indent="-256032">
              <a:lnSpc>
                <a:spcPct val="100000"/>
              </a:lnSpc>
              <a:spcAft>
                <a:spcPts val="400"/>
              </a:spcAft>
              <a:buClr>
                <a:srgbClr val="6779C6"/>
              </a:buClr>
              <a:buFont typeface="Arial"/>
              <a:buChar char="•"/>
            </a:pPr>
            <a:r>
              <a:rPr sz="1700" b="0">
                <a:solidFill>
                  <a:srgbClr val="1E2235"/>
                </a:solidFill>
                <a:latin typeface="Arial"/>
              </a:rPr>
              <a:t>Failed (goal reached): 0 (none); USDC lost: 0.00</a:t>
            </a:r>
          </a:p>
          <a:p>
            <a:pPr algn="l" marL="256032" indent="-256032">
              <a:lnSpc>
                <a:spcPct val="100000"/>
              </a:lnSpc>
              <a:spcAft>
                <a:spcPts val="0"/>
              </a:spcAft>
              <a:buClr>
                <a:srgbClr val="6779C6"/>
              </a:buClr>
              <a:buFont typeface="Arial"/>
              <a:buChar char="•"/>
            </a:pPr>
            <a:r>
              <a:rPr sz="1700" b="0">
                <a:solidFill>
                  <a:srgbClr val="1E2235"/>
                </a:solidFill>
                <a:latin typeface="Arial"/>
              </a:rPr>
              <a:t>Contained: breaker froze wallet. Bounded: within a stated limit. Escalated: owner approval</a:t>
            </a:r>
          </a:p>
        </p:txBody>
      </p:sp>
      <p:sp>
        <p:nvSpPr>
          <p:cNvPr id="5" name="Rounded Rectangle 4"/>
          <p:cNvSpPr/>
          <p:nvPr/>
        </p:nvSpPr>
        <p:spPr>
          <a:xfrm>
            <a:off x="8366760" y="1261872"/>
            <a:ext cx="3291840" cy="214884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36576" bIns="36576">
            <a:noAutofit/>
          </a:bodyPr>
          <a:lstStyle/>
          <a:p>
            <a:pPr algn="l">
              <a:lnSpc>
                <a:spcPct val="100000"/>
              </a:lnSpc>
              <a:spcAft>
                <a:spcPts val="400"/>
              </a:spcAft>
            </a:pPr>
            <a:r>
              <a:rPr sz="1700" b="1">
                <a:solidFill>
                  <a:srgbClr val="3F4C9E"/>
                </a:solidFill>
                <a:latin typeface="Arial"/>
              </a:rPr>
              <a:t>Compliance</a:t>
            </a:r>
          </a:p>
          <a:p>
            <a:pPr algn="l" marL="256032" indent="-256032">
              <a:lnSpc>
                <a:spcPct val="100000"/>
              </a:lnSpc>
              <a:spcAft>
                <a:spcPts val="400"/>
              </a:spcAft>
              <a:buClr>
                <a:srgbClr val="6779C6"/>
              </a:buClr>
              <a:buFont typeface="Arial"/>
              <a:buChar char="•"/>
            </a:pPr>
            <a:r>
              <a:rPr sz="1500" b="0">
                <a:solidFill>
                  <a:srgbClr val="1E2235"/>
                </a:solidFill>
                <a:latin typeface="Arial"/>
              </a:rPr>
              <a:t>No personal data on-chain, only agent ids, amounts, reason codes, hashes</a:t>
            </a:r>
          </a:p>
          <a:p>
            <a:pPr algn="l" marL="256032" indent="-256032">
              <a:lnSpc>
                <a:spcPct val="100000"/>
              </a:lnSpc>
              <a:spcAft>
                <a:spcPts val="0"/>
              </a:spcAft>
              <a:buClr>
                <a:srgbClr val="6779C6"/>
              </a:buClr>
              <a:buFont typeface="Arial"/>
              <a:buChar char="•"/>
            </a:pPr>
            <a:r>
              <a:rPr sz="1500" b="0">
                <a:solidFill>
                  <a:srgbClr val="1E2235"/>
                </a:solidFill>
                <a:latin typeface="Arial"/>
              </a:rPr>
              <a:t>Denylist and USDC blacklist check (2120); simulated agents labelled on the registry</a:t>
            </a:r>
          </a:p>
        </p:txBody>
      </p:sp>
      <p:sp>
        <p:nvSpPr>
          <p:cNvPr id="6" name="Rounded Rectangle 5"/>
          <p:cNvSpPr/>
          <p:nvPr/>
        </p:nvSpPr>
        <p:spPr>
          <a:xfrm>
            <a:off x="8366760" y="3520440"/>
            <a:ext cx="3291840" cy="269748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36576" bIns="36576">
            <a:noAutofit/>
          </a:bodyPr>
          <a:lstStyle/>
          <a:p>
            <a:pPr algn="l">
              <a:lnSpc>
                <a:spcPct val="100000"/>
              </a:lnSpc>
              <a:spcAft>
                <a:spcPts val="100"/>
              </a:spcAft>
            </a:pPr>
            <a:r>
              <a:rPr sz="1600" b="1">
                <a:solidFill>
                  <a:srgbClr val="3F4C9E"/>
                </a:solidFill>
                <a:latin typeface="Arial"/>
              </a:rPr>
              <a:t>Nine defence layers</a:t>
            </a:r>
          </a:p>
          <a:p>
            <a:pPr algn="l">
              <a:lnSpc>
                <a:spcPct val="100000"/>
              </a:lnSpc>
              <a:spcAft>
                <a:spcPts val="100"/>
              </a:spcAft>
            </a:pPr>
            <a:r>
              <a:rPr sz="1400" b="0">
                <a:solidFill>
                  <a:srgbClr val="1E2235"/>
                </a:solidFill>
                <a:latin typeface="Arial"/>
              </a:rPr>
              <a:t>L1 invoice validation, detector</a:t>
            </a:r>
          </a:p>
          <a:p>
            <a:pPr algn="l">
              <a:lnSpc>
                <a:spcPct val="100000"/>
              </a:lnSpc>
              <a:spcAft>
                <a:spcPts val="100"/>
              </a:spcAft>
            </a:pPr>
            <a:r>
              <a:rPr sz="1400" b="0">
                <a:solidFill>
                  <a:srgbClr val="1E2235"/>
                </a:solidFill>
                <a:latin typeface="Arial"/>
              </a:rPr>
              <a:t>L2 quarantine, turn-type tool sets</a:t>
            </a:r>
          </a:p>
          <a:p>
            <a:pPr algn="l">
              <a:lnSpc>
                <a:spcPct val="100000"/>
              </a:lnSpc>
              <a:spcAft>
                <a:spcPts val="100"/>
              </a:spcAft>
            </a:pPr>
            <a:r>
              <a:rPr sz="1400" b="0">
                <a:solidFill>
                  <a:srgbClr val="1E2235"/>
                </a:solidFill>
                <a:latin typeface="Arial"/>
              </a:rPr>
              <a:t>L3 action selector, echo-and-verify</a:t>
            </a:r>
          </a:p>
          <a:p>
            <a:pPr algn="l">
              <a:lnSpc>
                <a:spcPct val="100000"/>
              </a:lnSpc>
              <a:spcAft>
                <a:spcPts val="100"/>
              </a:spcAft>
            </a:pPr>
            <a:r>
              <a:rPr sz="1400" b="0">
                <a:solidFill>
                  <a:srgbClr val="1E2235"/>
                </a:solidFill>
                <a:latin typeface="Arial"/>
              </a:rPr>
              <a:t>L4 policy</a:t>
            </a:r>
          </a:p>
          <a:p>
            <a:pPr algn="l">
              <a:lnSpc>
                <a:spcPct val="100000"/>
              </a:lnSpc>
              <a:spcAft>
                <a:spcPts val="100"/>
              </a:spcAft>
            </a:pPr>
            <a:r>
              <a:rPr sz="1400" b="0">
                <a:solidFill>
                  <a:srgbClr val="1E2235"/>
                </a:solidFill>
                <a:latin typeface="Arial"/>
              </a:rPr>
              <a:t>L5 signer</a:t>
            </a:r>
          </a:p>
          <a:p>
            <a:pPr algn="l">
              <a:lnSpc>
                <a:spcPct val="100000"/>
              </a:lnSpc>
              <a:spcAft>
                <a:spcPts val="100"/>
              </a:spcAft>
            </a:pPr>
            <a:r>
              <a:rPr sz="1400" b="0">
                <a:solidFill>
                  <a:srgbClr val="1E2235"/>
                </a:solidFill>
                <a:latin typeface="Arial"/>
              </a:rPr>
              <a:t>L6 vault on-chain</a:t>
            </a:r>
          </a:p>
          <a:p>
            <a:pPr algn="l">
              <a:lnSpc>
                <a:spcPct val="100000"/>
              </a:lnSpc>
              <a:spcAft>
                <a:spcPts val="100"/>
              </a:spcAft>
            </a:pPr>
            <a:r>
              <a:rPr sz="1400" b="0">
                <a:solidFill>
                  <a:srgbClr val="1E2235"/>
                </a:solidFill>
                <a:latin typeface="Arial"/>
              </a:rPr>
              <a:t>L7 bureau rules</a:t>
            </a:r>
          </a:p>
          <a:p>
            <a:pPr algn="l">
              <a:lnSpc>
                <a:spcPct val="100000"/>
              </a:lnSpc>
              <a:spcAft>
                <a:spcPts val="100"/>
              </a:spcAft>
            </a:pPr>
            <a:r>
              <a:rPr sz="1400" b="0">
                <a:solidFill>
                  <a:srgbClr val="1E2235"/>
                </a:solidFill>
                <a:latin typeface="Arial"/>
              </a:rPr>
              <a:t>L8 owner console</a:t>
            </a:r>
          </a:p>
          <a:p>
            <a:pPr algn="l">
              <a:lnSpc>
                <a:spcPct val="100000"/>
              </a:lnSpc>
              <a:spcAft>
                <a:spcPts val="0"/>
              </a:spcAft>
            </a:pPr>
            <a:r>
              <a:rPr sz="1400" b="0">
                <a:solidFill>
                  <a:srgbClr val="1E2235"/>
                </a:solidFill>
                <a:latin typeface="Arial"/>
              </a:rPr>
              <a:t>L9 autonomy operator</a:t>
            </a:r>
          </a:p>
        </p:txBody>
      </p:sp>
      <p:sp>
        <p:nvSpPr>
          <p:cNvPr id="7" name="Footer"/>
          <p:cNvSpPr txBox="1"/>
          <p:nvPr/>
        </p:nvSpPr>
        <p:spPr>
          <a:xfrm>
            <a:off x="457200" y="6272784"/>
            <a:ext cx="11292840" cy="347472"/>
          </a:xfrm>
          <a:prstGeom prst="rect">
            <a:avLst/>
          </a:prstGeom>
          <a:noFill/>
        </p:spPr>
        <p:txBody>
          <a:bodyPr wrap="square" lIns="73152" rIns="73152" tIns="36576" bIns="36576" anchor="t">
            <a:noAutofit/>
          </a:bodyPr>
          <a:lstStyle/>
          <a:p>
            <a:pPr algn="l">
              <a:lnSpc>
                <a:spcPct val="100000"/>
              </a:lnSpc>
              <a:spcAft>
                <a:spcPts val="0"/>
              </a:spcAft>
            </a:pPr>
            <a:r>
              <a:rPr sz="1200" b="0">
                <a:solidFill>
                  <a:srgbClr val="5B6075"/>
                </a:solidFill>
                <a:latin typeface="Arial"/>
              </a:rPr>
              <a:t>Suite run r-20261017-122958 on anvil, commit 07eb9ef3323c. Stolen-key reverts on Base Sepolia: grade gate </a:t>
            </a:r>
            <a:r>
              <a:rPr sz="1200" b="0" u="sng">
                <a:solidFill>
                  <a:srgbClr val="0072B2"/>
                </a:solidFill>
                <a:latin typeface="Arial"/>
                <a:hlinkClick r:id="rId2"/>
              </a:rPr>
              <a:t>0x024356...6bc4</a:t>
            </a:r>
            <a:r>
              <a:rPr sz="1200" b="0">
                <a:solidFill>
                  <a:srgbClr val="5B6075"/>
                </a:solidFill>
                <a:latin typeface="Arial"/>
              </a:rPr>
              <a:t>, replay </a:t>
            </a:r>
            <a:r>
              <a:rPr sz="1200" b="0" u="sng">
                <a:solidFill>
                  <a:srgbClr val="0072B2"/>
                </a:solidFill>
                <a:latin typeface="Arial"/>
                <a:hlinkClick r:id="rId3"/>
              </a:rPr>
              <a:t>0xa078d0...c5c6</a:t>
            </a:r>
            <a:r>
              <a:rPr sz="1200" b="0">
                <a:solidFill>
                  <a:srgbClr val="5B6075"/>
                </a:solidFill>
                <a:latin typeface="Arial"/>
              </a:rPr>
              <a:t>, frozen </a:t>
            </a:r>
            <a:r>
              <a:rPr sz="1200" b="0" u="sng">
                <a:solidFill>
                  <a:srgbClr val="0072B2"/>
                </a:solidFill>
                <a:latin typeface="Arial"/>
                <a:hlinkClick r:id="rId4"/>
              </a:rPr>
              <a:t>0x18e325...5e44</a:t>
            </a:r>
            <a:r>
              <a:rPr sz="1200" b="0">
                <a:solidFill>
                  <a:srgbClr val="5B6075"/>
                </a:solidFill>
                <a:latin typeface="Arial"/>
              </a:rPr>
              <a:t>. Full table in the security self-assessment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3000" b="1">
                <a:solidFill>
                  <a:srgbClr val="FFFFFF"/>
                </a:solidFill>
                <a:latin typeface="Arial"/>
              </a:rPr>
              <a:t>Interaction: clarify, correct, fall back, explain</a:t>
            </a:r>
          </a:p>
        </p:txBody>
      </p:sp>
      <p:sp>
        <p:nvSpPr>
          <p:cNvPr id="3" name="Rounded Rectangle 2"/>
          <p:cNvSpPr/>
          <p:nvPr/>
        </p:nvSpPr>
        <p:spPr>
          <a:xfrm>
            <a:off x="548640" y="1261872"/>
            <a:ext cx="6949440" cy="3785616"/>
          </a:xfrm>
          <a:prstGeom prst="roundRect">
            <a:avLst>
              <a:gd name="adj" fmla="val 3000"/>
            </a:avLst>
          </a:prstGeom>
          <a:solidFill>
            <a:srgbClr val="F7F8FC"/>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6675120" cy="310896"/>
          </a:xfrm>
          <a:prstGeom prst="rect">
            <a:avLst/>
          </a:prstGeom>
          <a:noFill/>
        </p:spPr>
        <p:txBody>
          <a:bodyPr wrap="square" lIns="73152" rIns="73152" tIns="36576" bIns="36576" anchor="t">
            <a:noAutofit/>
          </a:bodyPr>
          <a:lstStyle/>
          <a:p>
            <a:pPr algn="l">
              <a:lnSpc>
                <a:spcPct val="100000"/>
              </a:lnSpc>
              <a:spcAft>
                <a:spcPts val="0"/>
              </a:spcAft>
            </a:pPr>
            <a:r>
              <a:rPr sz="1300" b="0">
                <a:solidFill>
                  <a:srgbClr val="5B6075"/>
                </a:solidFill>
                <a:latin typeface="Arial"/>
              </a:rPr>
              <a:t>S5 chat: owner lines scripted; model openai</a:t>
            </a:r>
          </a:p>
        </p:txBody>
      </p:sp>
      <p:sp>
        <p:nvSpPr>
          <p:cNvPr id="5" name="Rounded Rectangle 4"/>
          <p:cNvSpPr/>
          <p:nvPr/>
        </p:nvSpPr>
        <p:spPr>
          <a:xfrm>
            <a:off x="2331720" y="1627632"/>
            <a:ext cx="5029200" cy="566928"/>
          </a:xfrm>
          <a:prstGeom prst="roundRect">
            <a:avLst>
              <a:gd name="adj" fmla="val 25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noAutofit/>
          </a:bodyPr>
          <a:lstStyle/>
          <a:p>
            <a:pPr algn="l">
              <a:lnSpc>
                <a:spcPct val="100000"/>
              </a:lnSpc>
              <a:spcAft>
                <a:spcPts val="0"/>
              </a:spcAft>
            </a:pPr>
            <a:r>
              <a:rPr sz="1500" b="0">
                <a:solidFill>
                  <a:srgbClr val="FFFFFF"/>
                </a:solidFill>
                <a:latin typeface="Arial"/>
              </a:rPr>
              <a:t>I need FX market data and API calls for my research today, budget 5 USDC</a:t>
            </a:r>
          </a:p>
        </p:txBody>
      </p:sp>
      <p:sp>
        <p:nvSpPr>
          <p:cNvPr id="6" name="Rounded Rectangle 5"/>
          <p:cNvSpPr/>
          <p:nvPr/>
        </p:nvSpPr>
        <p:spPr>
          <a:xfrm>
            <a:off x="685800" y="2267712"/>
            <a:ext cx="5577840" cy="1097280"/>
          </a:xfrm>
          <a:prstGeom prst="roundRect">
            <a:avLst>
              <a:gd name="adj" fmla="val 15000"/>
            </a:avLst>
          </a:prstGeom>
          <a:solidFill>
            <a:srgbClr val="FFFFFF"/>
          </a:solidFill>
          <a:ln w="1905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noAutofit/>
          </a:bodyPr>
          <a:lstStyle/>
          <a:p>
            <a:pPr algn="l">
              <a:lnSpc>
                <a:spcPct val="100000"/>
              </a:lnSpc>
              <a:spcAft>
                <a:spcPts val="100"/>
              </a:spcAft>
            </a:pPr>
            <a:r>
              <a:rPr sz="1300" b="1">
                <a:solidFill>
                  <a:srgbClr val="3F4C9E"/>
                </a:solidFill>
                <a:latin typeface="Arial"/>
              </a:rPr>
              <a:t>Agent: forced clarification (shortened)</a:t>
            </a:r>
          </a:p>
          <a:p>
            <a:pPr algn="l">
              <a:lnSpc>
                <a:spcPct val="100000"/>
              </a:lnSpc>
              <a:spcAft>
                <a:spcPts val="0"/>
              </a:spcAft>
            </a:pPr>
            <a:r>
              <a:rPr sz="1400" b="0">
                <a:solidFill>
                  <a:srgbClr val="1E2235"/>
                </a:solidFill>
                <a:latin typeface="Arial"/>
              </a:rPr>
              <a:t>You did not name a provider, and I will not choose one for you. Matching providers: Atlas Data (A, 0x4a68fc...e786); Slowpoke Analytics (B, 0x837c65...3a66); Ghost Feeds (A, 0x15d402...72f5). Which should I use?</a:t>
            </a:r>
          </a:p>
        </p:txBody>
      </p:sp>
      <p:sp>
        <p:nvSpPr>
          <p:cNvPr id="7" name="Rounded Rectangle 6"/>
          <p:cNvSpPr/>
          <p:nvPr/>
        </p:nvSpPr>
        <p:spPr>
          <a:xfrm>
            <a:off x="2331720" y="3438144"/>
            <a:ext cx="5029200" cy="548640"/>
          </a:xfrm>
          <a:prstGeom prst="roundRect">
            <a:avLst>
              <a:gd name="adj" fmla="val 25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noAutofit/>
          </a:bodyPr>
          <a:lstStyle/>
          <a:p>
            <a:pPr algn="l">
              <a:lnSpc>
                <a:spcPct val="100000"/>
              </a:lnSpc>
              <a:spcAft>
                <a:spcPts val="0"/>
              </a:spcAft>
            </a:pPr>
            <a:r>
              <a:rPr sz="1400" b="0">
                <a:solidFill>
                  <a:srgbClr val="FFFFFF"/>
                </a:solidFill>
                <a:latin typeface="Arial"/>
              </a:rPr>
              <a:t>Use all five: Atlas, Slowpoke, Nova, Orion, and Ghost as a backup</a:t>
            </a:r>
          </a:p>
        </p:txBody>
      </p:sp>
      <p:sp>
        <p:nvSpPr>
          <p:cNvPr id="8" name="Rounded Rectangle 7"/>
          <p:cNvSpPr/>
          <p:nvPr/>
        </p:nvSpPr>
        <p:spPr>
          <a:xfrm>
            <a:off x="2331720" y="4059936"/>
            <a:ext cx="5029200" cy="365760"/>
          </a:xfrm>
          <a:prstGeom prst="roundRect">
            <a:avLst>
              <a:gd name="adj" fmla="val 25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noAutofit/>
          </a:bodyPr>
          <a:lstStyle/>
          <a:p>
            <a:pPr algn="l">
              <a:lnSpc>
                <a:spcPct val="100000"/>
              </a:lnSpc>
              <a:spcAft>
                <a:spcPts val="0"/>
              </a:spcAft>
            </a:pPr>
            <a:r>
              <a:rPr sz="1400" b="0">
                <a:solidFill>
                  <a:srgbClr val="FFFFFF"/>
                </a:solidFill>
                <a:latin typeface="Arial"/>
              </a:rPr>
              <a:t>Actually make the total 4 USDC, not 5</a:t>
            </a:r>
          </a:p>
        </p:txBody>
      </p:sp>
      <p:sp>
        <p:nvSpPr>
          <p:cNvPr id="9" name="Rounded Rectangle 8"/>
          <p:cNvSpPr/>
          <p:nvPr/>
        </p:nvSpPr>
        <p:spPr>
          <a:xfrm>
            <a:off x="685800" y="4498848"/>
            <a:ext cx="5577840" cy="512064"/>
          </a:xfrm>
          <a:prstGeom prst="roundRect">
            <a:avLst>
              <a:gd name="adj" fmla="val 15000"/>
            </a:avLst>
          </a:prstGeom>
          <a:solidFill>
            <a:srgbClr val="FFFFFF"/>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noAutofit/>
          </a:bodyPr>
          <a:lstStyle/>
          <a:p>
            <a:pPr algn="l">
              <a:lnSpc>
                <a:spcPct val="100000"/>
              </a:lnSpc>
              <a:spcAft>
                <a:spcPts val="100"/>
              </a:spcAft>
            </a:pPr>
            <a:r>
              <a:rPr sz="1300" b="1">
                <a:solidFill>
                  <a:srgbClr val="3F4C9E"/>
                </a:solidFill>
                <a:latin typeface="Arial"/>
              </a:rPr>
              <a:t>Agent: mandate card shows the diff</a:t>
            </a:r>
          </a:p>
          <a:p>
            <a:pPr algn="l">
              <a:lnSpc>
                <a:spcPct val="100000"/>
              </a:lnSpc>
              <a:spcAft>
                <a:spcPts val="0"/>
              </a:spcAft>
            </a:pPr>
            <a:r>
              <a:rPr sz="1400" b="0">
                <a:solidFill>
                  <a:srgbClr val="1E2235"/>
                </a:solidFill>
                <a:latin typeface="Arial"/>
              </a:rPr>
              <a:t>total 5.00 -&gt; 4.00 USDC; 5 payees, 1.00 per payment</a:t>
            </a:r>
          </a:p>
        </p:txBody>
      </p:sp>
      <p:sp>
        <p:nvSpPr>
          <p:cNvPr id="10" name="TextBox 9"/>
          <p:cNvSpPr txBox="1"/>
          <p:nvPr/>
        </p:nvSpPr>
        <p:spPr>
          <a:xfrm>
            <a:off x="457200" y="5138928"/>
            <a:ext cx="7132320" cy="1143000"/>
          </a:xfrm>
          <a:prstGeom prst="rect">
            <a:avLst/>
          </a:prstGeom>
          <a:noFill/>
        </p:spPr>
        <p:txBody>
          <a:bodyPr wrap="square" lIns="73152" rIns="73152" tIns="36576" bIns="36576" anchor="t">
            <a:noAutofit/>
          </a:bodyPr>
          <a:lstStyle/>
          <a:p>
            <a:pPr algn="l" marL="256032" indent="-256032">
              <a:lnSpc>
                <a:spcPct val="100000"/>
              </a:lnSpc>
              <a:spcAft>
                <a:spcPts val="400"/>
              </a:spcAft>
              <a:buClr>
                <a:srgbClr val="6779C6"/>
              </a:buClr>
              <a:buFont typeface="Arial"/>
              <a:buChar char="•"/>
            </a:pPr>
            <a:r>
              <a:rPr sz="1800" b="0">
                <a:solidFill>
                  <a:srgbClr val="1E2235"/>
                </a:solidFill>
                <a:latin typeface="Arial"/>
              </a:rPr>
              <a:t>Fallbacks: LLM down -&gt; rule-based; unrated -&gt; escrow; over cap -&gt; owner</a:t>
            </a:r>
          </a:p>
          <a:p>
            <a:pPr algn="l" marL="256032" indent="-256032">
              <a:lnSpc>
                <a:spcPct val="100000"/>
              </a:lnSpc>
              <a:spcAft>
                <a:spcPts val="0"/>
              </a:spcAft>
              <a:buClr>
                <a:srgbClr val="6779C6"/>
              </a:buClr>
              <a:buFont typeface="Arial"/>
              <a:buChar char="•"/>
            </a:pPr>
            <a:r>
              <a:rPr sz="1800" b="0">
                <a:solidFill>
                  <a:srgbClr val="1E2235"/>
                </a:solidFill>
                <a:latin typeface="Arial"/>
              </a:rPr>
              <a:t>S5: 3 owner turns (openai); eval median 1.5 turns</a:t>
            </a:r>
          </a:p>
        </p:txBody>
      </p:sp>
      <p:graphicFrame>
        <p:nvGraphicFramePr>
          <p:cNvPr id="11" name="Table 10"/>
          <p:cNvGraphicFramePr>
            <a:graphicFrameLocks noGrp="1"/>
          </p:cNvGraphicFramePr>
          <p:nvPr/>
        </p:nvGraphicFramePr>
        <p:xfrm>
          <a:off x="7772400" y="1261872"/>
          <a:ext cx="3886200" cy="3456432"/>
        </p:xfrm>
        <a:graphic>
          <a:graphicData uri="http://schemas.openxmlformats.org/drawingml/2006/table">
            <a:tbl>
              <a:tblPr firstRow="0" bandRow="0">
                <a:tableStyleId>{5C22544A-7EE6-4342-B048-85BDC9FD1C3A}</a:tableStyleId>
              </a:tblPr>
              <a:tblGrid>
                <a:gridCol w="2606040"/>
                <a:gridCol w="1280160"/>
              </a:tblGrid>
              <a:tr h="384048">
                <a:tc>
                  <a:txBody>
                    <a:bodyPr wrap="square"/>
                    <a:lstStyle/>
                    <a:p>
                      <a:pPr algn="l"/>
                      <a:r>
                        <a:rPr sz="1500" b="1">
                          <a:solidFill>
                            <a:srgbClr val="FFFFFF"/>
                          </a:solidFill>
                          <a:latin typeface="Arial"/>
                        </a:rPr>
                        <a:t>Dialogue evaluation</a:t>
                      </a:r>
                    </a:p>
                  </a:txBody>
                  <a:tcPr marL="54864" marR="54864" marT="27432" marB="27432" anchor="ctr">
                    <a:solidFill>
                      <a:srgbClr val="3F4C9E"/>
                    </a:solidFill>
                  </a:tcPr>
                </a:tc>
                <a:tc>
                  <a:txBody>
                    <a:bodyPr wrap="square"/>
                    <a:lstStyle/>
                    <a:p>
                      <a:pPr algn="r"/>
                      <a:r>
                        <a:rPr sz="1500" b="1">
                          <a:solidFill>
                            <a:srgbClr val="FFFFFF"/>
                          </a:solidFill>
                          <a:latin typeface="Arial"/>
                        </a:rPr>
                        <a:t>Result</a:t>
                      </a:r>
                    </a:p>
                  </a:txBody>
                  <a:tcPr marL="54864" marR="54864" marT="27432" marB="27432" anchor="ctr">
                    <a:solidFill>
                      <a:srgbClr val="3F4C9E"/>
                    </a:solidFill>
                  </a:tcPr>
                </a:tc>
              </a:tr>
              <a:tr h="384048">
                <a:tc>
                  <a:txBody>
                    <a:bodyPr wrap="square"/>
                    <a:lstStyle/>
                    <a:p>
                      <a:pPr algn="l"/>
                      <a:r>
                        <a:rPr sz="1500" b="0">
                          <a:solidFill>
                            <a:srgbClr val="1E2235"/>
                          </a:solidFill>
                          <a:latin typeface="Arial"/>
                        </a:rPr>
                        <a:t>Requests evaluated</a:t>
                      </a:r>
                    </a:p>
                  </a:txBody>
                  <a:tcPr marL="54864" marR="54864" marT="27432" marB="27432" anchor="ctr">
                    <a:solidFill>
                      <a:srgbClr val="FFFFFF"/>
                    </a:solidFill>
                  </a:tcPr>
                </a:tc>
                <a:tc>
                  <a:txBody>
                    <a:bodyPr wrap="square"/>
                    <a:lstStyle/>
                    <a:p>
                      <a:pPr algn="r"/>
                      <a:r>
                        <a:rPr sz="1500" b="0">
                          <a:solidFill>
                            <a:srgbClr val="1E2235"/>
                          </a:solidFill>
                          <a:latin typeface="Arial"/>
                        </a:rPr>
                        <a:t>33</a:t>
                      </a:r>
                    </a:p>
                  </a:txBody>
                  <a:tcPr marL="54864" marR="54864" marT="27432" marB="27432" anchor="ctr">
                    <a:solidFill>
                      <a:srgbClr val="FFFFFF"/>
                    </a:solidFill>
                  </a:tcPr>
                </a:tc>
              </a:tr>
              <a:tr h="384048">
                <a:tc>
                  <a:txBody>
                    <a:bodyPr wrap="square"/>
                    <a:lstStyle/>
                    <a:p>
                      <a:pPr algn="l"/>
                      <a:r>
                        <a:rPr sz="1500" b="0">
                          <a:solidFill>
                            <a:srgbClr val="1E2235"/>
                          </a:solidFill>
                          <a:latin typeface="Arial"/>
                        </a:rPr>
                        <a:t>Correct mandates</a:t>
                      </a:r>
                    </a:p>
                  </a:txBody>
                  <a:tcPr marL="54864" marR="54864" marT="27432" marB="27432" anchor="ctr">
                    <a:solidFill>
                      <a:srgbClr val="F7F8FC"/>
                    </a:solidFill>
                  </a:tcPr>
                </a:tc>
                <a:tc>
                  <a:txBody>
                    <a:bodyPr wrap="square"/>
                    <a:lstStyle/>
                    <a:p>
                      <a:pPr algn="r"/>
                      <a:r>
                        <a:rPr sz="1500" b="0">
                          <a:solidFill>
                            <a:srgbClr val="1E2235"/>
                          </a:solidFill>
                          <a:latin typeface="Arial"/>
                        </a:rPr>
                        <a:t>100.0%</a:t>
                      </a:r>
                    </a:p>
                  </a:txBody>
                  <a:tcPr marL="54864" marR="54864" marT="27432" marB="27432" anchor="ctr">
                    <a:solidFill>
                      <a:srgbClr val="F7F8FC"/>
                    </a:solidFill>
                  </a:tcPr>
                </a:tc>
              </a:tr>
              <a:tr h="384048">
                <a:tc>
                  <a:txBody>
                    <a:bodyPr wrap="square"/>
                    <a:lstStyle/>
                    <a:p>
                      <a:pPr algn="l"/>
                      <a:r>
                        <a:rPr sz="1500" b="0">
                          <a:solidFill>
                            <a:srgbClr val="1E2235"/>
                          </a:solidFill>
                          <a:latin typeface="Arial"/>
                        </a:rPr>
                        <a:t>Clarification precision</a:t>
                      </a:r>
                    </a:p>
                  </a:txBody>
                  <a:tcPr marL="54864" marR="54864" marT="27432" marB="27432" anchor="ctr">
                    <a:solidFill>
                      <a:srgbClr val="FFFFFF"/>
                    </a:solidFill>
                  </a:tcPr>
                </a:tc>
                <a:tc>
                  <a:txBody>
                    <a:bodyPr wrap="square"/>
                    <a:lstStyle/>
                    <a:p>
                      <a:pPr algn="r"/>
                      <a:r>
                        <a:rPr sz="1500" b="0">
                          <a:solidFill>
                            <a:srgbClr val="1E2235"/>
                          </a:solidFill>
                          <a:latin typeface="Arial"/>
                        </a:rPr>
                        <a:t>100.0%</a:t>
                      </a:r>
                    </a:p>
                  </a:txBody>
                  <a:tcPr marL="54864" marR="54864" marT="27432" marB="27432" anchor="ctr">
                    <a:solidFill>
                      <a:srgbClr val="FFFFFF"/>
                    </a:solidFill>
                  </a:tcPr>
                </a:tc>
              </a:tr>
              <a:tr h="384048">
                <a:tc>
                  <a:txBody>
                    <a:bodyPr wrap="square"/>
                    <a:lstStyle/>
                    <a:p>
                      <a:pPr algn="l"/>
                      <a:r>
                        <a:rPr sz="1500" b="0">
                          <a:solidFill>
                            <a:srgbClr val="1E2235"/>
                          </a:solidFill>
                          <a:latin typeface="Arial"/>
                        </a:rPr>
                        <a:t>Clarification recall</a:t>
                      </a:r>
                    </a:p>
                  </a:txBody>
                  <a:tcPr marL="54864" marR="54864" marT="27432" marB="27432" anchor="ctr">
                    <a:solidFill>
                      <a:srgbClr val="F7F8FC"/>
                    </a:solidFill>
                  </a:tcPr>
                </a:tc>
                <a:tc>
                  <a:txBody>
                    <a:bodyPr wrap="square"/>
                    <a:lstStyle/>
                    <a:p>
                      <a:pPr algn="r"/>
                      <a:r>
                        <a:rPr sz="1500" b="0">
                          <a:solidFill>
                            <a:srgbClr val="1E2235"/>
                          </a:solidFill>
                          <a:latin typeface="Arial"/>
                        </a:rPr>
                        <a:t>100.0%</a:t>
                      </a:r>
                    </a:p>
                  </a:txBody>
                  <a:tcPr marL="54864" marR="54864" marT="27432" marB="27432" anchor="ctr">
                    <a:solidFill>
                      <a:srgbClr val="F7F8FC"/>
                    </a:solidFill>
                  </a:tcPr>
                </a:tc>
              </a:tr>
              <a:tr h="384048">
                <a:tc>
                  <a:txBody>
                    <a:bodyPr wrap="square"/>
                    <a:lstStyle/>
                    <a:p>
                      <a:pPr algn="l"/>
                      <a:r>
                        <a:rPr sz="1500" b="0">
                          <a:solidFill>
                            <a:srgbClr val="1E2235"/>
                          </a:solidFill>
                          <a:latin typeface="Arial"/>
                        </a:rPr>
                        <a:t>Correction success</a:t>
                      </a:r>
                    </a:p>
                  </a:txBody>
                  <a:tcPr marL="54864" marR="54864" marT="27432" marB="27432" anchor="ctr">
                    <a:solidFill>
                      <a:srgbClr val="FFFFFF"/>
                    </a:solidFill>
                  </a:tcPr>
                </a:tc>
                <a:tc>
                  <a:txBody>
                    <a:bodyPr wrap="square"/>
                    <a:lstStyle/>
                    <a:p>
                      <a:pPr algn="r"/>
                      <a:r>
                        <a:rPr sz="1500" b="0">
                          <a:solidFill>
                            <a:srgbClr val="1E2235"/>
                          </a:solidFill>
                          <a:latin typeface="Arial"/>
                        </a:rPr>
                        <a:t>100.0%</a:t>
                      </a:r>
                    </a:p>
                  </a:txBody>
                  <a:tcPr marL="54864" marR="54864" marT="27432" marB="27432" anchor="ctr">
                    <a:solidFill>
                      <a:srgbClr val="FFFFFF"/>
                    </a:solidFill>
                  </a:tcPr>
                </a:tc>
              </a:tr>
              <a:tr h="384048">
                <a:tc>
                  <a:txBody>
                    <a:bodyPr wrap="square"/>
                    <a:lstStyle/>
                    <a:p>
                      <a:pPr algn="l"/>
                      <a:r>
                        <a:rPr sz="1500" b="0">
                          <a:solidFill>
                            <a:srgbClr val="1E2235"/>
                          </a:solidFill>
                          <a:latin typeface="Arial"/>
                        </a:rPr>
                        <a:t>Chinese requests correct</a:t>
                      </a:r>
                    </a:p>
                  </a:txBody>
                  <a:tcPr marL="54864" marR="54864" marT="27432" marB="27432" anchor="ctr">
                    <a:solidFill>
                      <a:srgbClr val="F7F8FC"/>
                    </a:solidFill>
                  </a:tcPr>
                </a:tc>
                <a:tc>
                  <a:txBody>
                    <a:bodyPr wrap="square"/>
                    <a:lstStyle/>
                    <a:p>
                      <a:pPr algn="r"/>
                      <a:r>
                        <a:rPr sz="1500" b="0">
                          <a:solidFill>
                            <a:srgbClr val="1E2235"/>
                          </a:solidFill>
                          <a:latin typeface="Arial"/>
                        </a:rPr>
                        <a:t>4 of 4</a:t>
                      </a:r>
                    </a:p>
                  </a:txBody>
                  <a:tcPr marL="54864" marR="54864" marT="27432" marB="27432" anchor="ctr">
                    <a:solidFill>
                      <a:srgbClr val="F7F8FC"/>
                    </a:solidFill>
                  </a:tcPr>
                </a:tc>
              </a:tr>
              <a:tr h="384048">
                <a:tc>
                  <a:txBody>
                    <a:bodyPr wrap="square"/>
                    <a:lstStyle/>
                    <a:p>
                      <a:pPr algn="l"/>
                      <a:r>
                        <a:rPr sz="1500" b="0">
                          <a:solidFill>
                            <a:srgbClr val="1E2235"/>
                          </a:solidFill>
                          <a:latin typeface="Arial"/>
                        </a:rPr>
                        <a:t>Hostile requests safe</a:t>
                      </a:r>
                    </a:p>
                  </a:txBody>
                  <a:tcPr marL="54864" marR="54864" marT="27432" marB="27432" anchor="ctr">
                    <a:solidFill>
                      <a:srgbClr val="FFFFFF"/>
                    </a:solidFill>
                  </a:tcPr>
                </a:tc>
                <a:tc>
                  <a:txBody>
                    <a:bodyPr wrap="square"/>
                    <a:lstStyle/>
                    <a:p>
                      <a:pPr algn="r"/>
                      <a:r>
                        <a:rPr sz="1500" b="0">
                          <a:solidFill>
                            <a:srgbClr val="1E2235"/>
                          </a:solidFill>
                          <a:latin typeface="Arial"/>
                        </a:rPr>
                        <a:t>100.0%</a:t>
                      </a:r>
                    </a:p>
                  </a:txBody>
                  <a:tcPr marL="54864" marR="54864" marT="27432" marB="27432" anchor="ctr">
                    <a:solidFill>
                      <a:srgbClr val="FFFFFF"/>
                    </a:solidFill>
                  </a:tcPr>
                </a:tc>
              </a:tr>
              <a:tr h="384048">
                <a:tc>
                  <a:txBody>
                    <a:bodyPr wrap="square"/>
                    <a:lstStyle/>
                    <a:p>
                      <a:pPr algn="l"/>
                      <a:r>
                        <a:rPr sz="1500" b="0">
                          <a:solidFill>
                            <a:srgbClr val="1E2235"/>
                          </a:solidFill>
                          <a:latin typeface="Arial"/>
                        </a:rPr>
                        <a:t>Median turns</a:t>
                      </a:r>
                    </a:p>
                  </a:txBody>
                  <a:tcPr marL="54864" marR="54864" marT="27432" marB="27432" anchor="ctr">
                    <a:solidFill>
                      <a:srgbClr val="F7F8FC"/>
                    </a:solidFill>
                  </a:tcPr>
                </a:tc>
                <a:tc>
                  <a:txBody>
                    <a:bodyPr wrap="square"/>
                    <a:lstStyle/>
                    <a:p>
                      <a:pPr algn="r"/>
                      <a:r>
                        <a:rPr sz="1500" b="0">
                          <a:solidFill>
                            <a:srgbClr val="1E2235"/>
                          </a:solidFill>
                          <a:latin typeface="Arial"/>
                        </a:rPr>
                        <a:t>1.5</a:t>
                      </a:r>
                    </a:p>
                  </a:txBody>
                  <a:tcPr marL="54864" marR="54864" marT="27432" marB="27432" anchor="ctr">
                    <a:solidFill>
                      <a:srgbClr val="F7F8FC"/>
                    </a:solidFill>
                  </a:tcPr>
                </a:tc>
              </a:tr>
            </a:tbl>
          </a:graphicData>
        </a:graphic>
      </p:graphicFrame>
      <p:sp>
        <p:nvSpPr>
          <p:cNvPr id="12" name="Rounded Rectangle 11"/>
          <p:cNvSpPr/>
          <p:nvPr/>
        </p:nvSpPr>
        <p:spPr>
          <a:xfrm>
            <a:off x="7772400" y="4572000"/>
            <a:ext cx="3886200" cy="566928"/>
          </a:xfrm>
          <a:prstGeom prst="roundRect">
            <a:avLst>
              <a:gd name="adj" fmla="val 20000"/>
            </a:avLst>
          </a:prstGeom>
          <a:solidFill>
            <a:srgbClr val="FFF4DD"/>
          </a:solidFill>
          <a:ln w="12700">
            <a:solidFill>
              <a:srgbClr val="E69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noAutofit/>
          </a:bodyPr>
          <a:lstStyle/>
          <a:p>
            <a:pPr algn="l">
              <a:lnSpc>
                <a:spcPct val="100000"/>
              </a:lnSpc>
              <a:spcAft>
                <a:spcPts val="0"/>
              </a:spcAft>
            </a:pPr>
            <a:r>
              <a:rPr sz="1400" b="0">
                <a:solidFill>
                  <a:srgbClr val="1E2235"/>
                </a:solidFill>
                <a:latin typeface="Arial"/>
              </a:rPr>
              <a:t>Banner when the model is down: AI offline: rule-based mode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3000" b="1">
                <a:solidFill>
                  <a:srgbClr val="FFFFFF"/>
                </a:solidFill>
                <a:latin typeface="Arial"/>
              </a:rPr>
              <a:t>Measurable value</a:t>
            </a:r>
          </a:p>
        </p:txBody>
      </p:sp>
      <p:sp>
        <p:nvSpPr>
          <p:cNvPr id="3" name="Rounded Rectangle 2"/>
          <p:cNvSpPr/>
          <p:nvPr/>
        </p:nvSpPr>
        <p:spPr>
          <a:xfrm>
            <a:off x="548640" y="1280160"/>
            <a:ext cx="3581400" cy="132588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noAutofit/>
          </a:bodyPr>
          <a:lstStyle/>
          <a:p>
            <a:pPr algn="ctr">
              <a:lnSpc>
                <a:spcPct val="100000"/>
              </a:lnSpc>
              <a:spcAft>
                <a:spcPts val="400"/>
              </a:spcAft>
            </a:pPr>
            <a:r>
              <a:rPr sz="3400" b="1">
                <a:solidFill>
                  <a:srgbClr val="0072B2"/>
                </a:solidFill>
                <a:latin typeface="Arial"/>
              </a:rPr>
              <a:t>4.00 USDC</a:t>
            </a:r>
          </a:p>
          <a:p>
            <a:pPr algn="ctr">
              <a:lnSpc>
                <a:spcPct val="100000"/>
              </a:lnSpc>
              <a:spcAft>
                <a:spcPts val="0"/>
              </a:spcAft>
            </a:pPr>
            <a:r>
              <a:rPr sz="1600" b="0">
                <a:solidFill>
                  <a:srgbClr val="1E2235"/>
                </a:solidFill>
                <a:latin typeface="Arial"/>
              </a:rPr>
              <a:t>stolen-key bound, only to approved payees</a:t>
            </a:r>
          </a:p>
        </p:txBody>
      </p:sp>
      <p:sp>
        <p:nvSpPr>
          <p:cNvPr id="4" name="Rounded Rectangle 3"/>
          <p:cNvSpPr/>
          <p:nvPr/>
        </p:nvSpPr>
        <p:spPr>
          <a:xfrm>
            <a:off x="4312920" y="1280160"/>
            <a:ext cx="3581400" cy="132588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noAutofit/>
          </a:bodyPr>
          <a:lstStyle/>
          <a:p>
            <a:pPr algn="ctr">
              <a:lnSpc>
                <a:spcPct val="100000"/>
              </a:lnSpc>
              <a:spcAft>
                <a:spcPts val="400"/>
              </a:spcAft>
            </a:pPr>
            <a:r>
              <a:rPr sz="3400" b="1">
                <a:solidFill>
                  <a:srgbClr val="0072B2"/>
                </a:solidFill>
                <a:latin typeface="Arial"/>
              </a:rPr>
              <a:t>1.00 USDC</a:t>
            </a:r>
          </a:p>
          <a:p>
            <a:pPr algn="ctr">
              <a:lnSpc>
                <a:spcPct val="100000"/>
              </a:lnSpc>
              <a:spcAft>
                <a:spcPts val="0"/>
              </a:spcAft>
            </a:pPr>
            <a:r>
              <a:rPr sz="1600" b="0">
                <a:solidFill>
                  <a:srgbClr val="1E2235"/>
                </a:solidFill>
                <a:latin typeface="Arial"/>
              </a:rPr>
              <a:t>single-name exposure limit, grade A</a:t>
            </a:r>
          </a:p>
        </p:txBody>
      </p:sp>
      <p:sp>
        <p:nvSpPr>
          <p:cNvPr id="5" name="Rounded Rectangle 4"/>
          <p:cNvSpPr/>
          <p:nvPr/>
        </p:nvSpPr>
        <p:spPr>
          <a:xfrm>
            <a:off x="8077200" y="1280160"/>
            <a:ext cx="3581400" cy="132588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noAutofit/>
          </a:bodyPr>
          <a:lstStyle/>
          <a:p>
            <a:pPr algn="ctr">
              <a:lnSpc>
                <a:spcPct val="100000"/>
              </a:lnSpc>
              <a:spcAft>
                <a:spcPts val="400"/>
              </a:spcAft>
            </a:pPr>
            <a:r>
              <a:rPr sz="3400" b="1">
                <a:solidFill>
                  <a:srgbClr val="0072B2"/>
                </a:solidFill>
                <a:latin typeface="Arial"/>
              </a:rPr>
              <a:t>0 / 14</a:t>
            </a:r>
          </a:p>
          <a:p>
            <a:pPr algn="ctr">
              <a:lnSpc>
                <a:spcPct val="100000"/>
              </a:lnSpc>
              <a:spcAft>
                <a:spcPts val="0"/>
              </a:spcAft>
            </a:pPr>
            <a:r>
              <a:rPr sz="1600" b="0">
                <a:solidFill>
                  <a:srgbClr val="1E2235"/>
                </a:solidFill>
                <a:latin typeface="Arial"/>
              </a:rPr>
              <a:t>false positives on normal tasks</a:t>
            </a:r>
          </a:p>
        </p:txBody>
      </p:sp>
      <p:graphicFrame>
        <p:nvGraphicFramePr>
          <p:cNvPr id="6" name="Chart 5"/>
          <p:cNvGraphicFramePr>
            <a:graphicFrameLocks noGrp="1"/>
          </p:cNvGraphicFramePr>
          <p:nvPr/>
        </p:nvGraphicFramePr>
        <p:xfrm>
          <a:off x="548640" y="2761488"/>
          <a:ext cx="5120640" cy="3456432"/>
        </p:xfrm>
        <a:graphic>
          <a:graphicData uri="http://schemas.openxmlformats.org/drawingml/2006/chart">
            <c:chart xmlns:c="http://schemas.openxmlformats.org/drawingml/2006/chart" r:id="rId2"/>
          </a:graphicData>
        </a:graphic>
      </p:graphicFrame>
      <p:sp>
        <p:nvSpPr>
          <p:cNvPr id="7" name="TextBox 6"/>
          <p:cNvSpPr txBox="1"/>
          <p:nvPr/>
        </p:nvSpPr>
        <p:spPr>
          <a:xfrm>
            <a:off x="5943600" y="2880360"/>
            <a:ext cx="5715000" cy="3291840"/>
          </a:xfrm>
          <a:prstGeom prst="rect">
            <a:avLst/>
          </a:prstGeom>
          <a:noFill/>
        </p:spPr>
        <p:txBody>
          <a:bodyPr wrap="square" lIns="73152" rIns="73152" tIns="36576" bIns="36576" anchor="t">
            <a:noAutofit/>
          </a:bodyPr>
          <a:lstStyle/>
          <a:p>
            <a:pPr algn="l">
              <a:lnSpc>
                <a:spcPct val="100000"/>
              </a:lnSpc>
              <a:spcAft>
                <a:spcPts val="1000"/>
              </a:spcAft>
            </a:pPr>
            <a:r>
              <a:rPr sz="1800" b="1">
                <a:solidFill>
                  <a:srgbClr val="1E2235"/>
                </a:solidFill>
                <a:latin typeface="Arial"/>
              </a:rPr>
              <a:t>Backtest on 300 synthetic agents</a:t>
            </a:r>
          </a:p>
          <a:p>
            <a:pPr algn="l">
              <a:lnSpc>
                <a:spcPct val="100000"/>
              </a:lnSpc>
              <a:spcAft>
                <a:spcPts val="200"/>
              </a:spcAft>
            </a:pPr>
            <a:r>
              <a:rPr sz="1800" b="0">
                <a:solidFill>
                  <a:srgbClr val="1E2235"/>
                </a:solidFill>
                <a:latin typeface="Arial"/>
              </a:rPr>
              <a:t>AUC 0.9758, KS 0.8863</a:t>
            </a:r>
          </a:p>
          <a:p>
            <a:pPr algn="l">
              <a:lnSpc>
                <a:spcPct val="100000"/>
              </a:lnSpc>
              <a:spcAft>
                <a:spcPts val="1000"/>
              </a:spcAft>
            </a:pPr>
            <a:r>
              <a:rPr sz="1500" b="0">
                <a:solidFill>
                  <a:srgbClr val="5B6075"/>
                </a:solidFill>
                <a:latin typeface="Arial"/>
              </a:rPr>
              <a:t>A consistency check on our own simulator, not an out-of-sample validation</a:t>
            </a:r>
          </a:p>
          <a:p>
            <a:pPr algn="l">
              <a:lnSpc>
                <a:spcPct val="100000"/>
              </a:lnSpc>
              <a:spcAft>
                <a:spcPts val="1000"/>
              </a:spcAft>
            </a:pPr>
            <a:r>
              <a:rPr sz="1800" b="0">
                <a:solidFill>
                  <a:srgbClr val="1E2235"/>
                </a:solidFill>
                <a:latin typeface="Arial"/>
              </a:rPr>
              <a:t>Largest honest score change from smears: 0 points</a:t>
            </a:r>
          </a:p>
          <a:p>
            <a:pPr algn="l">
              <a:lnSpc>
                <a:spcPct val="100000"/>
              </a:lnSpc>
              <a:spcAft>
                <a:spcPts val="0"/>
              </a:spcAft>
            </a:pPr>
            <a:r>
              <a:rPr sz="1800" b="1">
                <a:solidFill>
                  <a:srgbClr val="3F4C9E"/>
                </a:solidFill>
                <a:latin typeface="Arial"/>
              </a:rPr>
              <a:t>Attempted outflow stopped (scripted hijack): refused, vault frozen, nothing moved</a:t>
            </a:r>
          </a:p>
        </p:txBody>
      </p:sp>
      <p:sp>
        <p:nvSpPr>
          <p:cNvPr id="8" name="Footer"/>
          <p:cNvSpPr txBox="1"/>
          <p:nvPr/>
        </p:nvSpPr>
        <p:spPr>
          <a:xfrm>
            <a:off x="457200" y="6272784"/>
            <a:ext cx="11292840" cy="347472"/>
          </a:xfrm>
          <a:prstGeom prst="rect">
            <a:avLst/>
          </a:prstGeom>
          <a:noFill/>
        </p:spPr>
        <p:txBody>
          <a:bodyPr wrap="square" lIns="73152" rIns="73152" tIns="36576" bIns="36576" anchor="t">
            <a:noAutofit/>
          </a:bodyPr>
          <a:lstStyle/>
          <a:p>
            <a:pPr algn="l">
              <a:lnSpc>
                <a:spcPct val="100000"/>
              </a:lnSpc>
              <a:spcAft>
                <a:spcPts val="0"/>
              </a:spcAft>
            </a:pPr>
            <a:r>
              <a:rPr sz="1200" b="0">
                <a:solidFill>
                  <a:srgbClr val="5B6075"/>
                </a:solidFill>
                <a:latin typeface="Arial"/>
              </a:rPr>
              <a:t>Cost of the run: 0.000249196 ETH of testnet fees; a payment uses about 330,604 gas. Bounds: docs/design/spec.md 2.5-2.6, config/policy.yaml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3000" b="1">
                <a:solidFill>
                  <a:srgbClr val="FFFFFF"/>
                </a:solidFill>
                <a:latin typeface="Arial"/>
              </a:rPr>
              <a:t>Related work, and what is new</a:t>
            </a:r>
          </a:p>
        </p:txBody>
      </p:sp>
      <p:sp>
        <p:nvSpPr>
          <p:cNvPr id="3" name="Rounded Rectangle 2"/>
          <p:cNvSpPr/>
          <p:nvPr/>
        </p:nvSpPr>
        <p:spPr>
          <a:xfrm>
            <a:off x="548640" y="1261872"/>
            <a:ext cx="5440680" cy="1481328"/>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36576" bIns="36576">
            <a:noAutofit/>
          </a:bodyPr>
          <a:lstStyle/>
          <a:p>
            <a:pPr algn="l">
              <a:lnSpc>
                <a:spcPct val="100000"/>
              </a:lnSpc>
              <a:spcAft>
                <a:spcPts val="300"/>
              </a:spcAft>
            </a:pPr>
            <a:r>
              <a:rPr sz="1800" b="1">
                <a:solidFill>
                  <a:srgbClr val="5B6075"/>
                </a:solidFill>
                <a:latin typeface="Arial"/>
              </a:rPr>
              <a:t>Not new</a:t>
            </a:r>
          </a:p>
          <a:p>
            <a:pPr algn="l" marL="256032" indent="-256032">
              <a:lnSpc>
                <a:spcPct val="100000"/>
              </a:lnSpc>
              <a:spcAft>
                <a:spcPts val="300"/>
              </a:spcAft>
              <a:buClr>
                <a:srgbClr val="6779C6"/>
              </a:buClr>
              <a:buFont typeface="Arial"/>
              <a:buChar char="•"/>
            </a:pPr>
            <a:r>
              <a:rPr sz="1600" b="0">
                <a:solidFill>
                  <a:srgbClr val="1E2235"/>
                </a:solidFill>
                <a:latin typeface="Arial"/>
              </a:rPr>
              <a:t>A trust score that gates an agent's spending</a:t>
            </a:r>
          </a:p>
          <a:p>
            <a:pPr algn="l" marL="256032" indent="-256032">
              <a:lnSpc>
                <a:spcPct val="100000"/>
              </a:lnSpc>
              <a:spcAft>
                <a:spcPts val="0"/>
              </a:spcAft>
              <a:buClr>
                <a:srgbClr val="6779C6"/>
              </a:buClr>
              <a:buFont typeface="Arial"/>
              <a:buChar char="•"/>
            </a:pPr>
            <a:r>
              <a:rPr sz="1600" b="0">
                <a:solidFill>
                  <a:srgbClr val="1E2235"/>
                </a:solidFill>
                <a:latin typeface="Arial"/>
              </a:rPr>
              <a:t>Deterministic policy, tiers or earned autonomy in 2026 entries</a:t>
            </a:r>
          </a:p>
        </p:txBody>
      </p:sp>
      <p:sp>
        <p:nvSpPr>
          <p:cNvPr id="4" name="Rounded Rectangle 3"/>
          <p:cNvSpPr/>
          <p:nvPr/>
        </p:nvSpPr>
        <p:spPr>
          <a:xfrm>
            <a:off x="6172200" y="1261872"/>
            <a:ext cx="5440680" cy="1481328"/>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36576" bIns="36576">
            <a:noAutofit/>
          </a:bodyPr>
          <a:lstStyle/>
          <a:p>
            <a:pPr algn="l">
              <a:lnSpc>
                <a:spcPct val="100000"/>
              </a:lnSpc>
              <a:spcAft>
                <a:spcPts val="300"/>
              </a:spcAft>
            </a:pPr>
            <a:r>
              <a:rPr sz="1800" b="1">
                <a:solidFill>
                  <a:srgbClr val="0072B2"/>
                </a:solidFill>
                <a:latin typeface="Arial"/>
              </a:rPr>
              <a:t>New</a:t>
            </a:r>
          </a:p>
          <a:p>
            <a:pPr algn="l" marL="256032" indent="-256032">
              <a:lnSpc>
                <a:spcPct val="100000"/>
              </a:lnSpc>
              <a:spcAft>
                <a:spcPts val="300"/>
              </a:spcAft>
              <a:buClr>
                <a:srgbClr val="6779C6"/>
              </a:buClr>
              <a:buFont typeface="Arial"/>
              <a:buChar char="•"/>
            </a:pPr>
            <a:r>
              <a:rPr sz="1600" b="0">
                <a:solidFill>
                  <a:srgbClr val="1E2235"/>
                </a:solidFill>
                <a:latin typeface="Arial"/>
              </a:rPr>
              <a:t>Counterparty grades only from verifiable settlement outcomes, recomputable by anyone</a:t>
            </a:r>
          </a:p>
          <a:p>
            <a:pPr algn="l" marL="256032" indent="-256032">
              <a:lnSpc>
                <a:spcPct val="100000"/>
              </a:lnSpc>
              <a:spcAft>
                <a:spcPts val="0"/>
              </a:spcAft>
              <a:buClr>
                <a:srgbClr val="6779C6"/>
              </a:buClr>
              <a:buFont typeface="Arial"/>
              <a:buChar char="•"/>
            </a:pPr>
            <a:r>
              <a:rPr sz="1600" b="0">
                <a:solidFill>
                  <a:srgbClr val="1E2235"/>
                </a:solidFill>
                <a:latin typeface="Arial"/>
              </a:rPr>
              <a:t>The wallet's autonomy earned and lost on-chain from its own violations</a:t>
            </a:r>
          </a:p>
        </p:txBody>
      </p:sp>
      <p:graphicFrame>
        <p:nvGraphicFramePr>
          <p:cNvPr id="5" name="Table 4"/>
          <p:cNvGraphicFramePr>
            <a:graphicFrameLocks noGrp="1"/>
          </p:cNvGraphicFramePr>
          <p:nvPr/>
        </p:nvGraphicFramePr>
        <p:xfrm>
          <a:off x="548640" y="2852928"/>
          <a:ext cx="11091672" cy="2432304"/>
        </p:xfrm>
        <a:graphic>
          <a:graphicData uri="http://schemas.openxmlformats.org/drawingml/2006/table">
            <a:tbl>
              <a:tblPr firstRow="0" bandRow="0">
                <a:tableStyleId>{5C22544A-7EE6-4342-B048-85BDC9FD1C3A}</a:tableStyleId>
              </a:tblPr>
              <a:tblGrid>
                <a:gridCol w="3429000"/>
                <a:gridCol w="3749040"/>
                <a:gridCol w="3913632"/>
              </a:tblGrid>
              <a:tr h="329184">
                <a:tc>
                  <a:txBody>
                    <a:bodyPr wrap="square"/>
                    <a:lstStyle/>
                    <a:p>
                      <a:pPr algn="l"/>
                      <a:r>
                        <a:rPr sz="1300" b="1">
                          <a:solidFill>
                            <a:srgbClr val="FFFFFF"/>
                          </a:solidFill>
                          <a:latin typeface="Arial"/>
                        </a:rPr>
                        <a:t>Work</a:t>
                      </a:r>
                    </a:p>
                  </a:txBody>
                  <a:tcPr marL="54864" marR="54864" marT="27432" marB="27432" anchor="ctr">
                    <a:solidFill>
                      <a:srgbClr val="3F4C9E"/>
                    </a:solidFill>
                  </a:tcPr>
                </a:tc>
                <a:tc>
                  <a:txBody>
                    <a:bodyPr wrap="square"/>
                    <a:lstStyle/>
                    <a:p>
                      <a:pPr algn="l"/>
                      <a:r>
                        <a:rPr sz="1300" b="1">
                          <a:solidFill>
                            <a:srgbClr val="FFFFFF"/>
                          </a:solidFill>
                          <a:latin typeface="Arial"/>
                        </a:rPr>
                        <a:t>What it has</a:t>
                      </a:r>
                    </a:p>
                  </a:txBody>
                  <a:tcPr marL="54864" marR="54864" marT="27432" marB="27432" anchor="ctr">
                    <a:solidFill>
                      <a:srgbClr val="3F4C9E"/>
                    </a:solidFill>
                  </a:tcPr>
                </a:tc>
                <a:tc>
                  <a:txBody>
                    <a:bodyPr wrap="square"/>
                    <a:lstStyle/>
                    <a:p>
                      <a:pPr algn="l"/>
                      <a:r>
                        <a:rPr sz="1300" b="1">
                          <a:solidFill>
                            <a:srgbClr val="FFFFFF"/>
                          </a:solidFill>
                          <a:latin typeface="Arial"/>
                        </a:rPr>
                        <a:t>What we add</a:t>
                      </a:r>
                    </a:p>
                  </a:txBody>
                  <a:tcPr marL="54864" marR="54864" marT="27432" marB="27432" anchor="ctr">
                    <a:solidFill>
                      <a:srgbClr val="3F4C9E"/>
                    </a:solidFill>
                  </a:tcPr>
                </a:tc>
              </a:tr>
              <a:tr h="420624">
                <a:tc>
                  <a:txBody>
                    <a:bodyPr wrap="square"/>
                    <a:lstStyle/>
                    <a:p>
                      <a:pPr algn="l"/>
                      <a:r>
                        <a:rPr sz="1300" b="0">
                          <a:solidFill>
                            <a:srgbClr val="1E2235"/>
                          </a:solidFill>
                          <a:latin typeface="Arial"/>
                        </a:rPr>
                        <a:t>Leash (Base Sepolia)</a:t>
                      </a:r>
                    </a:p>
                  </a:txBody>
                  <a:tcPr marL="54864" marR="54864" marT="27432" marB="27432" anchor="ctr">
                    <a:solidFill>
                      <a:srgbClr val="FFFFFF"/>
                    </a:solidFill>
                  </a:tcPr>
                </a:tc>
                <a:tc>
                  <a:txBody>
                    <a:bodyPr wrap="square"/>
                    <a:lstStyle/>
                    <a:p>
                      <a:pPr algn="l"/>
                      <a:r>
                        <a:rPr sz="1300" b="0">
                          <a:solidFill>
                            <a:srgbClr val="1E2235"/>
                          </a:solidFill>
                          <a:latin typeface="Arial"/>
                        </a:rPr>
                        <a:t>LLM is not the security boundary; tiers; 30 counted attacks</a:t>
                      </a:r>
                    </a:p>
                  </a:txBody>
                  <a:tcPr marL="54864" marR="54864" marT="27432" marB="27432" anchor="ctr">
                    <a:solidFill>
                      <a:srgbClr val="FFFFFF"/>
                    </a:solidFill>
                  </a:tcPr>
                </a:tc>
                <a:tc>
                  <a:txBody>
                    <a:bodyPr wrap="square"/>
                    <a:lstStyle/>
                    <a:p>
                      <a:pPr algn="l"/>
                      <a:r>
                        <a:rPr sz="1300" b="0">
                          <a:solidFill>
                            <a:srgbClr val="1E2235"/>
                          </a:solidFill>
                          <a:latin typeface="Arial"/>
                        </a:rPr>
                        <a:t>Counterparty grades that change the decision; tiers that move by formula on-chain</a:t>
                      </a:r>
                    </a:p>
                  </a:txBody>
                  <a:tcPr marL="54864" marR="54864" marT="27432" marB="27432" anchor="ctr">
                    <a:solidFill>
                      <a:srgbClr val="FFFFFF"/>
                    </a:solidFill>
                  </a:tcPr>
                </a:tc>
              </a:tr>
              <a:tr h="420624">
                <a:tc>
                  <a:txBody>
                    <a:bodyPr wrap="square"/>
                    <a:lstStyle/>
                    <a:p>
                      <a:pPr algn="l"/>
                      <a:r>
                        <a:rPr sz="1300" b="0">
                          <a:solidFill>
                            <a:srgbClr val="1E2235"/>
                          </a:solidFill>
                          <a:latin typeface="Arial"/>
                        </a:rPr>
                        <a:t>agentic-wallet (Base Sepolia)</a:t>
                      </a:r>
                    </a:p>
                  </a:txBody>
                  <a:tcPr marL="54864" marR="54864" marT="27432" marB="27432" anchor="ctr">
                    <a:solidFill>
                      <a:srgbClr val="F7F8FC"/>
                    </a:solidFill>
                  </a:tcPr>
                </a:tc>
                <a:tc>
                  <a:txBody>
                    <a:bodyPr wrap="square"/>
                    <a:lstStyle/>
                    <a:p>
                      <a:pPr algn="l"/>
                      <a:r>
                        <a:rPr sz="1300" b="0">
                          <a:solidFill>
                            <a:srgbClr val="1E2235"/>
                          </a:solidFill>
                          <a:latin typeface="Arial"/>
                        </a:rPr>
                        <a:t>Scoped expiring session key; tiers with emergency pause</a:t>
                      </a:r>
                    </a:p>
                  </a:txBody>
                  <a:tcPr marL="54864" marR="54864" marT="27432" marB="27432" anchor="ctr">
                    <a:solidFill>
                      <a:srgbClr val="F7F8FC"/>
                    </a:solidFill>
                  </a:tcPr>
                </a:tc>
                <a:tc>
                  <a:txBody>
                    <a:bodyPr wrap="square"/>
                    <a:lstStyle/>
                    <a:p>
                      <a:pPr algn="l"/>
                      <a:r>
                        <a:rPr sz="1300" b="0">
                          <a:solidFill>
                            <a:srgbClr val="1E2235"/>
                          </a:solidFill>
                          <a:latin typeface="Arial"/>
                        </a:rPr>
                        <a:t>Autonomy earned and lost from the agent's own violations, enforced by the vault</a:t>
                      </a:r>
                    </a:p>
                  </a:txBody>
                  <a:tcPr marL="54864" marR="54864" marT="27432" marB="27432" anchor="ctr">
                    <a:solidFill>
                      <a:srgbClr val="F7F8FC"/>
                    </a:solidFill>
                  </a:tcPr>
                </a:tc>
              </a:tr>
              <a:tr h="420624">
                <a:tc>
                  <a:txBody>
                    <a:bodyPr wrap="square"/>
                    <a:lstStyle/>
                    <a:p>
                      <a:pPr algn="l"/>
                      <a:r>
                        <a:rPr sz="1300" b="0">
                          <a:solidFill>
                            <a:srgbClr val="1E2235"/>
                          </a:solidFill>
                          <a:latin typeface="Arial"/>
                        </a:rPr>
                        <a:t>ReceivableOS (FISCO BCOS)</a:t>
                      </a:r>
                    </a:p>
                  </a:txBody>
                  <a:tcPr marL="54864" marR="54864" marT="27432" marB="27432" anchor="ctr">
                    <a:solidFill>
                      <a:srgbClr val="FFFFFF"/>
                    </a:solidFill>
                  </a:tcPr>
                </a:tc>
                <a:tc>
                  <a:txBody>
                    <a:bodyPr wrap="square"/>
                    <a:lstStyle/>
                    <a:p>
                      <a:pPr algn="l"/>
                      <a:r>
                        <a:rPr sz="1300" b="0">
                          <a:solidFill>
                            <a:srgbClr val="1E2235"/>
                          </a:solidFill>
                          <a:latin typeface="Arial"/>
                        </a:rPr>
                        <a:t>"AI proposes; the policy guard decides"</a:t>
                      </a:r>
                    </a:p>
                  </a:txBody>
                  <a:tcPr marL="54864" marR="54864" marT="27432" marB="27432" anchor="ctr">
                    <a:solidFill>
                      <a:srgbClr val="FFFFFF"/>
                    </a:solidFill>
                  </a:tcPr>
                </a:tc>
                <a:tc>
                  <a:txBody>
                    <a:bodyPr wrap="square"/>
                    <a:lstStyle/>
                    <a:p>
                      <a:pPr algn="l"/>
                      <a:r>
                        <a:rPr sz="1300" b="0">
                          <a:solidFill>
                            <a:srgbClr val="1E2235"/>
                          </a:solidFill>
                          <a:latin typeface="Arial"/>
                        </a:rPr>
                        <a:t>Counterparty grades and an on-chain tier on top of that split</a:t>
                      </a:r>
                    </a:p>
                  </a:txBody>
                  <a:tcPr marL="54864" marR="54864" marT="27432" marB="27432" anchor="ctr">
                    <a:solidFill>
                      <a:srgbClr val="FFFFFF"/>
                    </a:solidFill>
                  </a:tcPr>
                </a:tc>
              </a:tr>
              <a:tr h="420624">
                <a:tc>
                  <a:txBody>
                    <a:bodyPr wrap="square"/>
                    <a:lstStyle/>
                    <a:p>
                      <a:pPr algn="l"/>
                      <a:r>
                        <a:rPr sz="1300" b="0">
                          <a:solidFill>
                            <a:srgbClr val="1E2235"/>
                          </a:solidFill>
                          <a:latin typeface="Arial"/>
                        </a:rPr>
                        <a:t>DuitDuit (Topic E)</a:t>
                      </a:r>
                    </a:p>
                  </a:txBody>
                  <a:tcPr marL="54864" marR="54864" marT="27432" marB="27432" anchor="ctr">
                    <a:solidFill>
                      <a:srgbClr val="F7F8FC"/>
                    </a:solidFill>
                  </a:tcPr>
                </a:tc>
                <a:tc>
                  <a:txBody>
                    <a:bodyPr wrap="square"/>
                    <a:lstStyle/>
                    <a:p>
                      <a:pPr algn="l"/>
                      <a:r>
                        <a:rPr sz="1300" b="0">
                          <a:solidFill>
                            <a:srgbClr val="1E2235"/>
                          </a:solidFill>
                          <a:latin typeface="Arial"/>
                        </a:rPr>
                        <a:t>"Earned autonomy" from an approval record</a:t>
                      </a:r>
                    </a:p>
                  </a:txBody>
                  <a:tcPr marL="54864" marR="54864" marT="27432" marB="27432" anchor="ctr">
                    <a:solidFill>
                      <a:srgbClr val="F7F8FC"/>
                    </a:solidFill>
                  </a:tcPr>
                </a:tc>
                <a:tc>
                  <a:txBody>
                    <a:bodyPr wrap="square"/>
                    <a:lstStyle/>
                    <a:p>
                      <a:pPr algn="l"/>
                      <a:r>
                        <a:rPr sz="1300" b="0">
                          <a:solidFill>
                            <a:srgbClr val="1E2235"/>
                          </a:solidFill>
                          <a:latin typeface="Arial"/>
                        </a:rPr>
                        <a:t>Autonomy driven by violations, including "the LLM proposed what the policy blocked"</a:t>
                      </a:r>
                    </a:p>
                  </a:txBody>
                  <a:tcPr marL="54864" marR="54864" marT="27432" marB="27432" anchor="ctr">
                    <a:solidFill>
                      <a:srgbClr val="F7F8FC"/>
                    </a:solidFill>
                  </a:tcPr>
                </a:tc>
              </a:tr>
              <a:tr h="420624">
                <a:tc>
                  <a:txBody>
                    <a:bodyPr wrap="square"/>
                    <a:lstStyle/>
                    <a:p>
                      <a:pPr algn="l"/>
                      <a:r>
                        <a:rPr sz="1300" b="0">
                          <a:solidFill>
                            <a:srgbClr val="1E2235"/>
                          </a:solidFill>
                          <a:latin typeface="Arial"/>
                        </a:rPr>
                        <a:t>Trust-score gating (Triage-OWS, AsterPay KYA, DJD Agent Score, Ant International)</a:t>
                      </a:r>
                    </a:p>
                  </a:txBody>
                  <a:tcPr marL="54864" marR="54864" marT="27432" marB="27432" anchor="ctr">
                    <a:solidFill>
                      <a:srgbClr val="FFFFFF"/>
                    </a:solidFill>
                  </a:tcPr>
                </a:tc>
                <a:tc>
                  <a:txBody>
                    <a:bodyPr wrap="square"/>
                    <a:lstStyle/>
                    <a:p>
                      <a:pPr algn="l"/>
                      <a:r>
                        <a:rPr sz="1300" b="0">
                          <a:solidFill>
                            <a:srgbClr val="1E2235"/>
                          </a:solidFill>
                          <a:latin typeface="Arial"/>
                        </a:rPr>
                        <a:t>A score sets spending limits</a:t>
                      </a:r>
                    </a:p>
                  </a:txBody>
                  <a:tcPr marL="54864" marR="54864" marT="27432" marB="27432" anchor="ctr">
                    <a:solidFill>
                      <a:srgbClr val="FFFFFF"/>
                    </a:solidFill>
                  </a:tcPr>
                </a:tc>
                <a:tc>
                  <a:txBody>
                    <a:bodyPr wrap="square"/>
                    <a:lstStyle/>
                    <a:p>
                      <a:pPr algn="l"/>
                      <a:r>
                        <a:rPr sz="1300" b="0">
                          <a:solidFill>
                            <a:srgbClr val="1E2235"/>
                          </a:solidFill>
                          <a:latin typeface="Arial"/>
                        </a:rPr>
                        <a:t>Public, versioned, evidence-hashed grades of counterparties, enforced by a contract</a:t>
                      </a:r>
                    </a:p>
                  </a:txBody>
                  <a:tcPr marL="54864" marR="54864" marT="27432" marB="27432" anchor="ctr">
                    <a:solidFill>
                      <a:srgbClr val="FFFFFF"/>
                    </a:solidFill>
                  </a:tcPr>
                </a:tc>
              </a:tr>
            </a:tbl>
          </a:graphicData>
        </a:graphic>
      </p:graphicFrame>
      <p:sp>
        <p:nvSpPr>
          <p:cNvPr id="6" name="TextBox 5"/>
          <p:cNvSpPr txBox="1"/>
          <p:nvPr/>
        </p:nvSpPr>
        <p:spPr>
          <a:xfrm>
            <a:off x="457200" y="5669280"/>
            <a:ext cx="11247120" cy="603504"/>
          </a:xfrm>
          <a:prstGeom prst="rect">
            <a:avLst/>
          </a:prstGeom>
          <a:noFill/>
        </p:spPr>
        <p:txBody>
          <a:bodyPr wrap="square" lIns="73152" rIns="73152" tIns="36576" bIns="36576" anchor="t">
            <a:noAutofit/>
          </a:bodyPr>
          <a:lstStyle/>
          <a:p>
            <a:pPr algn="l">
              <a:lnSpc>
                <a:spcPct val="100000"/>
              </a:lnSpc>
              <a:spcAft>
                <a:spcPts val="0"/>
              </a:spcAft>
            </a:pPr>
            <a:r>
              <a:rPr sz="1500" b="1">
                <a:solidFill>
                  <a:srgbClr val="3F4C9E"/>
                </a:solidFill>
                <a:latin typeface="Arial"/>
              </a:rPr>
              <a:t>Our narrow claim: shared on-chain behaviour grades for agents, from outcomes anyone can verify, that change both whom a wallet pays and how much freedom the wallet itself has.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3000" b="1">
                <a:solidFill>
                  <a:srgbClr val="FFFFFF"/>
                </a:solidFill>
                <a:latin typeface="Arial"/>
              </a:rPr>
              <a:t>On-chain exploration (bonus)</a:t>
            </a:r>
          </a:p>
        </p:txBody>
      </p:sp>
      <p:sp>
        <p:nvSpPr>
          <p:cNvPr id="3" name="Oval 2"/>
          <p:cNvSpPr/>
          <p:nvPr/>
        </p:nvSpPr>
        <p:spPr>
          <a:xfrm>
            <a:off x="548640" y="1435608"/>
            <a:ext cx="548640" cy="548640"/>
          </a:xfrm>
          <a:prstGeom prst="ellipse">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lnSpc>
                <a:spcPct val="100000"/>
              </a:lnSpc>
              <a:spcAft>
                <a:spcPts val="0"/>
              </a:spcAft>
            </a:pPr>
            <a:r>
              <a:rPr sz="1800" b="1">
                <a:solidFill>
                  <a:srgbClr val="FFFFFF"/>
                </a:solidFill>
                <a:latin typeface="Arial"/>
              </a:rPr>
              <a:t>1</a:t>
            </a:r>
          </a:p>
        </p:txBody>
      </p:sp>
      <p:sp>
        <p:nvSpPr>
          <p:cNvPr id="4" name="Rounded Rectangle 3"/>
          <p:cNvSpPr/>
          <p:nvPr/>
        </p:nvSpPr>
        <p:spPr>
          <a:xfrm>
            <a:off x="1234440" y="1325880"/>
            <a:ext cx="5852160" cy="82296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noAutofit/>
          </a:bodyPr>
          <a:lstStyle/>
          <a:p>
            <a:pPr algn="l">
              <a:lnSpc>
                <a:spcPct val="100000"/>
              </a:lnSpc>
              <a:spcAft>
                <a:spcPts val="0"/>
              </a:spcAft>
            </a:pPr>
            <a:r>
              <a:rPr sz="1800" b="0">
                <a:solidFill>
                  <a:srgbClr val="1E2235"/>
                </a:solidFill>
                <a:latin typeface="Arial"/>
              </a:rPr>
              <a:t>Official ERC-8004 registries (Draft standard); implementations pinned and checked in S0</a:t>
            </a:r>
          </a:p>
        </p:txBody>
      </p:sp>
      <p:sp>
        <p:nvSpPr>
          <p:cNvPr id="5" name="Oval 4"/>
          <p:cNvSpPr/>
          <p:nvPr/>
        </p:nvSpPr>
        <p:spPr>
          <a:xfrm>
            <a:off x="548640" y="2441448"/>
            <a:ext cx="548640" cy="548640"/>
          </a:xfrm>
          <a:prstGeom prst="ellipse">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lnSpc>
                <a:spcPct val="100000"/>
              </a:lnSpc>
              <a:spcAft>
                <a:spcPts val="0"/>
              </a:spcAft>
            </a:pPr>
            <a:r>
              <a:rPr sz="1800" b="1">
                <a:solidFill>
                  <a:srgbClr val="FFFFFF"/>
                </a:solidFill>
                <a:latin typeface="Arial"/>
              </a:rPr>
              <a:t>2</a:t>
            </a:r>
          </a:p>
        </p:txBody>
      </p:sp>
      <p:sp>
        <p:nvSpPr>
          <p:cNvPr id="6" name="Rounded Rectangle 5"/>
          <p:cNvSpPr/>
          <p:nvPr/>
        </p:nvSpPr>
        <p:spPr>
          <a:xfrm>
            <a:off x="1234440" y="2331720"/>
            <a:ext cx="5852160" cy="82296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noAutofit/>
          </a:bodyPr>
          <a:lstStyle/>
          <a:p>
            <a:pPr algn="l">
              <a:lnSpc>
                <a:spcPct val="100000"/>
              </a:lnSpc>
              <a:spcAft>
                <a:spcPts val="0"/>
              </a:spcAft>
            </a:pPr>
            <a:r>
              <a:rPr sz="1800" b="0">
                <a:solidFill>
                  <a:srgbClr val="1E2235"/>
                </a:solidFill>
                <a:latin typeface="Arial"/>
              </a:rPr>
              <a:t>Permissionless recompute: </a:t>
            </a:r>
            <a:r>
              <a:rPr sz="1800" b="0">
                <a:solidFill>
                  <a:srgbClr val="1E2235"/>
                </a:solidFill>
                <a:latin typeface="Courier New"/>
              </a:rPr>
              <a:t>acb bureau recompute --tx &lt;hash&gt;</a:t>
            </a:r>
          </a:p>
        </p:txBody>
      </p:sp>
      <p:sp>
        <p:nvSpPr>
          <p:cNvPr id="7" name="Oval 6"/>
          <p:cNvSpPr/>
          <p:nvPr/>
        </p:nvSpPr>
        <p:spPr>
          <a:xfrm>
            <a:off x="548640" y="3447288"/>
            <a:ext cx="548640" cy="548640"/>
          </a:xfrm>
          <a:prstGeom prst="ellipse">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lnSpc>
                <a:spcPct val="100000"/>
              </a:lnSpc>
              <a:spcAft>
                <a:spcPts val="0"/>
              </a:spcAft>
            </a:pPr>
            <a:r>
              <a:rPr sz="1800" b="1">
                <a:solidFill>
                  <a:srgbClr val="FFFFFF"/>
                </a:solidFill>
                <a:latin typeface="Arial"/>
              </a:rPr>
              <a:t>3</a:t>
            </a:r>
          </a:p>
        </p:txBody>
      </p:sp>
      <p:sp>
        <p:nvSpPr>
          <p:cNvPr id="8" name="Rounded Rectangle 7"/>
          <p:cNvSpPr/>
          <p:nvPr/>
        </p:nvSpPr>
        <p:spPr>
          <a:xfrm>
            <a:off x="1234440" y="3337560"/>
            <a:ext cx="5852160" cy="82296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noAutofit/>
          </a:bodyPr>
          <a:lstStyle/>
          <a:p>
            <a:pPr algn="l">
              <a:lnSpc>
                <a:spcPct val="100000"/>
              </a:lnSpc>
              <a:spcAft>
                <a:spcPts val="0"/>
              </a:spcAft>
            </a:pPr>
            <a:r>
              <a:rPr sz="1800" b="0">
                <a:solidFill>
                  <a:srgbClr val="1E2235"/>
                </a:solidFill>
                <a:latin typeface="Arial"/>
              </a:rPr>
              <a:t>Vault registry bound to code and config (BadVaultCode, BadVaultConfig)</a:t>
            </a:r>
          </a:p>
        </p:txBody>
      </p:sp>
      <p:sp>
        <p:nvSpPr>
          <p:cNvPr id="9" name="Oval 8"/>
          <p:cNvSpPr/>
          <p:nvPr/>
        </p:nvSpPr>
        <p:spPr>
          <a:xfrm>
            <a:off x="548640" y="4453128"/>
            <a:ext cx="548640" cy="548640"/>
          </a:xfrm>
          <a:prstGeom prst="ellipse">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lnSpc>
                <a:spcPct val="100000"/>
              </a:lnSpc>
              <a:spcAft>
                <a:spcPts val="0"/>
              </a:spcAft>
            </a:pPr>
            <a:r>
              <a:rPr sz="1800" b="1">
                <a:solidFill>
                  <a:srgbClr val="FFFFFF"/>
                </a:solidFill>
                <a:latin typeface="Arial"/>
              </a:rPr>
              <a:t>4</a:t>
            </a:r>
          </a:p>
        </p:txBody>
      </p:sp>
      <p:sp>
        <p:nvSpPr>
          <p:cNvPr id="10" name="Rounded Rectangle 9"/>
          <p:cNvSpPr/>
          <p:nvPr/>
        </p:nvSpPr>
        <p:spPr>
          <a:xfrm>
            <a:off x="1234440" y="4343400"/>
            <a:ext cx="5852160" cy="822960"/>
          </a:xfrm>
          <a:prstGeom prst="roundRect">
            <a:avLst>
              <a:gd name="adj" fmla="val 6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noAutofit/>
          </a:bodyPr>
          <a:lstStyle/>
          <a:p>
            <a:pPr algn="l">
              <a:lnSpc>
                <a:spcPct val="100000"/>
              </a:lnSpc>
              <a:spcAft>
                <a:spcPts val="0"/>
              </a:spcAft>
            </a:pPr>
            <a:r>
              <a:rPr sz="1800" b="0">
                <a:solidFill>
                  <a:srgbClr val="1E2235"/>
                </a:solidFill>
                <a:latin typeface="Arial"/>
              </a:rPr>
              <a:t>Delayed grade upgrades; on-chain mandates with pinned payout wallets</a:t>
            </a:r>
          </a:p>
        </p:txBody>
      </p:sp>
      <p:sp>
        <p:nvSpPr>
          <p:cNvPr id="11" name="Rounded Rectangle 10"/>
          <p:cNvSpPr/>
          <p:nvPr/>
        </p:nvSpPr>
        <p:spPr>
          <a:xfrm>
            <a:off x="7406640" y="1280160"/>
            <a:ext cx="4251960" cy="3611880"/>
          </a:xfrm>
          <a:prstGeom prst="roundRect">
            <a:avLst>
              <a:gd name="adj" fmla="val 3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43800" y="1371600"/>
            <a:ext cx="4023360" cy="411480"/>
          </a:xfrm>
          <a:prstGeom prst="rect">
            <a:avLst/>
          </a:prstGeom>
          <a:noFill/>
        </p:spPr>
        <p:txBody>
          <a:bodyPr wrap="square" lIns="73152" rIns="73152" tIns="36576" bIns="36576" anchor="t">
            <a:noAutofit/>
          </a:bodyPr>
          <a:lstStyle/>
          <a:p>
            <a:pPr algn="l">
              <a:lnSpc>
                <a:spcPct val="100000"/>
              </a:lnSpc>
              <a:spcAft>
                <a:spcPts val="0"/>
              </a:spcAft>
            </a:pPr>
            <a:r>
              <a:rPr sz="1800" b="1">
                <a:solidFill>
                  <a:srgbClr val="3F4C9E"/>
                </a:solidFill>
                <a:latin typeface="Arial"/>
              </a:rPr>
              <a:t>Permissionless recompute</a:t>
            </a:r>
          </a:p>
        </p:txBody>
      </p:sp>
      <p:sp>
        <p:nvSpPr>
          <p:cNvPr id="13" name="TextBox 12"/>
          <p:cNvSpPr txBox="1"/>
          <p:nvPr/>
        </p:nvSpPr>
        <p:spPr>
          <a:xfrm>
            <a:off x="7543800" y="1874520"/>
            <a:ext cx="4023360" cy="1005840"/>
          </a:xfrm>
          <a:prstGeom prst="rect">
            <a:avLst/>
          </a:prstGeom>
          <a:noFill/>
        </p:spPr>
        <p:txBody>
          <a:bodyPr wrap="square" lIns="73152" rIns="73152" tIns="36576" bIns="36576" anchor="ctr">
            <a:noAutofit/>
          </a:bodyPr>
          <a:lstStyle/>
          <a:p>
            <a:pPr algn="ctr">
              <a:lnSpc>
                <a:spcPct val="100000"/>
              </a:lnSpc>
              <a:spcAft>
                <a:spcPts val="0"/>
              </a:spcAft>
            </a:pPr>
            <a:r>
              <a:rPr sz="5400" b="1">
                <a:solidFill>
                  <a:srgbClr val="0072B2"/>
                </a:solidFill>
                <a:latin typeface="Arial"/>
              </a:rPr>
              <a:t>22 / 22</a:t>
            </a:r>
          </a:p>
        </p:txBody>
      </p:sp>
      <p:sp>
        <p:nvSpPr>
          <p:cNvPr id="14" name="TextBox 13"/>
          <p:cNvSpPr txBox="1"/>
          <p:nvPr/>
        </p:nvSpPr>
        <p:spPr>
          <a:xfrm>
            <a:off x="7543800" y="2880360"/>
            <a:ext cx="4023360" cy="640080"/>
          </a:xfrm>
          <a:prstGeom prst="rect">
            <a:avLst/>
          </a:prstGeom>
          <a:noFill/>
        </p:spPr>
        <p:txBody>
          <a:bodyPr wrap="square" lIns="73152" rIns="73152" tIns="36576" bIns="36576" anchor="t">
            <a:noAutofit/>
          </a:bodyPr>
          <a:lstStyle/>
          <a:p>
            <a:pPr algn="ctr">
              <a:lnSpc>
                <a:spcPct val="100000"/>
              </a:lnSpc>
              <a:spcAft>
                <a:spcPts val="0"/>
              </a:spcAft>
            </a:pPr>
            <a:r>
              <a:rPr sz="1500" b="0">
                <a:solidFill>
                  <a:srgbClr val="1E2235"/>
                </a:solidFill>
                <a:latin typeface="Arial"/>
              </a:rPr>
              <a:t>grade changes recompute to MATCH from public logs and the published evidence files</a:t>
            </a:r>
          </a:p>
        </p:txBody>
      </p:sp>
      <p:sp>
        <p:nvSpPr>
          <p:cNvPr id="15" name="Rounded Rectangle 14"/>
          <p:cNvSpPr/>
          <p:nvPr/>
        </p:nvSpPr>
        <p:spPr>
          <a:xfrm>
            <a:off x="7589520" y="3794760"/>
            <a:ext cx="3886200" cy="868680"/>
          </a:xfrm>
          <a:prstGeom prst="roundRect">
            <a:avLst>
              <a:gd name="adj" fmla="val 8000"/>
            </a:avLst>
          </a:prstGeom>
          <a:solidFill>
            <a:srgbClr val="1E2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noAutofit/>
          </a:bodyPr>
          <a:lstStyle/>
          <a:p>
            <a:pPr algn="l">
              <a:lnSpc>
                <a:spcPct val="100000"/>
              </a:lnSpc>
              <a:spcAft>
                <a:spcPts val="200"/>
              </a:spcAft>
            </a:pPr>
            <a:r>
              <a:rPr sz="1300" b="0">
                <a:solidFill>
                  <a:srgbClr val="E6E8F2"/>
                </a:solidFill>
                <a:latin typeface="Courier New"/>
              </a:rPr>
              <a:t>$ acb bureau recompute --tx &lt;hash&gt;</a:t>
            </a:r>
          </a:p>
          <a:p>
            <a:pPr algn="l">
              <a:lnSpc>
                <a:spcPct val="100000"/>
              </a:lnSpc>
              <a:spcAft>
                <a:spcPts val="0"/>
              </a:spcAft>
            </a:pPr>
            <a:r>
              <a:rPr sz="1300" b="1">
                <a:solidFill>
                  <a:srgbClr val="009E73"/>
                </a:solidFill>
                <a:latin typeface="Courier New"/>
              </a:rPr>
              <a:t>MATCH</a:t>
            </a:r>
          </a:p>
        </p:txBody>
      </p:sp>
      <p:sp>
        <p:nvSpPr>
          <p:cNvPr id="16" name="Footer"/>
          <p:cNvSpPr txBox="1"/>
          <p:nvPr/>
        </p:nvSpPr>
        <p:spPr>
          <a:xfrm>
            <a:off x="457200" y="6272784"/>
            <a:ext cx="11292840" cy="347472"/>
          </a:xfrm>
          <a:prstGeom prst="rect">
            <a:avLst/>
          </a:prstGeom>
          <a:noFill/>
        </p:spPr>
        <p:txBody>
          <a:bodyPr wrap="square" lIns="73152" rIns="73152" tIns="36576" bIns="36576" anchor="t">
            <a:noAutofit/>
          </a:bodyPr>
          <a:lstStyle/>
          <a:p>
            <a:pPr algn="l">
              <a:lnSpc>
                <a:spcPct val="100000"/>
              </a:lnSpc>
              <a:spcAft>
                <a:spcPts val="0"/>
              </a:spcAft>
            </a:pPr>
            <a:r>
              <a:rPr sz="1200" b="0">
                <a:solidFill>
                  <a:srgbClr val="5B6075"/>
                </a:solidFill>
                <a:latin typeface="Arial"/>
              </a:rPr>
              <a:t>ERC-8004 version 2.0.0 checked at block 48228900; AgentCreditBureau </a:t>
            </a:r>
            <a:r>
              <a:rPr sz="1200" b="0" u="sng">
                <a:solidFill>
                  <a:srgbClr val="0072B2"/>
                </a:solidFill>
                <a:latin typeface="Arial"/>
                <a:hlinkClick r:id="rId2"/>
              </a:rPr>
              <a:t>0xd88f1f...4374</a:t>
            </a:r>
            <a:r>
              <a:rPr sz="1200" b="0">
                <a:solidFill>
                  <a:srgbClr val="5B6075"/>
                </a:solidFill>
                <a:latin typeface="Arial"/>
              </a:rPr>
              <a:t>; wallet vault </a:t>
            </a:r>
            <a:r>
              <a:rPr sz="1200" b="0" u="sng">
                <a:solidFill>
                  <a:srgbClr val="0072B2"/>
                </a:solidFill>
                <a:latin typeface="Arial"/>
                <a:hlinkClick r:id="rId3"/>
              </a:rPr>
              <a:t>0x16c7a9...12ad</a:t>
            </a:r>
            <a:r>
              <a:rPr sz="1200" b="0">
                <a:solidFill>
                  <a:srgbClr val="5B6075"/>
                </a:solidFill>
                <a:latin typeface="Arial"/>
              </a:rPr>
              <a:t>; upgrade delay 60 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3000" b="1">
                <a:solidFill>
                  <a:srgbClr val="FFFFFF"/>
                </a:solidFill>
                <a:latin typeface="Arial"/>
              </a:rPr>
              <a:t>Known limits, and what comes next</a:t>
            </a:r>
          </a:p>
        </p:txBody>
      </p:sp>
      <p:sp>
        <p:nvSpPr>
          <p:cNvPr id="3" name="Rounded Rectangle 2"/>
          <p:cNvSpPr/>
          <p:nvPr/>
        </p:nvSpPr>
        <p:spPr>
          <a:xfrm>
            <a:off x="548640" y="1325880"/>
            <a:ext cx="5440680" cy="3749040"/>
          </a:xfrm>
          <a:prstGeom prst="roundRect">
            <a:avLst>
              <a:gd name="adj" fmla="val 3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77240" y="1508760"/>
            <a:ext cx="457200" cy="457200"/>
          </a:xfrm>
          <a:prstGeom prst="ellipse">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lnSpc>
                <a:spcPct val="100000"/>
              </a:lnSpc>
              <a:spcAft>
                <a:spcPts val="0"/>
              </a:spcAft>
            </a:pPr>
            <a:r>
              <a:rPr sz="1800" b="1">
                <a:solidFill>
                  <a:srgbClr val="FFFFFF"/>
                </a:solidFill>
                <a:latin typeface="Arial"/>
              </a:rPr>
              <a:t>!</a:t>
            </a:r>
          </a:p>
        </p:txBody>
      </p:sp>
      <p:sp>
        <p:nvSpPr>
          <p:cNvPr id="5" name="TextBox 4"/>
          <p:cNvSpPr txBox="1"/>
          <p:nvPr/>
        </p:nvSpPr>
        <p:spPr>
          <a:xfrm>
            <a:off x="1371600" y="1481328"/>
            <a:ext cx="4389120" cy="512064"/>
          </a:xfrm>
          <a:prstGeom prst="rect">
            <a:avLst/>
          </a:prstGeom>
          <a:noFill/>
        </p:spPr>
        <p:txBody>
          <a:bodyPr wrap="square" lIns="73152" rIns="73152" tIns="36576" bIns="36576" anchor="ctr">
            <a:noAutofit/>
          </a:bodyPr>
          <a:lstStyle/>
          <a:p>
            <a:pPr algn="l">
              <a:lnSpc>
                <a:spcPct val="100000"/>
              </a:lnSpc>
              <a:spcAft>
                <a:spcPts val="0"/>
              </a:spcAft>
            </a:pPr>
            <a:r>
              <a:rPr sz="2200" b="1">
                <a:solidFill>
                  <a:srgbClr val="1E2235"/>
                </a:solidFill>
                <a:latin typeface="Arial"/>
              </a:rPr>
              <a:t>Known limits</a:t>
            </a:r>
          </a:p>
        </p:txBody>
      </p:sp>
      <p:sp>
        <p:nvSpPr>
          <p:cNvPr id="6" name="TextBox 5"/>
          <p:cNvSpPr txBox="1"/>
          <p:nvPr/>
        </p:nvSpPr>
        <p:spPr>
          <a:xfrm>
            <a:off x="777240" y="2194560"/>
            <a:ext cx="5029200" cy="2788920"/>
          </a:xfrm>
          <a:prstGeom prst="rect">
            <a:avLst/>
          </a:prstGeom>
          <a:noFill/>
        </p:spPr>
        <p:txBody>
          <a:bodyPr wrap="square" lIns="73152" rIns="73152" tIns="36576" bIns="36576" anchor="t">
            <a:noAutofit/>
          </a:bodyPr>
          <a:lstStyle/>
          <a:p>
            <a:pPr algn="l" marL="256032" indent="-256032">
              <a:lnSpc>
                <a:spcPct val="100000"/>
              </a:lnSpc>
              <a:spcAft>
                <a:spcPts val="1400"/>
              </a:spcAft>
              <a:buClr>
                <a:srgbClr val="6779C6"/>
              </a:buClr>
              <a:buFont typeface="Arial"/>
              <a:buChar char="•"/>
            </a:pPr>
            <a:r>
              <a:rPr sz="2200" b="0">
                <a:solidFill>
                  <a:srgbClr val="1E2235"/>
                </a:solidFill>
                <a:latin typeface="Arial"/>
              </a:rPr>
              <a:t>Testnet only, with simulated counterparties labelled as such</a:t>
            </a:r>
          </a:p>
          <a:p>
            <a:pPr algn="l" marL="256032" indent="-256032">
              <a:lnSpc>
                <a:spcPct val="100000"/>
              </a:lnSpc>
              <a:spcAft>
                <a:spcPts val="1400"/>
              </a:spcAft>
              <a:buClr>
                <a:srgbClr val="6779C6"/>
              </a:buClr>
              <a:buFont typeface="Arial"/>
              <a:buChar char="•"/>
            </a:pPr>
            <a:r>
              <a:rPr sz="2200" b="0">
                <a:solidFill>
                  <a:srgbClr val="1E2235"/>
                </a:solidFill>
                <a:latin typeface="Arial"/>
              </a:rPr>
              <a:t>One bureau poster key and one anchor, both chosen by us</a:t>
            </a:r>
          </a:p>
          <a:p>
            <a:pPr algn="l" marL="256032" indent="-256032">
              <a:lnSpc>
                <a:spcPct val="100000"/>
              </a:lnSpc>
              <a:spcAft>
                <a:spcPts val="0"/>
              </a:spcAft>
              <a:buClr>
                <a:srgbClr val="6779C6"/>
              </a:buClr>
              <a:buFont typeface="Arial"/>
              <a:buChar char="•"/>
            </a:pPr>
            <a:r>
              <a:rPr sz="2200" b="0">
                <a:solidFill>
                  <a:srgbClr val="1E2235"/>
                </a:solidFill>
                <a:latin typeface="Arial"/>
              </a:rPr>
              <a:t>The hijack steps use a scripted "naive" LLM</a:t>
            </a:r>
          </a:p>
        </p:txBody>
      </p:sp>
      <p:sp>
        <p:nvSpPr>
          <p:cNvPr id="7" name="Rounded Rectangle 6"/>
          <p:cNvSpPr/>
          <p:nvPr/>
        </p:nvSpPr>
        <p:spPr>
          <a:xfrm>
            <a:off x="6172200" y="1325880"/>
            <a:ext cx="5440680" cy="3749040"/>
          </a:xfrm>
          <a:prstGeom prst="roundRect">
            <a:avLst>
              <a:gd name="adj" fmla="val 3000"/>
            </a:avLst>
          </a:prstGeom>
          <a:solidFill>
            <a:srgbClr val="F2F4FB"/>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0" y="1508760"/>
            <a:ext cx="457200" cy="457200"/>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lnSpc>
                <a:spcPct val="100000"/>
              </a:lnSpc>
              <a:spcAft>
                <a:spcPts val="0"/>
              </a:spcAft>
            </a:pPr>
            <a:r>
              <a:rPr sz="1800" b="1">
                <a:solidFill>
                  <a:srgbClr val="FFFFFF"/>
                </a:solidFill>
                <a:latin typeface="Arial"/>
              </a:rPr>
              <a:t>&gt;</a:t>
            </a:r>
          </a:p>
        </p:txBody>
      </p:sp>
      <p:sp>
        <p:nvSpPr>
          <p:cNvPr id="9" name="TextBox 8"/>
          <p:cNvSpPr txBox="1"/>
          <p:nvPr/>
        </p:nvSpPr>
        <p:spPr>
          <a:xfrm>
            <a:off x="6995160" y="1481328"/>
            <a:ext cx="4389120" cy="512064"/>
          </a:xfrm>
          <a:prstGeom prst="rect">
            <a:avLst/>
          </a:prstGeom>
          <a:noFill/>
        </p:spPr>
        <p:txBody>
          <a:bodyPr wrap="square" lIns="73152" rIns="73152" tIns="36576" bIns="36576" anchor="ctr">
            <a:noAutofit/>
          </a:bodyPr>
          <a:lstStyle/>
          <a:p>
            <a:pPr algn="l">
              <a:lnSpc>
                <a:spcPct val="100000"/>
              </a:lnSpc>
              <a:spcAft>
                <a:spcPts val="0"/>
              </a:spcAft>
            </a:pPr>
            <a:r>
              <a:rPr sz="2200" b="1">
                <a:solidFill>
                  <a:srgbClr val="1E2235"/>
                </a:solidFill>
                <a:latin typeface="Arial"/>
              </a:rPr>
              <a:t>Next</a:t>
            </a:r>
          </a:p>
        </p:txBody>
      </p:sp>
      <p:sp>
        <p:nvSpPr>
          <p:cNvPr id="10" name="TextBox 9"/>
          <p:cNvSpPr txBox="1"/>
          <p:nvPr/>
        </p:nvSpPr>
        <p:spPr>
          <a:xfrm>
            <a:off x="6400800" y="2194560"/>
            <a:ext cx="5029200" cy="2788920"/>
          </a:xfrm>
          <a:prstGeom prst="rect">
            <a:avLst/>
          </a:prstGeom>
          <a:noFill/>
        </p:spPr>
        <p:txBody>
          <a:bodyPr wrap="square" lIns="73152" rIns="73152" tIns="36576" bIns="36576" anchor="t">
            <a:noAutofit/>
          </a:bodyPr>
          <a:lstStyle/>
          <a:p>
            <a:pPr algn="l" marL="256032" indent="-256032">
              <a:lnSpc>
                <a:spcPct val="100000"/>
              </a:lnSpc>
              <a:spcAft>
                <a:spcPts val="1400"/>
              </a:spcAft>
              <a:buClr>
                <a:srgbClr val="6779C6"/>
              </a:buClr>
              <a:buFont typeface="Arial"/>
              <a:buChar char="•"/>
            </a:pPr>
            <a:r>
              <a:rPr sz="2200" b="0">
                <a:solidFill>
                  <a:srgbClr val="1E2235"/>
                </a:solidFill>
                <a:latin typeface="Arial"/>
              </a:rPr>
              <a:t>Poster quorum</a:t>
            </a:r>
          </a:p>
          <a:p>
            <a:pPr algn="l" marL="256032" indent="-256032">
              <a:lnSpc>
                <a:spcPct val="100000"/>
              </a:lnSpc>
              <a:spcAft>
                <a:spcPts val="1400"/>
              </a:spcAft>
              <a:buClr>
                <a:srgbClr val="6779C6"/>
              </a:buClr>
              <a:buFont typeface="Arial"/>
              <a:buChar char="•"/>
            </a:pPr>
            <a:r>
              <a:rPr sz="2200" b="0">
                <a:solidFill>
                  <a:srgbClr val="1E2235"/>
                </a:solidFill>
                <a:latin typeface="Arial"/>
              </a:rPr>
              <a:t>Sybil clustering by funding source</a:t>
            </a:r>
          </a:p>
          <a:p>
            <a:pPr algn="l" marL="256032" indent="-256032">
              <a:lnSpc>
                <a:spcPct val="100000"/>
              </a:lnSpc>
              <a:spcAft>
                <a:spcPts val="0"/>
              </a:spcAft>
              <a:buClr>
                <a:srgbClr val="6779C6"/>
              </a:buClr>
              <a:buFont typeface="Arial"/>
              <a:buChar char="•"/>
            </a:pPr>
            <a:r>
              <a:rPr sz="2200" b="0">
                <a:solidFill>
                  <a:srgbClr val="1E2235"/>
                </a:solidFill>
                <a:latin typeface="Arial"/>
              </a:rPr>
              <a:t>Keys in a KMS or HSM</a:t>
            </a:r>
          </a:p>
        </p:txBody>
      </p:sp>
      <p:sp>
        <p:nvSpPr>
          <p:cNvPr id="11" name="Rounded Rectangle 10"/>
          <p:cNvSpPr/>
          <p:nvPr/>
        </p:nvSpPr>
        <p:spPr>
          <a:xfrm>
            <a:off x="548640" y="5303520"/>
            <a:ext cx="11064240" cy="566928"/>
          </a:xfrm>
          <a:prstGeom prst="roundRect">
            <a:avLst>
              <a:gd name="adj" fmla="val 20000"/>
            </a:avLst>
          </a:prstGeom>
          <a:solidFill>
            <a:srgbClr val="FFFFFF"/>
          </a:solidFill>
          <a:ln w="12700">
            <a:solidFill>
              <a:srgbClr val="CDD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lnSpc>
                <a:spcPct val="100000"/>
              </a:lnSpc>
              <a:spcAft>
                <a:spcPts val="0"/>
              </a:spcAft>
            </a:pPr>
            <a:r>
              <a:rPr sz="1600" b="0">
                <a:solidFill>
                  <a:srgbClr val="5B6075"/>
                </a:solidFill>
                <a:latin typeface="Arial"/>
              </a:rPr>
              <a:t>Demo timings: age gate 600 s (production 30 days), grade upgrade delay 60 s (production 1 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2400" b="1">
                <a:solidFill>
                  <a:srgbClr val="FFFFFF"/>
                </a:solidFill>
                <a:latin typeface="Arial"/>
              </a:rPr>
              <a:t>Backup 1/2: headline claims and their transactions</a:t>
            </a:r>
          </a:p>
        </p:txBody>
      </p:sp>
      <p:graphicFrame>
        <p:nvGraphicFramePr>
          <p:cNvPr id="3" name="Table 2"/>
          <p:cNvGraphicFramePr>
            <a:graphicFrameLocks noGrp="1"/>
          </p:cNvGraphicFramePr>
          <p:nvPr/>
        </p:nvGraphicFramePr>
        <p:xfrm>
          <a:off x="457200" y="1234440"/>
          <a:ext cx="11292840" cy="4590288"/>
        </p:xfrm>
        <a:graphic>
          <a:graphicData uri="http://schemas.openxmlformats.org/drawingml/2006/table">
            <a:tbl>
              <a:tblPr firstRow="0" bandRow="0">
                <a:tableStyleId>{5C22544A-7EE6-4342-B048-85BDC9FD1C3A}</a:tableStyleId>
              </a:tblPr>
              <a:tblGrid>
                <a:gridCol w="411480"/>
                <a:gridCol w="5623560"/>
                <a:gridCol w="640080"/>
                <a:gridCol w="1600200"/>
                <a:gridCol w="1417320"/>
                <a:gridCol w="1600200"/>
              </a:tblGrid>
              <a:tr h="310896">
                <a:tc>
                  <a:txBody>
                    <a:bodyPr wrap="square"/>
                    <a:lstStyle/>
                    <a:p>
                      <a:pPr algn="ctr"/>
                      <a:r>
                        <a:rPr sz="1200" b="1">
                          <a:solidFill>
                            <a:srgbClr val="FFFFFF"/>
                          </a:solidFill>
                          <a:latin typeface="Arial"/>
                        </a:rPr>
                        <a:t>#</a:t>
                      </a:r>
                    </a:p>
                  </a:txBody>
                  <a:tcPr marL="54864" marR="54864" marT="27432" marB="27432" anchor="ctr">
                    <a:solidFill>
                      <a:srgbClr val="3F4C9E"/>
                    </a:solidFill>
                  </a:tcPr>
                </a:tc>
                <a:tc>
                  <a:txBody>
                    <a:bodyPr wrap="square"/>
                    <a:lstStyle/>
                    <a:p>
                      <a:pPr algn="l"/>
                      <a:r>
                        <a:rPr sz="1200" b="1">
                          <a:solidFill>
                            <a:srgbClr val="FFFFFF"/>
                          </a:solidFill>
                          <a:latin typeface="Arial"/>
                        </a:rPr>
                        <a:t>Claim</a:t>
                      </a:r>
                    </a:p>
                  </a:txBody>
                  <a:tcPr marL="54864" marR="54864" marT="27432" marB="27432" anchor="ctr">
                    <a:solidFill>
                      <a:srgbClr val="3F4C9E"/>
                    </a:solidFill>
                  </a:tcPr>
                </a:tc>
                <a:tc>
                  <a:txBody>
                    <a:bodyPr wrap="square"/>
                    <a:lstStyle/>
                    <a:p>
                      <a:pPr algn="ctr"/>
                      <a:r>
                        <a:rPr sz="1200" b="1">
                          <a:solidFill>
                            <a:srgbClr val="FFFFFF"/>
                          </a:solidFill>
                          <a:latin typeface="Arial"/>
                        </a:rPr>
                        <a:t>Step</a:t>
                      </a:r>
                    </a:p>
                  </a:txBody>
                  <a:tcPr marL="54864" marR="54864" marT="27432" marB="27432" anchor="ctr">
                    <a:solidFill>
                      <a:srgbClr val="3F4C9E"/>
                    </a:solidFill>
                  </a:tcPr>
                </a:tc>
                <a:tc>
                  <a:txBody>
                    <a:bodyPr wrap="square"/>
                    <a:lstStyle/>
                    <a:p>
                      <a:pPr algn="l"/>
                      <a:r>
                        <a:rPr sz="1200" b="1">
                          <a:solidFill>
                            <a:srgbClr val="FFFFFF"/>
                          </a:solidFill>
                          <a:latin typeface="Arial"/>
                        </a:rPr>
                        <a:t>Function</a:t>
                      </a:r>
                    </a:p>
                  </a:txBody>
                  <a:tcPr marL="54864" marR="54864" marT="27432" marB="27432" anchor="ctr">
                    <a:solidFill>
                      <a:srgbClr val="3F4C9E"/>
                    </a:solidFill>
                  </a:tcPr>
                </a:tc>
                <a:tc>
                  <a:txBody>
                    <a:bodyPr wrap="square"/>
                    <a:lstStyle/>
                    <a:p>
                      <a:pPr algn="l"/>
                      <a:r>
                        <a:rPr sz="1200" b="1">
                          <a:solidFill>
                            <a:srgbClr val="FFFFFF"/>
                          </a:solidFill>
                          <a:latin typeface="Arial"/>
                        </a:rPr>
                        <a:t>Reasons</a:t>
                      </a:r>
                    </a:p>
                  </a:txBody>
                  <a:tcPr marL="54864" marR="54864" marT="27432" marB="27432" anchor="ctr">
                    <a:solidFill>
                      <a:srgbClr val="3F4C9E"/>
                    </a:solidFill>
                  </a:tcPr>
                </a:tc>
                <a:tc>
                  <a:txBody>
                    <a:bodyPr wrap="square"/>
                    <a:lstStyle/>
                    <a:p>
                      <a:pPr algn="l"/>
                      <a:r>
                        <a:rPr sz="1200" b="1">
                          <a:solidFill>
                            <a:srgbClr val="FFFFFF"/>
                          </a:solidFill>
                          <a:latin typeface="Arial"/>
                        </a:rPr>
                        <a:t>Transaction</a:t>
                      </a:r>
                    </a:p>
                  </a:txBody>
                  <a:tcPr marL="54864" marR="54864" marT="27432" marB="27432" anchor="ctr">
                    <a:solidFill>
                      <a:srgbClr val="3F4C9E"/>
                    </a:solidFill>
                  </a:tcPr>
                </a:tc>
              </a:tr>
              <a:tr h="329184">
                <a:tc>
                  <a:txBody>
                    <a:bodyPr wrap="square"/>
                    <a:lstStyle/>
                    <a:p>
                      <a:pPr algn="ctr"/>
                      <a:r>
                        <a:rPr sz="1200" b="0">
                          <a:solidFill>
                            <a:srgbClr val="1E2235"/>
                          </a:solidFill>
                          <a:latin typeface="Arial"/>
                        </a:rPr>
                        <a:t>1</a:t>
                      </a:r>
                    </a:p>
                  </a:txBody>
                  <a:tcPr marL="54864" marR="54864" marT="27432" marB="27432" anchor="ctr">
                    <a:solidFill>
                      <a:srgbClr val="FFFFFF"/>
                    </a:solidFill>
                  </a:tcPr>
                </a:tc>
                <a:tc>
                  <a:txBody>
                    <a:bodyPr wrap="square"/>
                    <a:lstStyle/>
                    <a:p>
                      <a:pPr algn="l"/>
                      <a:r>
                        <a:rPr sz="1200" b="0">
                          <a:solidFill>
                            <a:srgbClr val="1E2235"/>
                          </a:solidFill>
                          <a:latin typeface="Arial"/>
                        </a:rPr>
                        <a:t>Owner's mandate M1 registered on-chain (payees, pinned wallets, caps)</a:t>
                      </a:r>
                    </a:p>
                  </a:txBody>
                  <a:tcPr marL="54864" marR="54864" marT="27432" marB="27432" anchor="ctr">
                    <a:solidFill>
                      <a:srgbClr val="FFFFFF"/>
                    </a:solidFill>
                  </a:tcPr>
                </a:tc>
                <a:tc>
                  <a:txBody>
                    <a:bodyPr wrap="square"/>
                    <a:lstStyle/>
                    <a:p>
                      <a:pPr algn="ctr"/>
                      <a:r>
                        <a:rPr sz="1200" b="0">
                          <a:solidFill>
                            <a:srgbClr val="1E2235"/>
                          </a:solidFill>
                          <a:latin typeface="Arial"/>
                        </a:rPr>
                        <a:t>S5</a:t>
                      </a:r>
                    </a:p>
                  </a:txBody>
                  <a:tcPr marL="54864" marR="54864" marT="27432" marB="27432" anchor="ctr">
                    <a:solidFill>
                      <a:srgbClr val="FFFFFF"/>
                    </a:solidFill>
                  </a:tcPr>
                </a:tc>
                <a:tc>
                  <a:txBody>
                    <a:bodyPr wrap="square"/>
                    <a:lstStyle/>
                    <a:p>
                      <a:pPr algn="l"/>
                      <a:r>
                        <a:rPr sz="1200" b="0">
                          <a:solidFill>
                            <a:srgbClr val="1E2235"/>
                          </a:solidFill>
                          <a:latin typeface="Arial"/>
                        </a:rPr>
                        <a:t>registerMandate</a:t>
                      </a:r>
                    </a:p>
                  </a:txBody>
                  <a:tcPr marL="54864" marR="54864" marT="27432" marB="27432" anchor="ctr">
                    <a:solidFill>
                      <a:srgbClr val="FFFFFF"/>
                    </a:solidFill>
                  </a:tcPr>
                </a:tc>
                <a:tc>
                  <a:txBody>
                    <a:bodyPr wrap="square"/>
                    <a:lstStyle/>
                    <a:p>
                      <a:pPr algn="l"/>
                      <a:r>
                        <a:rPr sz="1200" b="0">
                          <a:solidFill>
                            <a:srgbClr val="1E2235"/>
                          </a:solidFill>
                          <a:latin typeface="Arial"/>
                        </a:rPr>
                        <a:t>-</a:t>
                      </a:r>
                    </a:p>
                  </a:txBody>
                  <a:tcPr marL="54864" marR="54864" marT="27432" marB="27432" anchor="ctr">
                    <a:solidFill>
                      <a:srgbClr val="FFFFFF"/>
                    </a:solidFill>
                  </a:tcPr>
                </a:tc>
                <a:tc>
                  <a:txBody>
                    <a:bodyPr wrap="square"/>
                    <a:lstStyle/>
                    <a:p>
                      <a:pPr algn="l"/>
                      <a:r>
                        <a:rPr sz="1200" b="0" u="sng">
                          <a:solidFill>
                            <a:srgbClr val="0072B2"/>
                          </a:solidFill>
                          <a:latin typeface="Arial"/>
                          <a:hlinkClick r:id="rId2"/>
                        </a:rPr>
                        <a:t>0x0fd2d2...8fe1</a:t>
                      </a:r>
                    </a:p>
                  </a:txBody>
                  <a:tcPr marL="54864" marR="54864" marT="27432" marB="27432" anchor="ctr">
                    <a:solidFill>
                      <a:srgbClr val="FFFFFF"/>
                    </a:solidFill>
                  </a:tcPr>
                </a:tc>
              </a:tr>
              <a:tr h="329184">
                <a:tc>
                  <a:txBody>
                    <a:bodyPr wrap="square"/>
                    <a:lstStyle/>
                    <a:p>
                      <a:pPr algn="ctr"/>
                      <a:r>
                        <a:rPr sz="1200" b="0">
                          <a:solidFill>
                            <a:srgbClr val="1E2235"/>
                          </a:solidFill>
                          <a:latin typeface="Arial"/>
                        </a:rPr>
                        <a:t>2</a:t>
                      </a:r>
                    </a:p>
                  </a:txBody>
                  <a:tcPr marL="54864" marR="54864" marT="27432" marB="27432" anchor="ctr">
                    <a:solidFill>
                      <a:srgbClr val="F7F8FC"/>
                    </a:solidFill>
                  </a:tcPr>
                </a:tc>
                <a:tc>
                  <a:txBody>
                    <a:bodyPr wrap="square"/>
                    <a:lstStyle/>
                    <a:p>
                      <a:pPr algn="l"/>
                      <a:r>
                        <a:rPr sz="1200" b="0">
                          <a:solidFill>
                            <a:srgbClr val="1E2235"/>
                          </a:solidFill>
                          <a:latin typeface="Arial"/>
                        </a:rPr>
                        <a:t>Autonomous payment: grade A provider within tier limits [2000]</a:t>
                      </a:r>
                    </a:p>
                  </a:txBody>
                  <a:tcPr marL="54864" marR="54864" marT="27432" marB="27432" anchor="ctr">
                    <a:solidFill>
                      <a:srgbClr val="F7F8FC"/>
                    </a:solidFill>
                  </a:tcPr>
                </a:tc>
                <a:tc>
                  <a:txBody>
                    <a:bodyPr wrap="square"/>
                    <a:lstStyle/>
                    <a:p>
                      <a:pPr algn="ctr"/>
                      <a:r>
                        <a:rPr sz="1200" b="0">
                          <a:solidFill>
                            <a:srgbClr val="1E2235"/>
                          </a:solidFill>
                          <a:latin typeface="Arial"/>
                        </a:rPr>
                        <a:t>S6</a:t>
                      </a:r>
                    </a:p>
                  </a:txBody>
                  <a:tcPr marL="54864" marR="54864" marT="27432" marB="27432" anchor="ctr">
                    <a:solidFill>
                      <a:srgbClr val="F7F8FC"/>
                    </a:solidFill>
                  </a:tcPr>
                </a:tc>
                <a:tc>
                  <a:txBody>
                    <a:bodyPr wrap="square"/>
                    <a:lstStyle/>
                    <a:p>
                      <a:pPr algn="l"/>
                      <a:r>
                        <a:rPr sz="1200" b="0">
                          <a:solidFill>
                            <a:srgbClr val="1E2235"/>
                          </a:solidFill>
                          <a:latin typeface="Arial"/>
                        </a:rPr>
                        <a:t>pay</a:t>
                      </a:r>
                    </a:p>
                  </a:txBody>
                  <a:tcPr marL="54864" marR="54864" marT="27432" marB="27432" anchor="ctr">
                    <a:solidFill>
                      <a:srgbClr val="F7F8FC"/>
                    </a:solidFill>
                  </a:tcPr>
                </a:tc>
                <a:tc>
                  <a:txBody>
                    <a:bodyPr wrap="square"/>
                    <a:lstStyle/>
                    <a:p>
                      <a:pPr algn="l"/>
                      <a:r>
                        <a:rPr sz="1200" b="0">
                          <a:solidFill>
                            <a:srgbClr val="1E2235"/>
                          </a:solidFill>
                          <a:latin typeface="Arial"/>
                        </a:rPr>
                        <a:t>2000</a:t>
                      </a:r>
                    </a:p>
                  </a:txBody>
                  <a:tcPr marL="54864" marR="54864" marT="27432" marB="27432" anchor="ctr">
                    <a:solidFill>
                      <a:srgbClr val="F7F8FC"/>
                    </a:solidFill>
                  </a:tcPr>
                </a:tc>
                <a:tc>
                  <a:txBody>
                    <a:bodyPr wrap="square"/>
                    <a:lstStyle/>
                    <a:p>
                      <a:pPr algn="l"/>
                      <a:r>
                        <a:rPr sz="1200" b="0" u="sng">
                          <a:solidFill>
                            <a:srgbClr val="0072B2"/>
                          </a:solidFill>
                          <a:latin typeface="Arial"/>
                          <a:hlinkClick r:id="rId3"/>
                        </a:rPr>
                        <a:t>0xdd46a8...902e</a:t>
                      </a:r>
                    </a:p>
                  </a:txBody>
                  <a:tcPr marL="54864" marR="54864" marT="27432" marB="27432" anchor="ctr">
                    <a:solidFill>
                      <a:srgbClr val="F7F8FC"/>
                    </a:solidFill>
                  </a:tcPr>
                </a:tc>
              </a:tr>
              <a:tr h="329184">
                <a:tc>
                  <a:txBody>
                    <a:bodyPr wrap="square"/>
                    <a:lstStyle/>
                    <a:p>
                      <a:pPr algn="ctr"/>
                      <a:r>
                        <a:rPr sz="1200" b="0">
                          <a:solidFill>
                            <a:srgbClr val="1E2235"/>
                          </a:solidFill>
                          <a:latin typeface="Arial"/>
                        </a:rPr>
                        <a:t>3</a:t>
                      </a:r>
                    </a:p>
                  </a:txBody>
                  <a:tcPr marL="54864" marR="54864" marT="27432" marB="27432" anchor="ctr">
                    <a:solidFill>
                      <a:srgbClr val="FFFFFF"/>
                    </a:solidFill>
                  </a:tcPr>
                </a:tc>
                <a:tc>
                  <a:txBody>
                    <a:bodyPr wrap="square"/>
                    <a:lstStyle/>
                    <a:p>
                      <a:pPr algn="l"/>
                      <a:r>
                        <a:rPr sz="1200" b="0">
                          <a:solidFill>
                            <a:srgbClr val="1E2235"/>
                          </a:solidFill>
                          <a:latin typeface="Arial"/>
                        </a:rPr>
                        <a:t>Capped payment: B-grade invoice re-quoted to the cap [2002]</a:t>
                      </a:r>
                    </a:p>
                  </a:txBody>
                  <a:tcPr marL="54864" marR="54864" marT="27432" marB="27432" anchor="ctr">
                    <a:solidFill>
                      <a:srgbClr val="FFFFFF"/>
                    </a:solidFill>
                  </a:tcPr>
                </a:tc>
                <a:tc>
                  <a:txBody>
                    <a:bodyPr wrap="square"/>
                    <a:lstStyle/>
                    <a:p>
                      <a:pPr algn="ctr"/>
                      <a:r>
                        <a:rPr sz="1200" b="0">
                          <a:solidFill>
                            <a:srgbClr val="1E2235"/>
                          </a:solidFill>
                          <a:latin typeface="Arial"/>
                        </a:rPr>
                        <a:t>S7</a:t>
                      </a:r>
                    </a:p>
                  </a:txBody>
                  <a:tcPr marL="54864" marR="54864" marT="27432" marB="27432" anchor="ctr">
                    <a:solidFill>
                      <a:srgbClr val="FFFFFF"/>
                    </a:solidFill>
                  </a:tcPr>
                </a:tc>
                <a:tc>
                  <a:txBody>
                    <a:bodyPr wrap="square"/>
                    <a:lstStyle/>
                    <a:p>
                      <a:pPr algn="l"/>
                      <a:r>
                        <a:rPr sz="1200" b="0">
                          <a:solidFill>
                            <a:srgbClr val="1E2235"/>
                          </a:solidFill>
                          <a:latin typeface="Arial"/>
                        </a:rPr>
                        <a:t>pay</a:t>
                      </a:r>
                    </a:p>
                  </a:txBody>
                  <a:tcPr marL="54864" marR="54864" marT="27432" marB="27432" anchor="ctr">
                    <a:solidFill>
                      <a:srgbClr val="FFFFFF"/>
                    </a:solidFill>
                  </a:tcPr>
                </a:tc>
                <a:tc>
                  <a:txBody>
                    <a:bodyPr wrap="square"/>
                    <a:lstStyle/>
                    <a:p>
                      <a:pPr algn="l"/>
                      <a:r>
                        <a:rPr sz="1200" b="0">
                          <a:solidFill>
                            <a:srgbClr val="1E2235"/>
                          </a:solidFill>
                          <a:latin typeface="Arial"/>
                        </a:rPr>
                        <a:t>2002</a:t>
                      </a:r>
                    </a:p>
                  </a:txBody>
                  <a:tcPr marL="54864" marR="54864" marT="27432" marB="27432" anchor="ctr">
                    <a:solidFill>
                      <a:srgbClr val="FFFFFF"/>
                    </a:solidFill>
                  </a:tcPr>
                </a:tc>
                <a:tc>
                  <a:txBody>
                    <a:bodyPr wrap="square"/>
                    <a:lstStyle/>
                    <a:p>
                      <a:pPr algn="l"/>
                      <a:r>
                        <a:rPr sz="1200" b="0" u="sng">
                          <a:solidFill>
                            <a:srgbClr val="0072B2"/>
                          </a:solidFill>
                          <a:latin typeface="Arial"/>
                          <a:hlinkClick r:id="rId4"/>
                        </a:rPr>
                        <a:t>0x7fb6ed...80bb</a:t>
                      </a:r>
                    </a:p>
                  </a:txBody>
                  <a:tcPr marL="54864" marR="54864" marT="27432" marB="27432" anchor="ctr">
                    <a:solidFill>
                      <a:srgbClr val="FFFFFF"/>
                    </a:solidFill>
                  </a:tcPr>
                </a:tc>
              </a:tr>
              <a:tr h="329184">
                <a:tc>
                  <a:txBody>
                    <a:bodyPr wrap="square"/>
                    <a:lstStyle/>
                    <a:p>
                      <a:pPr algn="ctr"/>
                      <a:r>
                        <a:rPr sz="1200" b="0">
                          <a:solidFill>
                            <a:srgbClr val="1E2235"/>
                          </a:solidFill>
                          <a:latin typeface="Arial"/>
                        </a:rPr>
                        <a:t>4</a:t>
                      </a:r>
                    </a:p>
                  </a:txBody>
                  <a:tcPr marL="54864" marR="54864" marT="27432" marB="27432" anchor="ctr">
                    <a:solidFill>
                      <a:srgbClr val="F7F8FC"/>
                    </a:solidFill>
                  </a:tcPr>
                </a:tc>
                <a:tc>
                  <a:txBody>
                    <a:bodyPr wrap="square"/>
                    <a:lstStyle/>
                    <a:p>
                      <a:pPr algn="l"/>
                      <a:r>
                        <a:rPr sz="1200" b="0">
                          <a:solidFill>
                            <a:srgbClr val="1E2235"/>
                          </a:solidFill>
                          <a:latin typeface="Arial"/>
                        </a:rPr>
                        <a:t>Escrow opened for a new, unrated provider [2004]</a:t>
                      </a:r>
                    </a:p>
                  </a:txBody>
                  <a:tcPr marL="54864" marR="54864" marT="27432" marB="27432" anchor="ctr">
                    <a:solidFill>
                      <a:srgbClr val="F7F8FC"/>
                    </a:solidFill>
                  </a:tcPr>
                </a:tc>
                <a:tc>
                  <a:txBody>
                    <a:bodyPr wrap="square"/>
                    <a:lstStyle/>
                    <a:p>
                      <a:pPr algn="ctr"/>
                      <a:r>
                        <a:rPr sz="1200" b="0">
                          <a:solidFill>
                            <a:srgbClr val="1E2235"/>
                          </a:solidFill>
                          <a:latin typeface="Arial"/>
                        </a:rPr>
                        <a:t>S8</a:t>
                      </a:r>
                    </a:p>
                  </a:txBody>
                  <a:tcPr marL="54864" marR="54864" marT="27432" marB="27432" anchor="ctr">
                    <a:solidFill>
                      <a:srgbClr val="F7F8FC"/>
                    </a:solidFill>
                  </a:tcPr>
                </a:tc>
                <a:tc>
                  <a:txBody>
                    <a:bodyPr wrap="square"/>
                    <a:lstStyle/>
                    <a:p>
                      <a:pPr algn="l"/>
                      <a:r>
                        <a:rPr sz="1200" b="0">
                          <a:solidFill>
                            <a:srgbClr val="1E2235"/>
                          </a:solidFill>
                          <a:latin typeface="Arial"/>
                        </a:rPr>
                        <a:t>escrow</a:t>
                      </a:r>
                    </a:p>
                  </a:txBody>
                  <a:tcPr marL="54864" marR="54864" marT="27432" marB="27432" anchor="ctr">
                    <a:solidFill>
                      <a:srgbClr val="F7F8FC"/>
                    </a:solidFill>
                  </a:tcPr>
                </a:tc>
                <a:tc>
                  <a:txBody>
                    <a:bodyPr wrap="square"/>
                    <a:lstStyle/>
                    <a:p>
                      <a:pPr algn="l"/>
                      <a:r>
                        <a:rPr sz="1200" b="0">
                          <a:solidFill>
                            <a:srgbClr val="1E2235"/>
                          </a:solidFill>
                          <a:latin typeface="Arial"/>
                        </a:rPr>
                        <a:t>2004</a:t>
                      </a:r>
                    </a:p>
                  </a:txBody>
                  <a:tcPr marL="54864" marR="54864" marT="27432" marB="27432" anchor="ctr">
                    <a:solidFill>
                      <a:srgbClr val="F7F8FC"/>
                    </a:solidFill>
                  </a:tcPr>
                </a:tc>
                <a:tc>
                  <a:txBody>
                    <a:bodyPr wrap="square"/>
                    <a:lstStyle/>
                    <a:p>
                      <a:pPr algn="l"/>
                      <a:r>
                        <a:rPr sz="1200" b="0" u="sng">
                          <a:solidFill>
                            <a:srgbClr val="0072B2"/>
                          </a:solidFill>
                          <a:latin typeface="Arial"/>
                          <a:hlinkClick r:id="rId5"/>
                        </a:rPr>
                        <a:t>0x36bdc1...4e7d</a:t>
                      </a:r>
                    </a:p>
                  </a:txBody>
                  <a:tcPr marL="54864" marR="54864" marT="27432" marB="27432" anchor="ctr">
                    <a:solidFill>
                      <a:srgbClr val="F7F8FC"/>
                    </a:solidFill>
                  </a:tcPr>
                </a:tc>
              </a:tr>
              <a:tr h="329184">
                <a:tc>
                  <a:txBody>
                    <a:bodyPr wrap="square"/>
                    <a:lstStyle/>
                    <a:p>
                      <a:pPr algn="ctr"/>
                      <a:r>
                        <a:rPr sz="1200" b="0">
                          <a:solidFill>
                            <a:srgbClr val="1E2235"/>
                          </a:solidFill>
                          <a:latin typeface="Arial"/>
                        </a:rPr>
                        <a:t>5</a:t>
                      </a:r>
                    </a:p>
                  </a:txBody>
                  <a:tcPr marL="54864" marR="54864" marT="27432" marB="27432" anchor="ctr">
                    <a:solidFill>
                      <a:srgbClr val="FFFFFF"/>
                    </a:solidFill>
                  </a:tcPr>
                </a:tc>
                <a:tc>
                  <a:txBody>
                    <a:bodyPr wrap="square"/>
                    <a:lstStyle/>
                    <a:p>
                      <a:pPr algn="l"/>
                      <a:r>
                        <a:rPr sz="1200" b="0">
                          <a:solidFill>
                            <a:srgbClr val="1E2235"/>
                          </a:solidFill>
                          <a:latin typeface="Arial"/>
                        </a:rPr>
                        <a:t>Provider's on-chain delivery claim before hand-over</a:t>
                      </a:r>
                    </a:p>
                  </a:txBody>
                  <a:tcPr marL="54864" marR="54864" marT="27432" marB="27432" anchor="ctr">
                    <a:solidFill>
                      <a:srgbClr val="FFFFFF"/>
                    </a:solidFill>
                  </a:tcPr>
                </a:tc>
                <a:tc>
                  <a:txBody>
                    <a:bodyPr wrap="square"/>
                    <a:lstStyle/>
                    <a:p>
                      <a:pPr algn="ctr"/>
                      <a:r>
                        <a:rPr sz="1200" b="0">
                          <a:solidFill>
                            <a:srgbClr val="1E2235"/>
                          </a:solidFill>
                          <a:latin typeface="Arial"/>
                        </a:rPr>
                        <a:t>S8</a:t>
                      </a:r>
                    </a:p>
                  </a:txBody>
                  <a:tcPr marL="54864" marR="54864" marT="27432" marB="27432" anchor="ctr">
                    <a:solidFill>
                      <a:srgbClr val="FFFFFF"/>
                    </a:solidFill>
                  </a:tcPr>
                </a:tc>
                <a:tc>
                  <a:txBody>
                    <a:bodyPr wrap="square"/>
                    <a:lstStyle/>
                    <a:p>
                      <a:pPr algn="l"/>
                      <a:r>
                        <a:rPr sz="1200" b="0">
                          <a:solidFill>
                            <a:srgbClr val="1E2235"/>
                          </a:solidFill>
                          <a:latin typeface="Arial"/>
                        </a:rPr>
                        <a:t>claimDelivered</a:t>
                      </a:r>
                    </a:p>
                  </a:txBody>
                  <a:tcPr marL="54864" marR="54864" marT="27432" marB="27432" anchor="ctr">
                    <a:solidFill>
                      <a:srgbClr val="FFFFFF"/>
                    </a:solidFill>
                  </a:tcPr>
                </a:tc>
                <a:tc>
                  <a:txBody>
                    <a:bodyPr wrap="square"/>
                    <a:lstStyle/>
                    <a:p>
                      <a:pPr algn="l"/>
                      <a:r>
                        <a:rPr sz="1200" b="0">
                          <a:solidFill>
                            <a:srgbClr val="1E2235"/>
                          </a:solidFill>
                          <a:latin typeface="Arial"/>
                        </a:rPr>
                        <a:t>-</a:t>
                      </a:r>
                    </a:p>
                  </a:txBody>
                  <a:tcPr marL="54864" marR="54864" marT="27432" marB="27432" anchor="ctr">
                    <a:solidFill>
                      <a:srgbClr val="FFFFFF"/>
                    </a:solidFill>
                  </a:tcPr>
                </a:tc>
                <a:tc>
                  <a:txBody>
                    <a:bodyPr wrap="square"/>
                    <a:lstStyle/>
                    <a:p>
                      <a:pPr algn="l"/>
                      <a:r>
                        <a:rPr sz="1200" b="0" u="sng">
                          <a:solidFill>
                            <a:srgbClr val="0072B2"/>
                          </a:solidFill>
                          <a:latin typeface="Arial"/>
                          <a:hlinkClick r:id="rId6"/>
                        </a:rPr>
                        <a:t>0x3c0165...76af</a:t>
                      </a:r>
                    </a:p>
                  </a:txBody>
                  <a:tcPr marL="54864" marR="54864" marT="27432" marB="27432" anchor="ctr">
                    <a:solidFill>
                      <a:srgbClr val="FFFFFF"/>
                    </a:solidFill>
                  </a:tcPr>
                </a:tc>
              </a:tr>
              <a:tr h="329184">
                <a:tc>
                  <a:txBody>
                    <a:bodyPr wrap="square"/>
                    <a:lstStyle/>
                    <a:p>
                      <a:pPr algn="ctr"/>
                      <a:r>
                        <a:rPr sz="1200" b="0">
                          <a:solidFill>
                            <a:srgbClr val="1E2235"/>
                          </a:solidFill>
                          <a:latin typeface="Arial"/>
                        </a:rPr>
                        <a:t>6</a:t>
                      </a:r>
                    </a:p>
                  </a:txBody>
                  <a:tcPr marL="54864" marR="54864" marT="27432" marB="27432" anchor="ctr">
                    <a:solidFill>
                      <a:srgbClr val="F7F8FC"/>
                    </a:solidFill>
                  </a:tcPr>
                </a:tc>
                <a:tc>
                  <a:txBody>
                    <a:bodyPr wrap="square"/>
                    <a:lstStyle/>
                    <a:p>
                      <a:pPr algn="l"/>
                      <a:r>
                        <a:rPr sz="1200" b="0">
                          <a:solidFill>
                            <a:srgbClr val="1E2235"/>
                          </a:solidFill>
                          <a:latin typeface="Arial"/>
                        </a:rPr>
                        <a:t>Escrow released after the provider's claim [2008]</a:t>
                      </a:r>
                    </a:p>
                  </a:txBody>
                  <a:tcPr marL="54864" marR="54864" marT="27432" marB="27432" anchor="ctr">
                    <a:solidFill>
                      <a:srgbClr val="F7F8FC"/>
                    </a:solidFill>
                  </a:tcPr>
                </a:tc>
                <a:tc>
                  <a:txBody>
                    <a:bodyPr wrap="square"/>
                    <a:lstStyle/>
                    <a:p>
                      <a:pPr algn="ctr"/>
                      <a:r>
                        <a:rPr sz="1200" b="0">
                          <a:solidFill>
                            <a:srgbClr val="1E2235"/>
                          </a:solidFill>
                          <a:latin typeface="Arial"/>
                        </a:rPr>
                        <a:t>S8</a:t>
                      </a:r>
                    </a:p>
                  </a:txBody>
                  <a:tcPr marL="54864" marR="54864" marT="27432" marB="27432" anchor="ctr">
                    <a:solidFill>
                      <a:srgbClr val="F7F8FC"/>
                    </a:solidFill>
                  </a:tcPr>
                </a:tc>
                <a:tc>
                  <a:txBody>
                    <a:bodyPr wrap="square"/>
                    <a:lstStyle/>
                    <a:p>
                      <a:pPr algn="l"/>
                      <a:r>
                        <a:rPr sz="1200" b="0">
                          <a:solidFill>
                            <a:srgbClr val="1E2235"/>
                          </a:solidFill>
                          <a:latin typeface="Arial"/>
                        </a:rPr>
                        <a:t>release</a:t>
                      </a:r>
                    </a:p>
                  </a:txBody>
                  <a:tcPr marL="54864" marR="54864" marT="27432" marB="27432" anchor="ctr">
                    <a:solidFill>
                      <a:srgbClr val="F7F8FC"/>
                    </a:solidFill>
                  </a:tcPr>
                </a:tc>
                <a:tc>
                  <a:txBody>
                    <a:bodyPr wrap="square"/>
                    <a:lstStyle/>
                    <a:p>
                      <a:pPr algn="l"/>
                      <a:r>
                        <a:rPr sz="1200" b="0">
                          <a:solidFill>
                            <a:srgbClr val="1E2235"/>
                          </a:solidFill>
                          <a:latin typeface="Arial"/>
                        </a:rPr>
                        <a:t>2008</a:t>
                      </a:r>
                    </a:p>
                  </a:txBody>
                  <a:tcPr marL="54864" marR="54864" marT="27432" marB="27432" anchor="ctr">
                    <a:solidFill>
                      <a:srgbClr val="F7F8FC"/>
                    </a:solidFill>
                  </a:tcPr>
                </a:tc>
                <a:tc>
                  <a:txBody>
                    <a:bodyPr wrap="square"/>
                    <a:lstStyle/>
                    <a:p>
                      <a:pPr algn="l"/>
                      <a:r>
                        <a:rPr sz="1200" b="0" u="sng">
                          <a:solidFill>
                            <a:srgbClr val="0072B2"/>
                          </a:solidFill>
                          <a:latin typeface="Arial"/>
                          <a:hlinkClick r:id="rId7"/>
                        </a:rPr>
                        <a:t>0x89d612...6bac</a:t>
                      </a:r>
                    </a:p>
                  </a:txBody>
                  <a:tcPr marL="54864" marR="54864" marT="27432" marB="27432" anchor="ctr">
                    <a:solidFill>
                      <a:srgbClr val="F7F8FC"/>
                    </a:solidFill>
                  </a:tcPr>
                </a:tc>
              </a:tr>
              <a:tr h="329184">
                <a:tc>
                  <a:txBody>
                    <a:bodyPr wrap="square"/>
                    <a:lstStyle/>
                    <a:p>
                      <a:pPr algn="ctr"/>
                      <a:r>
                        <a:rPr sz="1200" b="0">
                          <a:solidFill>
                            <a:srgbClr val="1E2235"/>
                          </a:solidFill>
                          <a:latin typeface="Arial"/>
                        </a:rPr>
                        <a:t>7</a:t>
                      </a:r>
                    </a:p>
                  </a:txBody>
                  <a:tcPr marL="54864" marR="54864" marT="27432" marB="27432" anchor="ctr">
                    <a:solidFill>
                      <a:srgbClr val="FFFFFF"/>
                    </a:solidFill>
                  </a:tcPr>
                </a:tc>
                <a:tc>
                  <a:txBody>
                    <a:bodyPr wrap="square"/>
                    <a:lstStyle/>
                    <a:p>
                      <a:pPr algn="l"/>
                      <a:r>
                        <a:rPr sz="1200" b="0">
                          <a:solidFill>
                            <a:srgbClr val="1E2235"/>
                          </a:solidFill>
                          <a:latin typeface="Arial"/>
                        </a:rPr>
                        <a:t>Bureau grades the wallet A with an evidence hash</a:t>
                      </a:r>
                    </a:p>
                  </a:txBody>
                  <a:tcPr marL="54864" marR="54864" marT="27432" marB="27432" anchor="ctr">
                    <a:solidFill>
                      <a:srgbClr val="FFFFFF"/>
                    </a:solidFill>
                  </a:tcPr>
                </a:tc>
                <a:tc>
                  <a:txBody>
                    <a:bodyPr wrap="square"/>
                    <a:lstStyle/>
                    <a:p>
                      <a:pPr algn="ctr"/>
                      <a:r>
                        <a:rPr sz="1200" b="0">
                          <a:solidFill>
                            <a:srgbClr val="1E2235"/>
                          </a:solidFill>
                          <a:latin typeface="Arial"/>
                        </a:rPr>
                        <a:t>S10</a:t>
                      </a:r>
                    </a:p>
                  </a:txBody>
                  <a:tcPr marL="54864" marR="54864" marT="27432" marB="27432" anchor="ctr">
                    <a:solidFill>
                      <a:srgbClr val="FFFFFF"/>
                    </a:solidFill>
                  </a:tcPr>
                </a:tc>
                <a:tc>
                  <a:txBody>
                    <a:bodyPr wrap="square"/>
                    <a:lstStyle/>
                    <a:p>
                      <a:pPr algn="l"/>
                      <a:r>
                        <a:rPr sz="1200" b="0">
                          <a:solidFill>
                            <a:srgbClr val="1E2235"/>
                          </a:solidFill>
                          <a:latin typeface="Arial"/>
                        </a:rPr>
                        <a:t>postGrade</a:t>
                      </a:r>
                    </a:p>
                  </a:txBody>
                  <a:tcPr marL="54864" marR="54864" marT="27432" marB="27432" anchor="ctr">
                    <a:solidFill>
                      <a:srgbClr val="FFFFFF"/>
                    </a:solidFill>
                  </a:tcPr>
                </a:tc>
                <a:tc>
                  <a:txBody>
                    <a:bodyPr wrap="square"/>
                    <a:lstStyle/>
                    <a:p>
                      <a:pPr algn="l"/>
                      <a:r>
                        <a:rPr sz="1200" b="0">
                          <a:solidFill>
                            <a:srgbClr val="1E2235"/>
                          </a:solidFill>
                          <a:latin typeface="Arial"/>
                        </a:rPr>
                        <a:t>1006, 1007</a:t>
                      </a:r>
                    </a:p>
                  </a:txBody>
                  <a:tcPr marL="54864" marR="54864" marT="27432" marB="27432" anchor="ctr">
                    <a:solidFill>
                      <a:srgbClr val="FFFFFF"/>
                    </a:solidFill>
                  </a:tcPr>
                </a:tc>
                <a:tc>
                  <a:txBody>
                    <a:bodyPr wrap="square"/>
                    <a:lstStyle/>
                    <a:p>
                      <a:pPr algn="l"/>
                      <a:r>
                        <a:rPr sz="1200" b="0" u="sng">
                          <a:solidFill>
                            <a:srgbClr val="0072B2"/>
                          </a:solidFill>
                          <a:latin typeface="Arial"/>
                          <a:hlinkClick r:id="rId8"/>
                        </a:rPr>
                        <a:t>0x0b2b28...a3f3</a:t>
                      </a:r>
                    </a:p>
                  </a:txBody>
                  <a:tcPr marL="54864" marR="54864" marT="27432" marB="27432" anchor="ctr">
                    <a:solidFill>
                      <a:srgbClr val="FFFFFF"/>
                    </a:solidFill>
                  </a:tcPr>
                </a:tc>
              </a:tr>
              <a:tr h="329184">
                <a:tc>
                  <a:txBody>
                    <a:bodyPr wrap="square"/>
                    <a:lstStyle/>
                    <a:p>
                      <a:pPr algn="ctr"/>
                      <a:r>
                        <a:rPr sz="1200" b="0">
                          <a:solidFill>
                            <a:srgbClr val="1E2235"/>
                          </a:solidFill>
                          <a:latin typeface="Arial"/>
                        </a:rPr>
                        <a:t>8</a:t>
                      </a:r>
                    </a:p>
                  </a:txBody>
                  <a:tcPr marL="54864" marR="54864" marT="27432" marB="27432" anchor="ctr">
                    <a:solidFill>
                      <a:srgbClr val="F7F8FC"/>
                    </a:solidFill>
                  </a:tcPr>
                </a:tc>
                <a:tc>
                  <a:txBody>
                    <a:bodyPr wrap="square"/>
                    <a:lstStyle/>
                    <a:p>
                      <a:pPr algn="l"/>
                      <a:r>
                        <a:rPr sz="1200" b="0">
                          <a:solidFill>
                            <a:srgbClr val="1E2235"/>
                          </a:solidFill>
                          <a:latin typeface="Arial"/>
                        </a:rPr>
                        <a:t>Earned promotion from tier 1 to tier 2 [3000]</a:t>
                      </a:r>
                    </a:p>
                  </a:txBody>
                  <a:tcPr marL="54864" marR="54864" marT="27432" marB="27432" anchor="ctr">
                    <a:solidFill>
                      <a:srgbClr val="F7F8FC"/>
                    </a:solidFill>
                  </a:tcPr>
                </a:tc>
                <a:tc>
                  <a:txBody>
                    <a:bodyPr wrap="square"/>
                    <a:lstStyle/>
                    <a:p>
                      <a:pPr algn="ctr"/>
                      <a:r>
                        <a:rPr sz="1200" b="0">
                          <a:solidFill>
                            <a:srgbClr val="1E2235"/>
                          </a:solidFill>
                          <a:latin typeface="Arial"/>
                        </a:rPr>
                        <a:t>S10</a:t>
                      </a:r>
                    </a:p>
                  </a:txBody>
                  <a:tcPr marL="54864" marR="54864" marT="27432" marB="27432" anchor="ctr">
                    <a:solidFill>
                      <a:srgbClr val="F7F8FC"/>
                    </a:solidFill>
                  </a:tcPr>
                </a:tc>
                <a:tc>
                  <a:txBody>
                    <a:bodyPr wrap="square"/>
                    <a:lstStyle/>
                    <a:p>
                      <a:pPr algn="l"/>
                      <a:r>
                        <a:rPr sz="1200" b="0">
                          <a:solidFill>
                            <a:srgbClr val="1E2235"/>
                          </a:solidFill>
                          <a:latin typeface="Arial"/>
                        </a:rPr>
                        <a:t>setTier</a:t>
                      </a:r>
                    </a:p>
                  </a:txBody>
                  <a:tcPr marL="54864" marR="54864" marT="27432" marB="27432" anchor="ctr">
                    <a:solidFill>
                      <a:srgbClr val="F7F8FC"/>
                    </a:solidFill>
                  </a:tcPr>
                </a:tc>
                <a:tc>
                  <a:txBody>
                    <a:bodyPr wrap="square"/>
                    <a:lstStyle/>
                    <a:p>
                      <a:pPr algn="l"/>
                      <a:r>
                        <a:rPr sz="1200" b="0">
                          <a:solidFill>
                            <a:srgbClr val="1E2235"/>
                          </a:solidFill>
                          <a:latin typeface="Arial"/>
                        </a:rPr>
                        <a:t>3000</a:t>
                      </a:r>
                    </a:p>
                  </a:txBody>
                  <a:tcPr marL="54864" marR="54864" marT="27432" marB="27432" anchor="ctr">
                    <a:solidFill>
                      <a:srgbClr val="F7F8FC"/>
                    </a:solidFill>
                  </a:tcPr>
                </a:tc>
                <a:tc>
                  <a:txBody>
                    <a:bodyPr wrap="square"/>
                    <a:lstStyle/>
                    <a:p>
                      <a:pPr algn="l"/>
                      <a:r>
                        <a:rPr sz="1200" b="0" u="sng">
                          <a:solidFill>
                            <a:srgbClr val="0072B2"/>
                          </a:solidFill>
                          <a:latin typeface="Arial"/>
                          <a:hlinkClick r:id="rId9"/>
                        </a:rPr>
                        <a:t>0x2923c9...e4b6</a:t>
                      </a:r>
                    </a:p>
                  </a:txBody>
                  <a:tcPr marL="54864" marR="54864" marT="27432" marB="27432" anchor="ctr">
                    <a:solidFill>
                      <a:srgbClr val="F7F8FC"/>
                    </a:solidFill>
                  </a:tcPr>
                </a:tc>
              </a:tr>
              <a:tr h="329184">
                <a:tc>
                  <a:txBody>
                    <a:bodyPr wrap="square"/>
                    <a:lstStyle/>
                    <a:p>
                      <a:pPr algn="ctr"/>
                      <a:r>
                        <a:rPr sz="1200" b="0">
                          <a:solidFill>
                            <a:srgbClr val="1E2235"/>
                          </a:solidFill>
                          <a:latin typeface="Arial"/>
                        </a:rPr>
                        <a:t>9</a:t>
                      </a:r>
                    </a:p>
                  </a:txBody>
                  <a:tcPr marL="54864" marR="54864" marT="27432" marB="27432" anchor="ctr">
                    <a:solidFill>
                      <a:srgbClr val="FFFFFF"/>
                    </a:solidFill>
                  </a:tcPr>
                </a:tc>
                <a:tc>
                  <a:txBody>
                    <a:bodyPr wrap="square"/>
                    <a:lstStyle/>
                    <a:p>
                      <a:pPr algn="l"/>
                      <a:r>
                        <a:rPr sz="1200" b="0">
                          <a:solidFill>
                            <a:srgbClr val="1E2235"/>
                          </a:solidFill>
                          <a:latin typeface="Arial"/>
                        </a:rPr>
                        <a:t>Beacon refunds Ghost's undelivered escrow [2400]</a:t>
                      </a:r>
                    </a:p>
                  </a:txBody>
                  <a:tcPr marL="54864" marR="54864" marT="27432" marB="27432" anchor="ctr">
                    <a:solidFill>
                      <a:srgbClr val="FFFFFF"/>
                    </a:solidFill>
                  </a:tcPr>
                </a:tc>
                <a:tc>
                  <a:txBody>
                    <a:bodyPr wrap="square"/>
                    <a:lstStyle/>
                    <a:p>
                      <a:pPr algn="ctr"/>
                      <a:r>
                        <a:rPr sz="1200" b="0">
                          <a:solidFill>
                            <a:srgbClr val="1E2235"/>
                          </a:solidFill>
                          <a:latin typeface="Arial"/>
                        </a:rPr>
                        <a:t>S11</a:t>
                      </a:r>
                    </a:p>
                  </a:txBody>
                  <a:tcPr marL="54864" marR="54864" marT="27432" marB="27432" anchor="ctr">
                    <a:solidFill>
                      <a:srgbClr val="FFFFFF"/>
                    </a:solidFill>
                  </a:tcPr>
                </a:tc>
                <a:tc>
                  <a:txBody>
                    <a:bodyPr wrap="square"/>
                    <a:lstStyle/>
                    <a:p>
                      <a:pPr algn="l"/>
                      <a:r>
                        <a:rPr sz="1200" b="0">
                          <a:solidFill>
                            <a:srgbClr val="1E2235"/>
                          </a:solidFill>
                          <a:latin typeface="Arial"/>
                        </a:rPr>
                        <a:t>refund</a:t>
                      </a:r>
                    </a:p>
                  </a:txBody>
                  <a:tcPr marL="54864" marR="54864" marT="27432" marB="27432" anchor="ctr">
                    <a:solidFill>
                      <a:srgbClr val="FFFFFF"/>
                    </a:solidFill>
                  </a:tcPr>
                </a:tc>
                <a:tc>
                  <a:txBody>
                    <a:bodyPr wrap="square"/>
                    <a:lstStyle/>
                    <a:p>
                      <a:pPr algn="l"/>
                      <a:r>
                        <a:rPr sz="1200" b="0">
                          <a:solidFill>
                            <a:srgbClr val="1E2235"/>
                          </a:solidFill>
                          <a:latin typeface="Arial"/>
                        </a:rPr>
                        <a:t>2400</a:t>
                      </a:r>
                    </a:p>
                  </a:txBody>
                  <a:tcPr marL="54864" marR="54864" marT="27432" marB="27432" anchor="ctr">
                    <a:solidFill>
                      <a:srgbClr val="FFFFFF"/>
                    </a:solidFill>
                  </a:tcPr>
                </a:tc>
                <a:tc>
                  <a:txBody>
                    <a:bodyPr wrap="square"/>
                    <a:lstStyle/>
                    <a:p>
                      <a:pPr algn="l"/>
                      <a:r>
                        <a:rPr sz="1200" b="0" u="sng">
                          <a:solidFill>
                            <a:srgbClr val="0072B2"/>
                          </a:solidFill>
                          <a:latin typeface="Arial"/>
                          <a:hlinkClick r:id="rId10"/>
                        </a:rPr>
                        <a:t>0xfb0b1c...ed30</a:t>
                      </a:r>
                    </a:p>
                  </a:txBody>
                  <a:tcPr marL="54864" marR="54864" marT="27432" marB="27432" anchor="ctr">
                    <a:solidFill>
                      <a:srgbClr val="FFFFFF"/>
                    </a:solidFill>
                  </a:tcPr>
                </a:tc>
              </a:tr>
              <a:tr h="329184">
                <a:tc>
                  <a:txBody>
                    <a:bodyPr wrap="square"/>
                    <a:lstStyle/>
                    <a:p>
                      <a:pPr algn="ctr"/>
                      <a:r>
                        <a:rPr sz="1200" b="0">
                          <a:solidFill>
                            <a:srgbClr val="1E2235"/>
                          </a:solidFill>
                          <a:latin typeface="Arial"/>
                        </a:rPr>
                        <a:t>10</a:t>
                      </a:r>
                    </a:p>
                  </a:txBody>
                  <a:tcPr marL="54864" marR="54864" marT="27432" marB="27432" anchor="ctr">
                    <a:solidFill>
                      <a:srgbClr val="F7F8FC"/>
                    </a:solidFill>
                  </a:tcPr>
                </a:tc>
                <a:tc>
                  <a:txBody>
                    <a:bodyPr wrap="square"/>
                    <a:lstStyle/>
                    <a:p>
                      <a:pPr algn="l"/>
                      <a:r>
                        <a:rPr sz="1200" b="0">
                          <a:solidFill>
                            <a:srgbClr val="1E2235"/>
                          </a:solidFill>
                          <a:latin typeface="Arial"/>
                        </a:rPr>
                        <a:t>Grade collapse: Ghost Feeds A -&gt; D after defaults</a:t>
                      </a:r>
                    </a:p>
                  </a:txBody>
                  <a:tcPr marL="54864" marR="54864" marT="27432" marB="27432" anchor="ctr">
                    <a:solidFill>
                      <a:srgbClr val="F7F8FC"/>
                    </a:solidFill>
                  </a:tcPr>
                </a:tc>
                <a:tc>
                  <a:txBody>
                    <a:bodyPr wrap="square"/>
                    <a:lstStyle/>
                    <a:p>
                      <a:pPr algn="ctr"/>
                      <a:r>
                        <a:rPr sz="1200" b="0">
                          <a:solidFill>
                            <a:srgbClr val="1E2235"/>
                          </a:solidFill>
                          <a:latin typeface="Arial"/>
                        </a:rPr>
                        <a:t>S11</a:t>
                      </a:r>
                    </a:p>
                  </a:txBody>
                  <a:tcPr marL="54864" marR="54864" marT="27432" marB="27432" anchor="ctr">
                    <a:solidFill>
                      <a:srgbClr val="F7F8FC"/>
                    </a:solidFill>
                  </a:tcPr>
                </a:tc>
                <a:tc>
                  <a:txBody>
                    <a:bodyPr wrap="square"/>
                    <a:lstStyle/>
                    <a:p>
                      <a:pPr algn="l"/>
                      <a:r>
                        <a:rPr sz="1200" b="0">
                          <a:solidFill>
                            <a:srgbClr val="1E2235"/>
                          </a:solidFill>
                          <a:latin typeface="Arial"/>
                        </a:rPr>
                        <a:t>postGrade</a:t>
                      </a:r>
                    </a:p>
                  </a:txBody>
                  <a:tcPr marL="54864" marR="54864" marT="27432" marB="27432" anchor="ctr">
                    <a:solidFill>
                      <a:srgbClr val="F7F8FC"/>
                    </a:solidFill>
                  </a:tcPr>
                </a:tc>
                <a:tc>
                  <a:txBody>
                    <a:bodyPr wrap="square"/>
                    <a:lstStyle/>
                    <a:p>
                      <a:pPr algn="l"/>
                      <a:r>
                        <a:rPr sz="1200" b="0">
                          <a:solidFill>
                            <a:srgbClr val="1E2235"/>
                          </a:solidFill>
                          <a:latin typeface="Arial"/>
                        </a:rPr>
                        <a:t>1002, 1001, 1006, 1007</a:t>
                      </a:r>
                    </a:p>
                  </a:txBody>
                  <a:tcPr marL="54864" marR="54864" marT="27432" marB="27432" anchor="ctr">
                    <a:solidFill>
                      <a:srgbClr val="F7F8FC"/>
                    </a:solidFill>
                  </a:tcPr>
                </a:tc>
                <a:tc>
                  <a:txBody>
                    <a:bodyPr wrap="square"/>
                    <a:lstStyle/>
                    <a:p>
                      <a:pPr algn="l"/>
                      <a:r>
                        <a:rPr sz="1200" b="0" u="sng">
                          <a:solidFill>
                            <a:srgbClr val="0072B2"/>
                          </a:solidFill>
                          <a:latin typeface="Arial"/>
                          <a:hlinkClick r:id="rId11"/>
                        </a:rPr>
                        <a:t>0x58d9b3...254f</a:t>
                      </a:r>
                    </a:p>
                  </a:txBody>
                  <a:tcPr marL="54864" marR="54864" marT="27432" marB="27432" anchor="ctr">
                    <a:solidFill>
                      <a:srgbClr val="F7F8FC"/>
                    </a:solidFill>
                  </a:tcPr>
                </a:tc>
              </a:tr>
              <a:tr h="329184">
                <a:tc>
                  <a:txBody>
                    <a:bodyPr wrap="square"/>
                    <a:lstStyle/>
                    <a:p>
                      <a:pPr algn="ctr"/>
                      <a:r>
                        <a:rPr sz="1200" b="0">
                          <a:solidFill>
                            <a:srgbClr val="1E2235"/>
                          </a:solidFill>
                          <a:latin typeface="Arial"/>
                        </a:rPr>
                        <a:t>11</a:t>
                      </a:r>
                    </a:p>
                  </a:txBody>
                  <a:tcPr marL="54864" marR="54864" marT="27432" marB="27432" anchor="ctr">
                    <a:solidFill>
                      <a:srgbClr val="FFFFFF"/>
                    </a:solidFill>
                  </a:tcPr>
                </a:tc>
                <a:tc>
                  <a:txBody>
                    <a:bodyPr wrap="square"/>
                    <a:lstStyle/>
                    <a:p>
                      <a:pPr algn="l"/>
                      <a:r>
                        <a:rPr sz="1200" b="0">
                          <a:solidFill>
                            <a:srgbClr val="1E2235"/>
                          </a:solidFill>
                          <a:latin typeface="Arial"/>
                        </a:rPr>
                        <a:t>On-chain refusal after a grade drop [2100]</a:t>
                      </a:r>
                    </a:p>
                  </a:txBody>
                  <a:tcPr marL="54864" marR="54864" marT="27432" marB="27432" anchor="ctr">
                    <a:solidFill>
                      <a:srgbClr val="FFFFFF"/>
                    </a:solidFill>
                  </a:tcPr>
                </a:tc>
                <a:tc>
                  <a:txBody>
                    <a:bodyPr wrap="square"/>
                    <a:lstStyle/>
                    <a:p>
                      <a:pPr algn="ctr"/>
                      <a:r>
                        <a:rPr sz="1200" b="0">
                          <a:solidFill>
                            <a:srgbClr val="1E2235"/>
                          </a:solidFill>
                          <a:latin typeface="Arial"/>
                        </a:rPr>
                        <a:t>S12</a:t>
                      </a:r>
                    </a:p>
                  </a:txBody>
                  <a:tcPr marL="54864" marR="54864" marT="27432" marB="27432" anchor="ctr">
                    <a:solidFill>
                      <a:srgbClr val="FFFFFF"/>
                    </a:solidFill>
                  </a:tcPr>
                </a:tc>
                <a:tc>
                  <a:txBody>
                    <a:bodyPr wrap="square"/>
                    <a:lstStyle/>
                    <a:p>
                      <a:pPr algn="l"/>
                      <a:r>
                        <a:rPr sz="1200" b="0">
                          <a:solidFill>
                            <a:srgbClr val="1E2235"/>
                          </a:solidFill>
                          <a:latin typeface="Arial"/>
                        </a:rPr>
                        <a:t>recordDecision</a:t>
                      </a:r>
                    </a:p>
                  </a:txBody>
                  <a:tcPr marL="54864" marR="54864" marT="27432" marB="27432" anchor="ctr">
                    <a:solidFill>
                      <a:srgbClr val="FFFFFF"/>
                    </a:solidFill>
                  </a:tcPr>
                </a:tc>
                <a:tc>
                  <a:txBody>
                    <a:bodyPr wrap="square"/>
                    <a:lstStyle/>
                    <a:p>
                      <a:pPr algn="l"/>
                      <a:r>
                        <a:rPr sz="1200" b="0">
                          <a:solidFill>
                            <a:srgbClr val="1E2235"/>
                          </a:solidFill>
                          <a:latin typeface="Arial"/>
                        </a:rPr>
                        <a:t>2100</a:t>
                      </a:r>
                    </a:p>
                  </a:txBody>
                  <a:tcPr marL="54864" marR="54864" marT="27432" marB="27432" anchor="ctr">
                    <a:solidFill>
                      <a:srgbClr val="FFFFFF"/>
                    </a:solidFill>
                  </a:tcPr>
                </a:tc>
                <a:tc>
                  <a:txBody>
                    <a:bodyPr wrap="square"/>
                    <a:lstStyle/>
                    <a:p>
                      <a:pPr algn="l"/>
                      <a:r>
                        <a:rPr sz="1200" b="0" u="sng">
                          <a:solidFill>
                            <a:srgbClr val="0072B2"/>
                          </a:solidFill>
                          <a:latin typeface="Arial"/>
                          <a:hlinkClick r:id="rId12"/>
                        </a:rPr>
                        <a:t>0xae242f...12a0</a:t>
                      </a:r>
                    </a:p>
                  </a:txBody>
                  <a:tcPr marL="54864" marR="54864" marT="27432" marB="27432" anchor="ctr">
                    <a:solidFill>
                      <a:srgbClr val="FFFFFF"/>
                    </a:solidFill>
                  </a:tcPr>
                </a:tc>
              </a:tr>
              <a:tr h="329184">
                <a:tc>
                  <a:txBody>
                    <a:bodyPr wrap="square"/>
                    <a:lstStyle/>
                    <a:p>
                      <a:pPr algn="ctr"/>
                      <a:r>
                        <a:rPr sz="1200" b="0">
                          <a:solidFill>
                            <a:srgbClr val="1E2235"/>
                          </a:solidFill>
                          <a:latin typeface="Arial"/>
                        </a:rPr>
                        <a:t>12</a:t>
                      </a:r>
                    </a:p>
                  </a:txBody>
                  <a:tcPr marL="54864" marR="54864" marT="27432" marB="27432" anchor="ctr">
                    <a:solidFill>
                      <a:srgbClr val="F7F8FC"/>
                    </a:solidFill>
                  </a:tcPr>
                </a:tc>
                <a:tc>
                  <a:txBody>
                    <a:bodyPr wrap="square"/>
                    <a:lstStyle/>
                    <a:p>
                      <a:pPr algn="l"/>
                      <a:r>
                        <a:rPr sz="1200" b="0">
                          <a:solidFill>
                            <a:srgbClr val="1E2235"/>
                          </a:solidFill>
                          <a:latin typeface="Arial"/>
                        </a:rPr>
                        <a:t>Stolen key pays a grade-D payee: reverts GradeNotAllowed</a:t>
                      </a:r>
                    </a:p>
                  </a:txBody>
                  <a:tcPr marL="54864" marR="54864" marT="27432" marB="27432" anchor="ctr">
                    <a:solidFill>
                      <a:srgbClr val="F7F8FC"/>
                    </a:solidFill>
                  </a:tcPr>
                </a:tc>
                <a:tc>
                  <a:txBody>
                    <a:bodyPr wrap="square"/>
                    <a:lstStyle/>
                    <a:p>
                      <a:pPr algn="ctr"/>
                      <a:r>
                        <a:rPr sz="1200" b="0">
                          <a:solidFill>
                            <a:srgbClr val="1E2235"/>
                          </a:solidFill>
                          <a:latin typeface="Arial"/>
                        </a:rPr>
                        <a:t>S13</a:t>
                      </a:r>
                    </a:p>
                  </a:txBody>
                  <a:tcPr marL="54864" marR="54864" marT="27432" marB="27432" anchor="ctr">
                    <a:solidFill>
                      <a:srgbClr val="F7F8FC"/>
                    </a:solidFill>
                  </a:tcPr>
                </a:tc>
                <a:tc>
                  <a:txBody>
                    <a:bodyPr wrap="square"/>
                    <a:lstStyle/>
                    <a:p>
                      <a:pPr algn="l"/>
                      <a:r>
                        <a:rPr sz="1200" b="0">
                          <a:solidFill>
                            <a:srgbClr val="1E2235"/>
                          </a:solidFill>
                          <a:latin typeface="Arial"/>
                        </a:rPr>
                        <a:t>pay</a:t>
                      </a:r>
                    </a:p>
                  </a:txBody>
                  <a:tcPr marL="54864" marR="54864" marT="27432" marB="27432" anchor="ctr">
                    <a:solidFill>
                      <a:srgbClr val="F7F8FC"/>
                    </a:solidFill>
                  </a:tcPr>
                </a:tc>
                <a:tc>
                  <a:txBody>
                    <a:bodyPr wrap="square"/>
                    <a:lstStyle/>
                    <a:p>
                      <a:pPr algn="l"/>
                      <a:r>
                        <a:rPr sz="1200" b="0">
                          <a:solidFill>
                            <a:srgbClr val="1E2235"/>
                          </a:solidFill>
                          <a:latin typeface="Arial"/>
                        </a:rPr>
                        <a:t>-</a:t>
                      </a:r>
                    </a:p>
                  </a:txBody>
                  <a:tcPr marL="54864" marR="54864" marT="27432" marB="27432" anchor="ctr">
                    <a:solidFill>
                      <a:srgbClr val="F7F8FC"/>
                    </a:solidFill>
                  </a:tcPr>
                </a:tc>
                <a:tc>
                  <a:txBody>
                    <a:bodyPr wrap="square"/>
                    <a:lstStyle/>
                    <a:p>
                      <a:pPr algn="l"/>
                      <a:r>
                        <a:rPr sz="1200" b="0" u="sng">
                          <a:solidFill>
                            <a:srgbClr val="0072B2"/>
                          </a:solidFill>
                          <a:latin typeface="Arial"/>
                          <a:hlinkClick r:id="rId13"/>
                        </a:rPr>
                        <a:t>0x024356...6bc4</a:t>
                      </a:r>
                    </a:p>
                  </a:txBody>
                  <a:tcPr marL="54864" marR="54864" marT="27432" marB="27432" anchor="ctr">
                    <a:solidFill>
                      <a:srgbClr val="F7F8FC"/>
                    </a:solidFill>
                  </a:tcPr>
                </a:tc>
              </a:tr>
              <a:tr h="329184">
                <a:tc>
                  <a:txBody>
                    <a:bodyPr wrap="square"/>
                    <a:lstStyle/>
                    <a:p>
                      <a:pPr algn="ctr"/>
                      <a:r>
                        <a:rPr sz="1200" b="0">
                          <a:solidFill>
                            <a:srgbClr val="1E2235"/>
                          </a:solidFill>
                          <a:latin typeface="Arial"/>
                        </a:rPr>
                        <a:t>13</a:t>
                      </a:r>
                    </a:p>
                  </a:txBody>
                  <a:tcPr marL="54864" marR="54864" marT="27432" marB="27432" anchor="ctr">
                    <a:solidFill>
                      <a:srgbClr val="FFFFFF"/>
                    </a:solidFill>
                  </a:tcPr>
                </a:tc>
                <a:tc>
                  <a:txBody>
                    <a:bodyPr wrap="square"/>
                    <a:lstStyle/>
                    <a:p>
                      <a:pPr algn="l"/>
                      <a:r>
                        <a:rPr sz="1200" b="0">
                          <a:solidFill>
                            <a:srgbClr val="1E2235"/>
                          </a:solidFill>
                          <a:latin typeface="Arial"/>
                        </a:rPr>
                        <a:t>Stolen key replays an order id: reverts OrderExists</a:t>
                      </a:r>
                    </a:p>
                  </a:txBody>
                  <a:tcPr marL="54864" marR="54864" marT="27432" marB="27432" anchor="ctr">
                    <a:solidFill>
                      <a:srgbClr val="FFFFFF"/>
                    </a:solidFill>
                  </a:tcPr>
                </a:tc>
                <a:tc>
                  <a:txBody>
                    <a:bodyPr wrap="square"/>
                    <a:lstStyle/>
                    <a:p>
                      <a:pPr algn="ctr"/>
                      <a:r>
                        <a:rPr sz="1200" b="0">
                          <a:solidFill>
                            <a:srgbClr val="1E2235"/>
                          </a:solidFill>
                          <a:latin typeface="Arial"/>
                        </a:rPr>
                        <a:t>S13</a:t>
                      </a:r>
                    </a:p>
                  </a:txBody>
                  <a:tcPr marL="54864" marR="54864" marT="27432" marB="27432" anchor="ctr">
                    <a:solidFill>
                      <a:srgbClr val="FFFFFF"/>
                    </a:solidFill>
                  </a:tcPr>
                </a:tc>
                <a:tc>
                  <a:txBody>
                    <a:bodyPr wrap="square"/>
                    <a:lstStyle/>
                    <a:p>
                      <a:pPr algn="l"/>
                      <a:r>
                        <a:rPr sz="1200" b="0">
                          <a:solidFill>
                            <a:srgbClr val="1E2235"/>
                          </a:solidFill>
                          <a:latin typeface="Arial"/>
                        </a:rPr>
                        <a:t>pay</a:t>
                      </a:r>
                    </a:p>
                  </a:txBody>
                  <a:tcPr marL="54864" marR="54864" marT="27432" marB="27432" anchor="ctr">
                    <a:solidFill>
                      <a:srgbClr val="FFFFFF"/>
                    </a:solidFill>
                  </a:tcPr>
                </a:tc>
                <a:tc>
                  <a:txBody>
                    <a:bodyPr wrap="square"/>
                    <a:lstStyle/>
                    <a:p>
                      <a:pPr algn="l"/>
                      <a:r>
                        <a:rPr sz="1200" b="0">
                          <a:solidFill>
                            <a:srgbClr val="1E2235"/>
                          </a:solidFill>
                          <a:latin typeface="Arial"/>
                        </a:rPr>
                        <a:t>-</a:t>
                      </a:r>
                    </a:p>
                  </a:txBody>
                  <a:tcPr marL="54864" marR="54864" marT="27432" marB="27432" anchor="ctr">
                    <a:solidFill>
                      <a:srgbClr val="FFFFFF"/>
                    </a:solidFill>
                  </a:tcPr>
                </a:tc>
                <a:tc>
                  <a:txBody>
                    <a:bodyPr wrap="square"/>
                    <a:lstStyle/>
                    <a:p>
                      <a:pPr algn="l"/>
                      <a:r>
                        <a:rPr sz="1200" b="0" u="sng">
                          <a:solidFill>
                            <a:srgbClr val="0072B2"/>
                          </a:solidFill>
                          <a:latin typeface="Arial"/>
                          <a:hlinkClick r:id="rId14"/>
                        </a:rPr>
                        <a:t>0xa078d0...c5c6</a:t>
                      </a:r>
                    </a:p>
                  </a:txBody>
                  <a:tcPr marL="54864" marR="54864" marT="27432" marB="27432" anchor="ctr">
                    <a:solidFill>
                      <a:srgbClr val="FFFFFF"/>
                    </a:solidFill>
                  </a:tcPr>
                </a:tc>
              </a:tr>
            </a:tbl>
          </a:graphicData>
        </a:graphic>
      </p:graphicFrame>
      <p:sp>
        <p:nvSpPr>
          <p:cNvPr id="4" name="Footer"/>
          <p:cNvSpPr txBox="1"/>
          <p:nvPr/>
        </p:nvSpPr>
        <p:spPr>
          <a:xfrm>
            <a:off x="457200" y="6272784"/>
            <a:ext cx="11292840" cy="347472"/>
          </a:xfrm>
          <a:prstGeom prst="rect">
            <a:avLst/>
          </a:prstGeom>
          <a:noFill/>
        </p:spPr>
        <p:txBody>
          <a:bodyPr wrap="square" lIns="73152" rIns="73152" tIns="36576" bIns="36576" anchor="t">
            <a:noAutofit/>
          </a:bodyPr>
          <a:lstStyle/>
          <a:p>
            <a:pPr algn="l">
              <a:lnSpc>
                <a:spcPct val="100000"/>
              </a:lnSpc>
              <a:spcAft>
                <a:spcPts val="0"/>
              </a:spcAft>
            </a:pPr>
            <a:r>
              <a:rPr sz="1100" b="0">
                <a:solidFill>
                  <a:srgbClr val="5B6075"/>
                </a:solidFill>
                <a:latin typeface="Arial"/>
              </a:rPr>
              <a:t>From evidence/base_sepolia/HEADLINE.md (not counted in the 10 minutes; for questions)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84048" y="91440"/>
            <a:ext cx="9326880" cy="896112"/>
          </a:xfrm>
          <a:prstGeom prst="rect">
            <a:avLst/>
          </a:prstGeom>
          <a:noFill/>
        </p:spPr>
        <p:txBody>
          <a:bodyPr wrap="square" lIns="73152" rIns="73152" tIns="36576" bIns="36576" anchor="ctr">
            <a:noAutofit/>
          </a:bodyPr>
          <a:lstStyle/>
          <a:p>
            <a:pPr algn="l">
              <a:lnSpc>
                <a:spcPct val="100000"/>
              </a:lnSpc>
              <a:spcAft>
                <a:spcPts val="0"/>
              </a:spcAft>
            </a:pPr>
            <a:r>
              <a:rPr sz="2400" b="1">
                <a:solidFill>
                  <a:srgbClr val="FFFFFF"/>
                </a:solidFill>
                <a:latin typeface="Arial"/>
              </a:rPr>
              <a:t>Backup 2/2: headline claims and their transactions</a:t>
            </a:r>
          </a:p>
        </p:txBody>
      </p:sp>
      <p:graphicFrame>
        <p:nvGraphicFramePr>
          <p:cNvPr id="3" name="Table 2"/>
          <p:cNvGraphicFramePr>
            <a:graphicFrameLocks noGrp="1"/>
          </p:cNvGraphicFramePr>
          <p:nvPr/>
        </p:nvGraphicFramePr>
        <p:xfrm>
          <a:off x="457200" y="1234440"/>
          <a:ext cx="11292840" cy="4261104"/>
        </p:xfrm>
        <a:graphic>
          <a:graphicData uri="http://schemas.openxmlformats.org/drawingml/2006/table">
            <a:tbl>
              <a:tblPr firstRow="0" bandRow="0">
                <a:tableStyleId>{5C22544A-7EE6-4342-B048-85BDC9FD1C3A}</a:tableStyleId>
              </a:tblPr>
              <a:tblGrid>
                <a:gridCol w="411480"/>
                <a:gridCol w="5623560"/>
                <a:gridCol w="640080"/>
                <a:gridCol w="1600200"/>
                <a:gridCol w="1417320"/>
                <a:gridCol w="1600200"/>
              </a:tblGrid>
              <a:tr h="310896">
                <a:tc>
                  <a:txBody>
                    <a:bodyPr wrap="square"/>
                    <a:lstStyle/>
                    <a:p>
                      <a:pPr algn="ctr"/>
                      <a:r>
                        <a:rPr sz="1200" b="1">
                          <a:solidFill>
                            <a:srgbClr val="FFFFFF"/>
                          </a:solidFill>
                          <a:latin typeface="Arial"/>
                        </a:rPr>
                        <a:t>#</a:t>
                      </a:r>
                    </a:p>
                  </a:txBody>
                  <a:tcPr marL="54864" marR="54864" marT="27432" marB="27432" anchor="ctr">
                    <a:solidFill>
                      <a:srgbClr val="3F4C9E"/>
                    </a:solidFill>
                  </a:tcPr>
                </a:tc>
                <a:tc>
                  <a:txBody>
                    <a:bodyPr wrap="square"/>
                    <a:lstStyle/>
                    <a:p>
                      <a:pPr algn="l"/>
                      <a:r>
                        <a:rPr sz="1200" b="1">
                          <a:solidFill>
                            <a:srgbClr val="FFFFFF"/>
                          </a:solidFill>
                          <a:latin typeface="Arial"/>
                        </a:rPr>
                        <a:t>Claim</a:t>
                      </a:r>
                    </a:p>
                  </a:txBody>
                  <a:tcPr marL="54864" marR="54864" marT="27432" marB="27432" anchor="ctr">
                    <a:solidFill>
                      <a:srgbClr val="3F4C9E"/>
                    </a:solidFill>
                  </a:tcPr>
                </a:tc>
                <a:tc>
                  <a:txBody>
                    <a:bodyPr wrap="square"/>
                    <a:lstStyle/>
                    <a:p>
                      <a:pPr algn="ctr"/>
                      <a:r>
                        <a:rPr sz="1200" b="1">
                          <a:solidFill>
                            <a:srgbClr val="FFFFFF"/>
                          </a:solidFill>
                          <a:latin typeface="Arial"/>
                        </a:rPr>
                        <a:t>Step</a:t>
                      </a:r>
                    </a:p>
                  </a:txBody>
                  <a:tcPr marL="54864" marR="54864" marT="27432" marB="27432" anchor="ctr">
                    <a:solidFill>
                      <a:srgbClr val="3F4C9E"/>
                    </a:solidFill>
                  </a:tcPr>
                </a:tc>
                <a:tc>
                  <a:txBody>
                    <a:bodyPr wrap="square"/>
                    <a:lstStyle/>
                    <a:p>
                      <a:pPr algn="l"/>
                      <a:r>
                        <a:rPr sz="1200" b="1">
                          <a:solidFill>
                            <a:srgbClr val="FFFFFF"/>
                          </a:solidFill>
                          <a:latin typeface="Arial"/>
                        </a:rPr>
                        <a:t>Function</a:t>
                      </a:r>
                    </a:p>
                  </a:txBody>
                  <a:tcPr marL="54864" marR="54864" marT="27432" marB="27432" anchor="ctr">
                    <a:solidFill>
                      <a:srgbClr val="3F4C9E"/>
                    </a:solidFill>
                  </a:tcPr>
                </a:tc>
                <a:tc>
                  <a:txBody>
                    <a:bodyPr wrap="square"/>
                    <a:lstStyle/>
                    <a:p>
                      <a:pPr algn="l"/>
                      <a:r>
                        <a:rPr sz="1200" b="1">
                          <a:solidFill>
                            <a:srgbClr val="FFFFFF"/>
                          </a:solidFill>
                          <a:latin typeface="Arial"/>
                        </a:rPr>
                        <a:t>Reasons</a:t>
                      </a:r>
                    </a:p>
                  </a:txBody>
                  <a:tcPr marL="54864" marR="54864" marT="27432" marB="27432" anchor="ctr">
                    <a:solidFill>
                      <a:srgbClr val="3F4C9E"/>
                    </a:solidFill>
                  </a:tcPr>
                </a:tc>
                <a:tc>
                  <a:txBody>
                    <a:bodyPr wrap="square"/>
                    <a:lstStyle/>
                    <a:p>
                      <a:pPr algn="l"/>
                      <a:r>
                        <a:rPr sz="1200" b="1">
                          <a:solidFill>
                            <a:srgbClr val="FFFFFF"/>
                          </a:solidFill>
                          <a:latin typeface="Arial"/>
                        </a:rPr>
                        <a:t>Transaction</a:t>
                      </a:r>
                    </a:p>
                  </a:txBody>
                  <a:tcPr marL="54864" marR="54864" marT="27432" marB="27432" anchor="ctr">
                    <a:solidFill>
                      <a:srgbClr val="3F4C9E"/>
                    </a:solidFill>
                  </a:tcPr>
                </a:tc>
              </a:tr>
              <a:tr h="329184">
                <a:tc>
                  <a:txBody>
                    <a:bodyPr wrap="square"/>
                    <a:lstStyle/>
                    <a:p>
                      <a:pPr algn="ctr"/>
                      <a:r>
                        <a:rPr sz="1200" b="0">
                          <a:solidFill>
                            <a:srgbClr val="1E2235"/>
                          </a:solidFill>
                          <a:latin typeface="Arial"/>
                        </a:rPr>
                        <a:t>14</a:t>
                      </a:r>
                    </a:p>
                  </a:txBody>
                  <a:tcPr marL="54864" marR="54864" marT="27432" marB="27432" anchor="ctr">
                    <a:solidFill>
                      <a:srgbClr val="FFFFFF"/>
                    </a:solidFill>
                  </a:tcPr>
                </a:tc>
                <a:tc>
                  <a:txBody>
                    <a:bodyPr wrap="square"/>
                    <a:lstStyle/>
                    <a:p>
                      <a:pPr algn="l"/>
                      <a:r>
                        <a:rPr sz="1200" b="0">
                          <a:solidFill>
                            <a:srgbClr val="1E2235"/>
                          </a:solidFill>
                          <a:latin typeface="Arial"/>
                        </a:rPr>
                        <a:t>Agent refunds an undelivered escrow [2400]</a:t>
                      </a:r>
                    </a:p>
                  </a:txBody>
                  <a:tcPr marL="54864" marR="54864" marT="27432" marB="27432" anchor="ctr">
                    <a:solidFill>
                      <a:srgbClr val="FFFFFF"/>
                    </a:solidFill>
                  </a:tcPr>
                </a:tc>
                <a:tc>
                  <a:txBody>
                    <a:bodyPr wrap="square"/>
                    <a:lstStyle/>
                    <a:p>
                      <a:pPr algn="ctr"/>
                      <a:r>
                        <a:rPr sz="1200" b="0">
                          <a:solidFill>
                            <a:srgbClr val="1E2235"/>
                          </a:solidFill>
                          <a:latin typeface="Arial"/>
                        </a:rPr>
                        <a:t>S14</a:t>
                      </a:r>
                    </a:p>
                  </a:txBody>
                  <a:tcPr marL="54864" marR="54864" marT="27432" marB="27432" anchor="ctr">
                    <a:solidFill>
                      <a:srgbClr val="FFFFFF"/>
                    </a:solidFill>
                  </a:tcPr>
                </a:tc>
                <a:tc>
                  <a:txBody>
                    <a:bodyPr wrap="square"/>
                    <a:lstStyle/>
                    <a:p>
                      <a:pPr algn="l"/>
                      <a:r>
                        <a:rPr sz="1200" b="0">
                          <a:solidFill>
                            <a:srgbClr val="1E2235"/>
                          </a:solidFill>
                          <a:latin typeface="Arial"/>
                        </a:rPr>
                        <a:t>refund</a:t>
                      </a:r>
                    </a:p>
                  </a:txBody>
                  <a:tcPr marL="54864" marR="54864" marT="27432" marB="27432" anchor="ctr">
                    <a:solidFill>
                      <a:srgbClr val="FFFFFF"/>
                    </a:solidFill>
                  </a:tcPr>
                </a:tc>
                <a:tc>
                  <a:txBody>
                    <a:bodyPr wrap="square"/>
                    <a:lstStyle/>
                    <a:p>
                      <a:pPr algn="l"/>
                      <a:r>
                        <a:rPr sz="1200" b="0">
                          <a:solidFill>
                            <a:srgbClr val="1E2235"/>
                          </a:solidFill>
                          <a:latin typeface="Arial"/>
                        </a:rPr>
                        <a:t>2400</a:t>
                      </a:r>
                    </a:p>
                  </a:txBody>
                  <a:tcPr marL="54864" marR="54864" marT="27432" marB="27432" anchor="ctr">
                    <a:solidFill>
                      <a:srgbClr val="FFFFFF"/>
                    </a:solidFill>
                  </a:tcPr>
                </a:tc>
                <a:tc>
                  <a:txBody>
                    <a:bodyPr wrap="square"/>
                    <a:lstStyle/>
                    <a:p>
                      <a:pPr algn="l"/>
                      <a:r>
                        <a:rPr sz="1200" b="0" u="sng">
                          <a:solidFill>
                            <a:srgbClr val="0072B2"/>
                          </a:solidFill>
                          <a:latin typeface="Arial"/>
                          <a:hlinkClick r:id="rId2"/>
                        </a:rPr>
                        <a:t>0x186a10...5587</a:t>
                      </a:r>
                    </a:p>
                  </a:txBody>
                  <a:tcPr marL="54864" marR="54864" marT="27432" marB="27432" anchor="ctr">
                    <a:solidFill>
                      <a:srgbClr val="FFFFFF"/>
                    </a:solidFill>
                  </a:tcPr>
                </a:tc>
              </a:tr>
              <a:tr h="329184">
                <a:tc>
                  <a:txBody>
                    <a:bodyPr wrap="square"/>
                    <a:lstStyle/>
                    <a:p>
                      <a:pPr algn="ctr"/>
                      <a:r>
                        <a:rPr sz="1200" b="0">
                          <a:solidFill>
                            <a:srgbClr val="1E2235"/>
                          </a:solidFill>
                          <a:latin typeface="Arial"/>
                        </a:rPr>
                        <a:t>15</a:t>
                      </a:r>
                    </a:p>
                  </a:txBody>
                  <a:tcPr marL="54864" marR="54864" marT="27432" marB="27432" anchor="ctr">
                    <a:solidFill>
                      <a:srgbClr val="F7F8FC"/>
                    </a:solidFill>
                  </a:tcPr>
                </a:tc>
                <a:tc>
                  <a:txBody>
                    <a:bodyPr wrap="square"/>
                    <a:lstStyle/>
                    <a:p>
                      <a:pPr algn="l"/>
                      <a:r>
                        <a:rPr sz="1200" b="0">
                          <a:solidFill>
                            <a:srgbClr val="1E2235"/>
                          </a:solidFill>
                          <a:latin typeface="Arial"/>
                        </a:rPr>
                        <a:t>Injection followed by the LLM: violation recorded, wallet demoted [3100]</a:t>
                      </a:r>
                    </a:p>
                  </a:txBody>
                  <a:tcPr marL="54864" marR="54864" marT="27432" marB="27432" anchor="ctr">
                    <a:solidFill>
                      <a:srgbClr val="F7F8FC"/>
                    </a:solidFill>
                  </a:tcPr>
                </a:tc>
                <a:tc>
                  <a:txBody>
                    <a:bodyPr wrap="square"/>
                    <a:lstStyle/>
                    <a:p>
                      <a:pPr algn="ctr"/>
                      <a:r>
                        <a:rPr sz="1200" b="0">
                          <a:solidFill>
                            <a:srgbClr val="1E2235"/>
                          </a:solidFill>
                          <a:latin typeface="Arial"/>
                        </a:rPr>
                        <a:t>S15</a:t>
                      </a:r>
                    </a:p>
                  </a:txBody>
                  <a:tcPr marL="54864" marR="54864" marT="27432" marB="27432" anchor="ctr">
                    <a:solidFill>
                      <a:srgbClr val="F7F8FC"/>
                    </a:solidFill>
                  </a:tcPr>
                </a:tc>
                <a:tc>
                  <a:txBody>
                    <a:bodyPr wrap="square"/>
                    <a:lstStyle/>
                    <a:p>
                      <a:pPr algn="l"/>
                      <a:r>
                        <a:rPr sz="1200" b="0">
                          <a:solidFill>
                            <a:srgbClr val="1E2235"/>
                          </a:solidFill>
                          <a:latin typeface="Arial"/>
                        </a:rPr>
                        <a:t>recordViolation</a:t>
                      </a:r>
                    </a:p>
                  </a:txBody>
                  <a:tcPr marL="54864" marR="54864" marT="27432" marB="27432" anchor="ctr">
                    <a:solidFill>
                      <a:srgbClr val="F7F8FC"/>
                    </a:solidFill>
                  </a:tcPr>
                </a:tc>
                <a:tc>
                  <a:txBody>
                    <a:bodyPr wrap="square"/>
                    <a:lstStyle/>
                    <a:p>
                      <a:pPr algn="l"/>
                      <a:r>
                        <a:rPr sz="1200" b="0">
                          <a:solidFill>
                            <a:srgbClr val="1E2235"/>
                          </a:solidFill>
                          <a:latin typeface="Arial"/>
                        </a:rPr>
                        <a:t>3100</a:t>
                      </a:r>
                    </a:p>
                  </a:txBody>
                  <a:tcPr marL="54864" marR="54864" marT="27432" marB="27432" anchor="ctr">
                    <a:solidFill>
                      <a:srgbClr val="F7F8FC"/>
                    </a:solidFill>
                  </a:tcPr>
                </a:tc>
                <a:tc>
                  <a:txBody>
                    <a:bodyPr wrap="square"/>
                    <a:lstStyle/>
                    <a:p>
                      <a:pPr algn="l"/>
                      <a:r>
                        <a:rPr sz="1200" b="0" u="sng">
                          <a:solidFill>
                            <a:srgbClr val="0072B2"/>
                          </a:solidFill>
                          <a:latin typeface="Arial"/>
                          <a:hlinkClick r:id="rId3"/>
                        </a:rPr>
                        <a:t>0x8e8dc7...b700</a:t>
                      </a:r>
                    </a:p>
                  </a:txBody>
                  <a:tcPr marL="54864" marR="54864" marT="27432" marB="27432" anchor="ctr">
                    <a:solidFill>
                      <a:srgbClr val="F7F8FC"/>
                    </a:solidFill>
                  </a:tcPr>
                </a:tc>
              </a:tr>
              <a:tr h="329184">
                <a:tc>
                  <a:txBody>
                    <a:bodyPr wrap="square"/>
                    <a:lstStyle/>
                    <a:p>
                      <a:pPr algn="ctr"/>
                      <a:r>
                        <a:rPr sz="1200" b="0">
                          <a:solidFill>
                            <a:srgbClr val="1E2235"/>
                          </a:solidFill>
                          <a:latin typeface="Arial"/>
                        </a:rPr>
                        <a:t>16</a:t>
                      </a:r>
                    </a:p>
                  </a:txBody>
                  <a:tcPr marL="54864" marR="54864" marT="27432" marB="27432" anchor="ctr">
                    <a:solidFill>
                      <a:srgbClr val="FFFFFF"/>
                    </a:solidFill>
                  </a:tcPr>
                </a:tc>
                <a:tc>
                  <a:txBody>
                    <a:bodyPr wrap="square"/>
                    <a:lstStyle/>
                    <a:p>
                      <a:pPr algn="l"/>
                      <a:r>
                        <a:rPr sz="1200" b="0">
                          <a:solidFill>
                            <a:srgbClr val="1E2235"/>
                          </a:solidFill>
                          <a:latin typeface="Arial"/>
                        </a:rPr>
                        <a:t>Verified INJECTION_ATTEMPT report filed by code</a:t>
                      </a:r>
                    </a:p>
                  </a:txBody>
                  <a:tcPr marL="54864" marR="54864" marT="27432" marB="27432" anchor="ctr">
                    <a:solidFill>
                      <a:srgbClr val="FFFFFF"/>
                    </a:solidFill>
                  </a:tcPr>
                </a:tc>
                <a:tc>
                  <a:txBody>
                    <a:bodyPr wrap="square"/>
                    <a:lstStyle/>
                    <a:p>
                      <a:pPr algn="ctr"/>
                      <a:r>
                        <a:rPr sz="1200" b="0">
                          <a:solidFill>
                            <a:srgbClr val="1E2235"/>
                          </a:solidFill>
                          <a:latin typeface="Arial"/>
                        </a:rPr>
                        <a:t>S15</a:t>
                      </a:r>
                    </a:p>
                  </a:txBody>
                  <a:tcPr marL="54864" marR="54864" marT="27432" marB="27432" anchor="ctr">
                    <a:solidFill>
                      <a:srgbClr val="FFFFFF"/>
                    </a:solidFill>
                  </a:tcPr>
                </a:tc>
                <a:tc>
                  <a:txBody>
                    <a:bodyPr wrap="square"/>
                    <a:lstStyle/>
                    <a:p>
                      <a:pPr algn="l"/>
                      <a:r>
                        <a:rPr sz="1200" b="0">
                          <a:solidFill>
                            <a:srgbClr val="1E2235"/>
                          </a:solidFill>
                          <a:latin typeface="Arial"/>
                        </a:rPr>
                        <a:t>giveFeedback</a:t>
                      </a:r>
                    </a:p>
                  </a:txBody>
                  <a:tcPr marL="54864" marR="54864" marT="27432" marB="27432" anchor="ctr">
                    <a:solidFill>
                      <a:srgbClr val="FFFFFF"/>
                    </a:solidFill>
                  </a:tcPr>
                </a:tc>
                <a:tc>
                  <a:txBody>
                    <a:bodyPr wrap="square"/>
                    <a:lstStyle/>
                    <a:p>
                      <a:pPr algn="l"/>
                      <a:r>
                        <a:rPr sz="1200" b="0">
                          <a:solidFill>
                            <a:srgbClr val="1E2235"/>
                          </a:solidFill>
                          <a:latin typeface="Arial"/>
                        </a:rPr>
                        <a:t>-</a:t>
                      </a:r>
                    </a:p>
                  </a:txBody>
                  <a:tcPr marL="54864" marR="54864" marT="27432" marB="27432" anchor="ctr">
                    <a:solidFill>
                      <a:srgbClr val="FFFFFF"/>
                    </a:solidFill>
                  </a:tcPr>
                </a:tc>
                <a:tc>
                  <a:txBody>
                    <a:bodyPr wrap="square"/>
                    <a:lstStyle/>
                    <a:p>
                      <a:pPr algn="l"/>
                      <a:r>
                        <a:rPr sz="1200" b="0" u="sng">
                          <a:solidFill>
                            <a:srgbClr val="0072B2"/>
                          </a:solidFill>
                          <a:latin typeface="Arial"/>
                          <a:hlinkClick r:id="rId4"/>
                        </a:rPr>
                        <a:t>0x3891c7...d006</a:t>
                      </a:r>
                    </a:p>
                  </a:txBody>
                  <a:tcPr marL="54864" marR="54864" marT="27432" marB="27432" anchor="ctr">
                    <a:solidFill>
                      <a:srgbClr val="FFFFFF"/>
                    </a:solidFill>
                  </a:tcPr>
                </a:tc>
              </a:tr>
              <a:tr h="329184">
                <a:tc>
                  <a:txBody>
                    <a:bodyPr wrap="square"/>
                    <a:lstStyle/>
                    <a:p>
                      <a:pPr algn="ctr"/>
                      <a:r>
                        <a:rPr sz="1200" b="0">
                          <a:solidFill>
                            <a:srgbClr val="1E2235"/>
                          </a:solidFill>
                          <a:latin typeface="Arial"/>
                        </a:rPr>
                        <a:t>17</a:t>
                      </a:r>
                    </a:p>
                  </a:txBody>
                  <a:tcPr marL="54864" marR="54864" marT="27432" marB="27432" anchor="ctr">
                    <a:solidFill>
                      <a:srgbClr val="F7F8FC"/>
                    </a:solidFill>
                  </a:tcPr>
                </a:tc>
                <a:tc>
                  <a:txBody>
                    <a:bodyPr wrap="square"/>
                    <a:lstStyle/>
                    <a:p>
                      <a:pPr algn="l"/>
                      <a:r>
                        <a:rPr sz="1200" b="0">
                          <a:solidFill>
                            <a:srgbClr val="1E2235"/>
                          </a:solidFill>
                          <a:latin typeface="Arial"/>
                        </a:rPr>
                        <a:t>Drain attempt: severe violation freezes the vault [3200]</a:t>
                      </a:r>
                    </a:p>
                  </a:txBody>
                  <a:tcPr marL="54864" marR="54864" marT="27432" marB="27432" anchor="ctr">
                    <a:solidFill>
                      <a:srgbClr val="F7F8FC"/>
                    </a:solidFill>
                  </a:tcPr>
                </a:tc>
                <a:tc>
                  <a:txBody>
                    <a:bodyPr wrap="square"/>
                    <a:lstStyle/>
                    <a:p>
                      <a:pPr algn="ctr"/>
                      <a:r>
                        <a:rPr sz="1200" b="0">
                          <a:solidFill>
                            <a:srgbClr val="1E2235"/>
                          </a:solidFill>
                          <a:latin typeface="Arial"/>
                        </a:rPr>
                        <a:t>S16</a:t>
                      </a:r>
                    </a:p>
                  </a:txBody>
                  <a:tcPr marL="54864" marR="54864" marT="27432" marB="27432" anchor="ctr">
                    <a:solidFill>
                      <a:srgbClr val="F7F8FC"/>
                    </a:solidFill>
                  </a:tcPr>
                </a:tc>
                <a:tc>
                  <a:txBody>
                    <a:bodyPr wrap="square"/>
                    <a:lstStyle/>
                    <a:p>
                      <a:pPr algn="l"/>
                      <a:r>
                        <a:rPr sz="1200" b="0">
                          <a:solidFill>
                            <a:srgbClr val="1E2235"/>
                          </a:solidFill>
                          <a:latin typeface="Arial"/>
                        </a:rPr>
                        <a:t>recordViolation</a:t>
                      </a:r>
                    </a:p>
                  </a:txBody>
                  <a:tcPr marL="54864" marR="54864" marT="27432" marB="27432" anchor="ctr">
                    <a:solidFill>
                      <a:srgbClr val="F7F8FC"/>
                    </a:solidFill>
                  </a:tcPr>
                </a:tc>
                <a:tc>
                  <a:txBody>
                    <a:bodyPr wrap="square"/>
                    <a:lstStyle/>
                    <a:p>
                      <a:pPr algn="l"/>
                      <a:r>
                        <a:rPr sz="1200" b="0">
                          <a:solidFill>
                            <a:srgbClr val="1E2235"/>
                          </a:solidFill>
                          <a:latin typeface="Arial"/>
                        </a:rPr>
                        <a:t>3200</a:t>
                      </a:r>
                    </a:p>
                  </a:txBody>
                  <a:tcPr marL="54864" marR="54864" marT="27432" marB="27432" anchor="ctr">
                    <a:solidFill>
                      <a:srgbClr val="F7F8FC"/>
                    </a:solidFill>
                  </a:tcPr>
                </a:tc>
                <a:tc>
                  <a:txBody>
                    <a:bodyPr wrap="square"/>
                    <a:lstStyle/>
                    <a:p>
                      <a:pPr algn="l"/>
                      <a:r>
                        <a:rPr sz="1200" b="0" u="sng">
                          <a:solidFill>
                            <a:srgbClr val="0072B2"/>
                          </a:solidFill>
                          <a:latin typeface="Arial"/>
                          <a:hlinkClick r:id="rId5"/>
                        </a:rPr>
                        <a:t>0x2a829d...9de0</a:t>
                      </a:r>
                    </a:p>
                  </a:txBody>
                  <a:tcPr marL="54864" marR="54864" marT="27432" marB="27432" anchor="ctr">
                    <a:solidFill>
                      <a:srgbClr val="F7F8FC"/>
                    </a:solidFill>
                  </a:tcPr>
                </a:tc>
              </a:tr>
              <a:tr h="329184">
                <a:tc>
                  <a:txBody>
                    <a:bodyPr wrap="square"/>
                    <a:lstStyle/>
                    <a:p>
                      <a:pPr algn="ctr"/>
                      <a:r>
                        <a:rPr sz="1200" b="0">
                          <a:solidFill>
                            <a:srgbClr val="1E2235"/>
                          </a:solidFill>
                          <a:latin typeface="Arial"/>
                        </a:rPr>
                        <a:t>18</a:t>
                      </a:r>
                    </a:p>
                  </a:txBody>
                  <a:tcPr marL="54864" marR="54864" marT="27432" marB="27432" anchor="ctr">
                    <a:solidFill>
                      <a:srgbClr val="FFFFFF"/>
                    </a:solidFill>
                  </a:tcPr>
                </a:tc>
                <a:tc>
                  <a:txBody>
                    <a:bodyPr wrap="square"/>
                    <a:lstStyle/>
                    <a:p>
                      <a:pPr algn="l"/>
                      <a:r>
                        <a:rPr sz="1200" b="0">
                          <a:solidFill>
                            <a:srgbClr val="1E2235"/>
                          </a:solidFill>
                          <a:latin typeface="Arial"/>
                        </a:rPr>
                        <a:t>Hijacked provider Orion graded D (verified injection report)</a:t>
                      </a:r>
                    </a:p>
                  </a:txBody>
                  <a:tcPr marL="54864" marR="54864" marT="27432" marB="27432" anchor="ctr">
                    <a:solidFill>
                      <a:srgbClr val="FFFFFF"/>
                    </a:solidFill>
                  </a:tcPr>
                </a:tc>
                <a:tc>
                  <a:txBody>
                    <a:bodyPr wrap="square"/>
                    <a:lstStyle/>
                    <a:p>
                      <a:pPr algn="ctr"/>
                      <a:r>
                        <a:rPr sz="1200" b="0">
                          <a:solidFill>
                            <a:srgbClr val="1E2235"/>
                          </a:solidFill>
                          <a:latin typeface="Arial"/>
                        </a:rPr>
                        <a:t>S16</a:t>
                      </a:r>
                    </a:p>
                  </a:txBody>
                  <a:tcPr marL="54864" marR="54864" marT="27432" marB="27432" anchor="ctr">
                    <a:solidFill>
                      <a:srgbClr val="FFFFFF"/>
                    </a:solidFill>
                  </a:tcPr>
                </a:tc>
                <a:tc>
                  <a:txBody>
                    <a:bodyPr wrap="square"/>
                    <a:lstStyle/>
                    <a:p>
                      <a:pPr algn="l"/>
                      <a:r>
                        <a:rPr sz="1200" b="0">
                          <a:solidFill>
                            <a:srgbClr val="1E2235"/>
                          </a:solidFill>
                          <a:latin typeface="Arial"/>
                        </a:rPr>
                        <a:t>postGrade</a:t>
                      </a:r>
                    </a:p>
                  </a:txBody>
                  <a:tcPr marL="54864" marR="54864" marT="27432" marB="27432" anchor="ctr">
                    <a:solidFill>
                      <a:srgbClr val="FFFFFF"/>
                    </a:solidFill>
                  </a:tcPr>
                </a:tc>
                <a:tc>
                  <a:txBody>
                    <a:bodyPr wrap="square"/>
                    <a:lstStyle/>
                    <a:p>
                      <a:pPr algn="l"/>
                      <a:r>
                        <a:rPr sz="1200" b="0">
                          <a:solidFill>
                            <a:srgbClr val="1E2235"/>
                          </a:solidFill>
                          <a:latin typeface="Arial"/>
                        </a:rPr>
                        <a:t>1004, 1006, 1007</a:t>
                      </a:r>
                    </a:p>
                  </a:txBody>
                  <a:tcPr marL="54864" marR="54864" marT="27432" marB="27432" anchor="ctr">
                    <a:solidFill>
                      <a:srgbClr val="FFFFFF"/>
                    </a:solidFill>
                  </a:tcPr>
                </a:tc>
                <a:tc>
                  <a:txBody>
                    <a:bodyPr wrap="square"/>
                    <a:lstStyle/>
                    <a:p>
                      <a:pPr algn="l"/>
                      <a:r>
                        <a:rPr sz="1200" b="0" u="sng">
                          <a:solidFill>
                            <a:srgbClr val="0072B2"/>
                          </a:solidFill>
                          <a:latin typeface="Arial"/>
                          <a:hlinkClick r:id="rId6"/>
                        </a:rPr>
                        <a:t>0x2aa778...87c0</a:t>
                      </a:r>
                    </a:p>
                  </a:txBody>
                  <a:tcPr marL="54864" marR="54864" marT="27432" marB="27432" anchor="ctr">
                    <a:solidFill>
                      <a:srgbClr val="FFFFFF"/>
                    </a:solidFill>
                  </a:tcPr>
                </a:tc>
              </a:tr>
              <a:tr h="329184">
                <a:tc>
                  <a:txBody>
                    <a:bodyPr wrap="square"/>
                    <a:lstStyle/>
                    <a:p>
                      <a:pPr algn="ctr"/>
                      <a:r>
                        <a:rPr sz="1200" b="0">
                          <a:solidFill>
                            <a:srgbClr val="1E2235"/>
                          </a:solidFill>
                          <a:latin typeface="Arial"/>
                        </a:rPr>
                        <a:t>19</a:t>
                      </a:r>
                    </a:p>
                  </a:txBody>
                  <a:tcPr marL="54864" marR="54864" marT="27432" marB="27432" anchor="ctr">
                    <a:solidFill>
                      <a:srgbClr val="F7F8FC"/>
                    </a:solidFill>
                  </a:tcPr>
                </a:tc>
                <a:tc>
                  <a:txBody>
                    <a:bodyPr wrap="square"/>
                    <a:lstStyle/>
                    <a:p>
                      <a:pPr algn="l"/>
                      <a:r>
                        <a:rPr sz="1200" b="0">
                          <a:solidFill>
                            <a:srgbClr val="1E2235"/>
                          </a:solidFill>
                          <a:latin typeface="Arial"/>
                        </a:rPr>
                        <a:t>Stolen key while frozen: reverts Frozen</a:t>
                      </a:r>
                    </a:p>
                  </a:txBody>
                  <a:tcPr marL="54864" marR="54864" marT="27432" marB="27432" anchor="ctr">
                    <a:solidFill>
                      <a:srgbClr val="F7F8FC"/>
                    </a:solidFill>
                  </a:tcPr>
                </a:tc>
                <a:tc>
                  <a:txBody>
                    <a:bodyPr wrap="square"/>
                    <a:lstStyle/>
                    <a:p>
                      <a:pPr algn="ctr"/>
                      <a:r>
                        <a:rPr sz="1200" b="0">
                          <a:solidFill>
                            <a:srgbClr val="1E2235"/>
                          </a:solidFill>
                          <a:latin typeface="Arial"/>
                        </a:rPr>
                        <a:t>S17</a:t>
                      </a:r>
                    </a:p>
                  </a:txBody>
                  <a:tcPr marL="54864" marR="54864" marT="27432" marB="27432" anchor="ctr">
                    <a:solidFill>
                      <a:srgbClr val="F7F8FC"/>
                    </a:solidFill>
                  </a:tcPr>
                </a:tc>
                <a:tc>
                  <a:txBody>
                    <a:bodyPr wrap="square"/>
                    <a:lstStyle/>
                    <a:p>
                      <a:pPr algn="l"/>
                      <a:r>
                        <a:rPr sz="1200" b="0">
                          <a:solidFill>
                            <a:srgbClr val="1E2235"/>
                          </a:solidFill>
                          <a:latin typeface="Arial"/>
                        </a:rPr>
                        <a:t>pay</a:t>
                      </a:r>
                    </a:p>
                  </a:txBody>
                  <a:tcPr marL="54864" marR="54864" marT="27432" marB="27432" anchor="ctr">
                    <a:solidFill>
                      <a:srgbClr val="F7F8FC"/>
                    </a:solidFill>
                  </a:tcPr>
                </a:tc>
                <a:tc>
                  <a:txBody>
                    <a:bodyPr wrap="square"/>
                    <a:lstStyle/>
                    <a:p>
                      <a:pPr algn="l"/>
                      <a:r>
                        <a:rPr sz="1200" b="0">
                          <a:solidFill>
                            <a:srgbClr val="1E2235"/>
                          </a:solidFill>
                          <a:latin typeface="Arial"/>
                        </a:rPr>
                        <a:t>-</a:t>
                      </a:r>
                    </a:p>
                  </a:txBody>
                  <a:tcPr marL="54864" marR="54864" marT="27432" marB="27432" anchor="ctr">
                    <a:solidFill>
                      <a:srgbClr val="F7F8FC"/>
                    </a:solidFill>
                  </a:tcPr>
                </a:tc>
                <a:tc>
                  <a:txBody>
                    <a:bodyPr wrap="square"/>
                    <a:lstStyle/>
                    <a:p>
                      <a:pPr algn="l"/>
                      <a:r>
                        <a:rPr sz="1200" b="0" u="sng">
                          <a:solidFill>
                            <a:srgbClr val="0072B2"/>
                          </a:solidFill>
                          <a:latin typeface="Arial"/>
                          <a:hlinkClick r:id="rId7"/>
                        </a:rPr>
                        <a:t>0x18e325...5e44</a:t>
                      </a:r>
                    </a:p>
                  </a:txBody>
                  <a:tcPr marL="54864" marR="54864" marT="27432" marB="27432" anchor="ctr">
                    <a:solidFill>
                      <a:srgbClr val="F7F8FC"/>
                    </a:solidFill>
                  </a:tcPr>
                </a:tc>
              </a:tr>
              <a:tr h="329184">
                <a:tc>
                  <a:txBody>
                    <a:bodyPr wrap="square"/>
                    <a:lstStyle/>
                    <a:p>
                      <a:pPr algn="ctr"/>
                      <a:r>
                        <a:rPr sz="1200" b="0">
                          <a:solidFill>
                            <a:srgbClr val="1E2235"/>
                          </a:solidFill>
                          <a:latin typeface="Arial"/>
                        </a:rPr>
                        <a:t>20</a:t>
                      </a:r>
                    </a:p>
                  </a:txBody>
                  <a:tcPr marL="54864" marR="54864" marT="27432" marB="27432" anchor="ctr">
                    <a:solidFill>
                      <a:srgbClr val="FFFFFF"/>
                    </a:solidFill>
                  </a:tcPr>
                </a:tc>
                <a:tc>
                  <a:txBody>
                    <a:bodyPr wrap="square"/>
                    <a:lstStyle/>
                    <a:p>
                      <a:pPr algn="l"/>
                      <a:r>
                        <a:rPr sz="1200" b="0">
                          <a:solidFill>
                            <a:srgbClr val="1E2235"/>
                          </a:solidFill>
                          <a:latin typeface="Arial"/>
                        </a:rPr>
                        <a:t>Owner rotates the agent key and unfreezes to tier 0 [3300]</a:t>
                      </a:r>
                    </a:p>
                  </a:txBody>
                  <a:tcPr marL="54864" marR="54864" marT="27432" marB="27432" anchor="ctr">
                    <a:solidFill>
                      <a:srgbClr val="FFFFFF"/>
                    </a:solidFill>
                  </a:tcPr>
                </a:tc>
                <a:tc>
                  <a:txBody>
                    <a:bodyPr wrap="square"/>
                    <a:lstStyle/>
                    <a:p>
                      <a:pPr algn="ctr"/>
                      <a:r>
                        <a:rPr sz="1200" b="0">
                          <a:solidFill>
                            <a:srgbClr val="1E2235"/>
                          </a:solidFill>
                          <a:latin typeface="Arial"/>
                        </a:rPr>
                        <a:t>S18</a:t>
                      </a:r>
                    </a:p>
                  </a:txBody>
                  <a:tcPr marL="54864" marR="54864" marT="27432" marB="27432" anchor="ctr">
                    <a:solidFill>
                      <a:srgbClr val="FFFFFF"/>
                    </a:solidFill>
                  </a:tcPr>
                </a:tc>
                <a:tc>
                  <a:txBody>
                    <a:bodyPr wrap="square"/>
                    <a:lstStyle/>
                    <a:p>
                      <a:pPr algn="l"/>
                      <a:r>
                        <a:rPr sz="1200" b="0">
                          <a:solidFill>
                            <a:srgbClr val="1E2235"/>
                          </a:solidFill>
                          <a:latin typeface="Arial"/>
                        </a:rPr>
                        <a:t>unfreeze</a:t>
                      </a:r>
                    </a:p>
                  </a:txBody>
                  <a:tcPr marL="54864" marR="54864" marT="27432" marB="27432" anchor="ctr">
                    <a:solidFill>
                      <a:srgbClr val="FFFFFF"/>
                    </a:solidFill>
                  </a:tcPr>
                </a:tc>
                <a:tc>
                  <a:txBody>
                    <a:bodyPr wrap="square"/>
                    <a:lstStyle/>
                    <a:p>
                      <a:pPr algn="l"/>
                      <a:r>
                        <a:rPr sz="1200" b="0">
                          <a:solidFill>
                            <a:srgbClr val="1E2235"/>
                          </a:solidFill>
                          <a:latin typeface="Arial"/>
                        </a:rPr>
                        <a:t>3300</a:t>
                      </a:r>
                    </a:p>
                  </a:txBody>
                  <a:tcPr marL="54864" marR="54864" marT="27432" marB="27432" anchor="ctr">
                    <a:solidFill>
                      <a:srgbClr val="FFFFFF"/>
                    </a:solidFill>
                  </a:tcPr>
                </a:tc>
                <a:tc>
                  <a:txBody>
                    <a:bodyPr wrap="square"/>
                    <a:lstStyle/>
                    <a:p>
                      <a:pPr algn="l"/>
                      <a:r>
                        <a:rPr sz="1200" b="0" u="sng">
                          <a:solidFill>
                            <a:srgbClr val="0072B2"/>
                          </a:solidFill>
                          <a:latin typeface="Arial"/>
                          <a:hlinkClick r:id="rId8"/>
                        </a:rPr>
                        <a:t>0x555966...c636</a:t>
                      </a:r>
                    </a:p>
                  </a:txBody>
                  <a:tcPr marL="54864" marR="54864" marT="27432" marB="27432" anchor="ctr">
                    <a:solidFill>
                      <a:srgbClr val="FFFFFF"/>
                    </a:solidFill>
                  </a:tcPr>
                </a:tc>
              </a:tr>
              <a:tr h="329184">
                <a:tc>
                  <a:txBody>
                    <a:bodyPr wrap="square"/>
                    <a:lstStyle/>
                    <a:p>
                      <a:pPr algn="ctr"/>
                      <a:r>
                        <a:rPr sz="1200" b="0">
                          <a:solidFill>
                            <a:srgbClr val="1E2235"/>
                          </a:solidFill>
                          <a:latin typeface="Arial"/>
                        </a:rPr>
                        <a:t>21</a:t>
                      </a:r>
                    </a:p>
                  </a:txBody>
                  <a:tcPr marL="54864" marR="54864" marT="27432" marB="27432" anchor="ctr">
                    <a:solidFill>
                      <a:srgbClr val="F7F8FC"/>
                    </a:solidFill>
                  </a:tcPr>
                </a:tc>
                <a:tc>
                  <a:txBody>
                    <a:bodyPr wrap="square"/>
                    <a:lstStyle/>
                    <a:p>
                      <a:pPr algn="l"/>
                      <a:r>
                        <a:rPr sz="1200" b="0">
                          <a:solidFill>
                            <a:srgbClr val="1E2235"/>
                          </a:solidFill>
                          <a:latin typeface="Arial"/>
                        </a:rPr>
                        <a:t>Maker-checker: owner approves the verified invoice</a:t>
                      </a:r>
                    </a:p>
                  </a:txBody>
                  <a:tcPr marL="54864" marR="54864" marT="27432" marB="27432" anchor="ctr">
                    <a:solidFill>
                      <a:srgbClr val="F7F8FC"/>
                    </a:solidFill>
                  </a:tcPr>
                </a:tc>
                <a:tc>
                  <a:txBody>
                    <a:bodyPr wrap="square"/>
                    <a:lstStyle/>
                    <a:p>
                      <a:pPr algn="ctr"/>
                      <a:r>
                        <a:rPr sz="1200" b="0">
                          <a:solidFill>
                            <a:srgbClr val="1E2235"/>
                          </a:solidFill>
                          <a:latin typeface="Arial"/>
                        </a:rPr>
                        <a:t>S18</a:t>
                      </a:r>
                    </a:p>
                  </a:txBody>
                  <a:tcPr marL="54864" marR="54864" marT="27432" marB="27432" anchor="ctr">
                    <a:solidFill>
                      <a:srgbClr val="F7F8FC"/>
                    </a:solidFill>
                  </a:tcPr>
                </a:tc>
                <a:tc>
                  <a:txBody>
                    <a:bodyPr wrap="square"/>
                    <a:lstStyle/>
                    <a:p>
                      <a:pPr algn="l"/>
                      <a:r>
                        <a:rPr sz="1200" b="0">
                          <a:solidFill>
                            <a:srgbClr val="1E2235"/>
                          </a:solidFill>
                          <a:latin typeface="Arial"/>
                        </a:rPr>
                        <a:t>ownerApprove</a:t>
                      </a:r>
                    </a:p>
                  </a:txBody>
                  <a:tcPr marL="54864" marR="54864" marT="27432" marB="27432" anchor="ctr">
                    <a:solidFill>
                      <a:srgbClr val="F7F8FC"/>
                    </a:solidFill>
                  </a:tcPr>
                </a:tc>
                <a:tc>
                  <a:txBody>
                    <a:bodyPr wrap="square"/>
                    <a:lstStyle/>
                    <a:p>
                      <a:pPr algn="l"/>
                      <a:r>
                        <a:rPr sz="1200" b="0">
                          <a:solidFill>
                            <a:srgbClr val="1E2235"/>
                          </a:solidFill>
                          <a:latin typeface="Arial"/>
                        </a:rPr>
                        <a:t>-</a:t>
                      </a:r>
                    </a:p>
                  </a:txBody>
                  <a:tcPr marL="54864" marR="54864" marT="27432" marB="27432" anchor="ctr">
                    <a:solidFill>
                      <a:srgbClr val="F7F8FC"/>
                    </a:solidFill>
                  </a:tcPr>
                </a:tc>
                <a:tc>
                  <a:txBody>
                    <a:bodyPr wrap="square"/>
                    <a:lstStyle/>
                    <a:p>
                      <a:pPr algn="l"/>
                      <a:r>
                        <a:rPr sz="1200" b="0" u="sng">
                          <a:solidFill>
                            <a:srgbClr val="0072B2"/>
                          </a:solidFill>
                          <a:latin typeface="Arial"/>
                          <a:hlinkClick r:id="rId9"/>
                        </a:rPr>
                        <a:t>0x6fa18f...fc07</a:t>
                      </a:r>
                    </a:p>
                  </a:txBody>
                  <a:tcPr marL="54864" marR="54864" marT="27432" marB="27432" anchor="ctr">
                    <a:solidFill>
                      <a:srgbClr val="F7F8FC"/>
                    </a:solidFill>
                  </a:tcPr>
                </a:tc>
              </a:tr>
              <a:tr h="329184">
                <a:tc>
                  <a:txBody>
                    <a:bodyPr wrap="square"/>
                    <a:lstStyle/>
                    <a:p>
                      <a:pPr algn="ctr"/>
                      <a:r>
                        <a:rPr sz="1200" b="0">
                          <a:solidFill>
                            <a:srgbClr val="1E2235"/>
                          </a:solidFill>
                          <a:latin typeface="Arial"/>
                        </a:rPr>
                        <a:t>22</a:t>
                      </a:r>
                    </a:p>
                  </a:txBody>
                  <a:tcPr marL="54864" marR="54864" marT="27432" marB="27432" anchor="ctr">
                    <a:solidFill>
                      <a:srgbClr val="FFFFFF"/>
                    </a:solidFill>
                  </a:tcPr>
                </a:tc>
                <a:tc>
                  <a:txBody>
                    <a:bodyPr wrap="square"/>
                    <a:lstStyle/>
                    <a:p>
                      <a:pPr algn="l"/>
                      <a:r>
                        <a:rPr sz="1200" b="0">
                          <a:solidFill>
                            <a:srgbClr val="1E2235"/>
                          </a:solidFill>
                          <a:latin typeface="Arial"/>
                        </a:rPr>
                        <a:t>Approved payment executed [2007]</a:t>
                      </a:r>
                    </a:p>
                  </a:txBody>
                  <a:tcPr marL="54864" marR="54864" marT="27432" marB="27432" anchor="ctr">
                    <a:solidFill>
                      <a:srgbClr val="FFFFFF"/>
                    </a:solidFill>
                  </a:tcPr>
                </a:tc>
                <a:tc>
                  <a:txBody>
                    <a:bodyPr wrap="square"/>
                    <a:lstStyle/>
                    <a:p>
                      <a:pPr algn="ctr"/>
                      <a:r>
                        <a:rPr sz="1200" b="0">
                          <a:solidFill>
                            <a:srgbClr val="1E2235"/>
                          </a:solidFill>
                          <a:latin typeface="Arial"/>
                        </a:rPr>
                        <a:t>S18</a:t>
                      </a:r>
                    </a:p>
                  </a:txBody>
                  <a:tcPr marL="54864" marR="54864" marT="27432" marB="27432" anchor="ctr">
                    <a:solidFill>
                      <a:srgbClr val="FFFFFF"/>
                    </a:solidFill>
                  </a:tcPr>
                </a:tc>
                <a:tc>
                  <a:txBody>
                    <a:bodyPr wrap="square"/>
                    <a:lstStyle/>
                    <a:p>
                      <a:pPr algn="l"/>
                      <a:r>
                        <a:rPr sz="1200" b="0">
                          <a:solidFill>
                            <a:srgbClr val="1E2235"/>
                          </a:solidFill>
                          <a:latin typeface="Arial"/>
                        </a:rPr>
                        <a:t>executeApproved</a:t>
                      </a:r>
                    </a:p>
                  </a:txBody>
                  <a:tcPr marL="54864" marR="54864" marT="27432" marB="27432" anchor="ctr">
                    <a:solidFill>
                      <a:srgbClr val="FFFFFF"/>
                    </a:solidFill>
                  </a:tcPr>
                </a:tc>
                <a:tc>
                  <a:txBody>
                    <a:bodyPr wrap="square"/>
                    <a:lstStyle/>
                    <a:p>
                      <a:pPr algn="l"/>
                      <a:r>
                        <a:rPr sz="1200" b="0">
                          <a:solidFill>
                            <a:srgbClr val="1E2235"/>
                          </a:solidFill>
                          <a:latin typeface="Arial"/>
                        </a:rPr>
                        <a:t>2007</a:t>
                      </a:r>
                    </a:p>
                  </a:txBody>
                  <a:tcPr marL="54864" marR="54864" marT="27432" marB="27432" anchor="ctr">
                    <a:solidFill>
                      <a:srgbClr val="FFFFFF"/>
                    </a:solidFill>
                  </a:tcPr>
                </a:tc>
                <a:tc>
                  <a:txBody>
                    <a:bodyPr wrap="square"/>
                    <a:lstStyle/>
                    <a:p>
                      <a:pPr algn="l"/>
                      <a:r>
                        <a:rPr sz="1200" b="0" u="sng">
                          <a:solidFill>
                            <a:srgbClr val="0072B2"/>
                          </a:solidFill>
                          <a:latin typeface="Arial"/>
                          <a:hlinkClick r:id="rId10"/>
                        </a:rPr>
                        <a:t>0xc77acd...0ca6</a:t>
                      </a:r>
                    </a:p>
                  </a:txBody>
                  <a:tcPr marL="54864" marR="54864" marT="27432" marB="27432" anchor="ctr">
                    <a:solidFill>
                      <a:srgbClr val="FFFFFF"/>
                    </a:solidFill>
                  </a:tcPr>
                </a:tc>
              </a:tr>
              <a:tr h="329184">
                <a:tc>
                  <a:txBody>
                    <a:bodyPr wrap="square"/>
                    <a:lstStyle/>
                    <a:p>
                      <a:pPr algn="ctr"/>
                      <a:r>
                        <a:rPr sz="1200" b="0">
                          <a:solidFill>
                            <a:srgbClr val="1E2235"/>
                          </a:solidFill>
                          <a:latin typeface="Arial"/>
                        </a:rPr>
                        <a:t>23</a:t>
                      </a:r>
                    </a:p>
                  </a:txBody>
                  <a:tcPr marL="54864" marR="54864" marT="27432" marB="27432" anchor="ctr">
                    <a:solidFill>
                      <a:srgbClr val="F7F8FC"/>
                    </a:solidFill>
                  </a:tcPr>
                </a:tc>
                <a:tc>
                  <a:txBody>
                    <a:bodyPr wrap="square"/>
                    <a:lstStyle/>
                    <a:p>
                      <a:pPr algn="l"/>
                      <a:r>
                        <a:rPr sz="1200" b="0">
                          <a:solidFill>
                            <a:srgbClr val="1E2235"/>
                          </a:solidFill>
                          <a:latin typeface="Arial"/>
                        </a:rPr>
                        <a:t>Verified SPAM report for unsolicited invoices</a:t>
                      </a:r>
                    </a:p>
                  </a:txBody>
                  <a:tcPr marL="54864" marR="54864" marT="27432" marB="27432" anchor="ctr">
                    <a:solidFill>
                      <a:srgbClr val="F7F8FC"/>
                    </a:solidFill>
                  </a:tcPr>
                </a:tc>
                <a:tc>
                  <a:txBody>
                    <a:bodyPr wrap="square"/>
                    <a:lstStyle/>
                    <a:p>
                      <a:pPr algn="ctr"/>
                      <a:r>
                        <a:rPr sz="1200" b="0">
                          <a:solidFill>
                            <a:srgbClr val="1E2235"/>
                          </a:solidFill>
                          <a:latin typeface="Arial"/>
                        </a:rPr>
                        <a:t>S19</a:t>
                      </a:r>
                    </a:p>
                  </a:txBody>
                  <a:tcPr marL="54864" marR="54864" marT="27432" marB="27432" anchor="ctr">
                    <a:solidFill>
                      <a:srgbClr val="F7F8FC"/>
                    </a:solidFill>
                  </a:tcPr>
                </a:tc>
                <a:tc>
                  <a:txBody>
                    <a:bodyPr wrap="square"/>
                    <a:lstStyle/>
                    <a:p>
                      <a:pPr algn="l"/>
                      <a:r>
                        <a:rPr sz="1200" b="0">
                          <a:solidFill>
                            <a:srgbClr val="1E2235"/>
                          </a:solidFill>
                          <a:latin typeface="Arial"/>
                        </a:rPr>
                        <a:t>giveFeedback</a:t>
                      </a:r>
                    </a:p>
                  </a:txBody>
                  <a:tcPr marL="54864" marR="54864" marT="27432" marB="27432" anchor="ctr">
                    <a:solidFill>
                      <a:srgbClr val="F7F8FC"/>
                    </a:solidFill>
                  </a:tcPr>
                </a:tc>
                <a:tc>
                  <a:txBody>
                    <a:bodyPr wrap="square"/>
                    <a:lstStyle/>
                    <a:p>
                      <a:pPr algn="l"/>
                      <a:r>
                        <a:rPr sz="1200" b="0">
                          <a:solidFill>
                            <a:srgbClr val="1E2235"/>
                          </a:solidFill>
                          <a:latin typeface="Arial"/>
                        </a:rPr>
                        <a:t>-</a:t>
                      </a:r>
                    </a:p>
                  </a:txBody>
                  <a:tcPr marL="54864" marR="54864" marT="27432" marB="27432" anchor="ctr">
                    <a:solidFill>
                      <a:srgbClr val="F7F8FC"/>
                    </a:solidFill>
                  </a:tcPr>
                </a:tc>
                <a:tc>
                  <a:txBody>
                    <a:bodyPr wrap="square"/>
                    <a:lstStyle/>
                    <a:p>
                      <a:pPr algn="l"/>
                      <a:r>
                        <a:rPr sz="1200" b="0" u="sng">
                          <a:solidFill>
                            <a:srgbClr val="0072B2"/>
                          </a:solidFill>
                          <a:latin typeface="Arial"/>
                          <a:hlinkClick r:id="rId11"/>
                        </a:rPr>
                        <a:t>0x3de4cf...74ec</a:t>
                      </a:r>
                    </a:p>
                  </a:txBody>
                  <a:tcPr marL="54864" marR="54864" marT="27432" marB="27432" anchor="ctr">
                    <a:solidFill>
                      <a:srgbClr val="F7F8FC"/>
                    </a:solidFill>
                  </a:tcPr>
                </a:tc>
              </a:tr>
              <a:tr h="329184">
                <a:tc>
                  <a:txBody>
                    <a:bodyPr wrap="square"/>
                    <a:lstStyle/>
                    <a:p>
                      <a:pPr algn="ctr"/>
                      <a:r>
                        <a:rPr sz="1200" b="0">
                          <a:solidFill>
                            <a:srgbClr val="1E2235"/>
                          </a:solidFill>
                          <a:latin typeface="Arial"/>
                        </a:rPr>
                        <a:t>24</a:t>
                      </a:r>
                    </a:p>
                  </a:txBody>
                  <a:tcPr marL="54864" marR="54864" marT="27432" marB="27432" anchor="ctr">
                    <a:solidFill>
                      <a:srgbClr val="FFFFFF"/>
                    </a:solidFill>
                  </a:tcPr>
                </a:tc>
                <a:tc>
                  <a:txBody>
                    <a:bodyPr wrap="square"/>
                    <a:lstStyle/>
                    <a:p>
                      <a:pPr algn="l"/>
                      <a:r>
                        <a:rPr sz="1200" b="0">
                          <a:solidFill>
                            <a:srgbClr val="1E2235"/>
                          </a:solidFill>
                          <a:latin typeface="Arial"/>
                        </a:rPr>
                        <a:t>Ghost files an appeal</a:t>
                      </a:r>
                    </a:p>
                  </a:txBody>
                  <a:tcPr marL="54864" marR="54864" marT="27432" marB="27432" anchor="ctr">
                    <a:solidFill>
                      <a:srgbClr val="FFFFFF"/>
                    </a:solidFill>
                  </a:tcPr>
                </a:tc>
                <a:tc>
                  <a:txBody>
                    <a:bodyPr wrap="square"/>
                    <a:lstStyle/>
                    <a:p>
                      <a:pPr algn="ctr"/>
                      <a:r>
                        <a:rPr sz="1200" b="0">
                          <a:solidFill>
                            <a:srgbClr val="1E2235"/>
                          </a:solidFill>
                          <a:latin typeface="Arial"/>
                        </a:rPr>
                        <a:t>S20</a:t>
                      </a:r>
                    </a:p>
                  </a:txBody>
                  <a:tcPr marL="54864" marR="54864" marT="27432" marB="27432" anchor="ctr">
                    <a:solidFill>
                      <a:srgbClr val="FFFFFF"/>
                    </a:solidFill>
                  </a:tcPr>
                </a:tc>
                <a:tc>
                  <a:txBody>
                    <a:bodyPr wrap="square"/>
                    <a:lstStyle/>
                    <a:p>
                      <a:pPr algn="l"/>
                      <a:r>
                        <a:rPr sz="1200" b="0">
                          <a:solidFill>
                            <a:srgbClr val="1E2235"/>
                          </a:solidFill>
                          <a:latin typeface="Arial"/>
                        </a:rPr>
                        <a:t>fileAppeal</a:t>
                      </a:r>
                    </a:p>
                  </a:txBody>
                  <a:tcPr marL="54864" marR="54864" marT="27432" marB="27432" anchor="ctr">
                    <a:solidFill>
                      <a:srgbClr val="FFFFFF"/>
                    </a:solidFill>
                  </a:tcPr>
                </a:tc>
                <a:tc>
                  <a:txBody>
                    <a:bodyPr wrap="square"/>
                    <a:lstStyle/>
                    <a:p>
                      <a:pPr algn="l"/>
                      <a:r>
                        <a:rPr sz="1200" b="0">
                          <a:solidFill>
                            <a:srgbClr val="1E2235"/>
                          </a:solidFill>
                          <a:latin typeface="Arial"/>
                        </a:rPr>
                        <a:t>-</a:t>
                      </a:r>
                    </a:p>
                  </a:txBody>
                  <a:tcPr marL="54864" marR="54864" marT="27432" marB="27432" anchor="ctr">
                    <a:solidFill>
                      <a:srgbClr val="FFFFFF"/>
                    </a:solidFill>
                  </a:tcPr>
                </a:tc>
                <a:tc>
                  <a:txBody>
                    <a:bodyPr wrap="square"/>
                    <a:lstStyle/>
                    <a:p>
                      <a:pPr algn="l"/>
                      <a:r>
                        <a:rPr sz="1200" b="0" u="sng">
                          <a:solidFill>
                            <a:srgbClr val="0072B2"/>
                          </a:solidFill>
                          <a:latin typeface="Arial"/>
                          <a:hlinkClick r:id="rId12"/>
                        </a:rPr>
                        <a:t>0x895b6b...305e</a:t>
                      </a:r>
                    </a:p>
                  </a:txBody>
                  <a:tcPr marL="54864" marR="54864" marT="27432" marB="27432" anchor="ctr">
                    <a:solidFill>
                      <a:srgbClr val="FFFFFF"/>
                    </a:solidFill>
                  </a:tcPr>
                </a:tc>
              </a:tr>
              <a:tr h="329184">
                <a:tc>
                  <a:txBody>
                    <a:bodyPr wrap="square"/>
                    <a:lstStyle/>
                    <a:p>
                      <a:pPr algn="ctr"/>
                      <a:r>
                        <a:rPr sz="1200" b="0">
                          <a:solidFill>
                            <a:srgbClr val="1E2235"/>
                          </a:solidFill>
                          <a:latin typeface="Arial"/>
                        </a:rPr>
                        <a:t>25</a:t>
                      </a:r>
                    </a:p>
                  </a:txBody>
                  <a:tcPr marL="54864" marR="54864" marT="27432" marB="27432" anchor="ctr">
                    <a:solidFill>
                      <a:srgbClr val="F7F8FC"/>
                    </a:solidFill>
                  </a:tcPr>
                </a:tc>
                <a:tc>
                  <a:txBody>
                    <a:bodyPr wrap="square"/>
                    <a:lstStyle/>
                    <a:p>
                      <a:pPr algn="l"/>
                      <a:r>
                        <a:rPr sz="1200" b="0">
                          <a:solidFill>
                            <a:srgbClr val="1E2235"/>
                          </a:solidFill>
                          <a:latin typeface="Arial"/>
                        </a:rPr>
                        <a:t>Bureau rejects the appeal after checking the events [1103]</a:t>
                      </a:r>
                    </a:p>
                  </a:txBody>
                  <a:tcPr marL="54864" marR="54864" marT="27432" marB="27432" anchor="ctr">
                    <a:solidFill>
                      <a:srgbClr val="F7F8FC"/>
                    </a:solidFill>
                  </a:tcPr>
                </a:tc>
                <a:tc>
                  <a:txBody>
                    <a:bodyPr wrap="square"/>
                    <a:lstStyle/>
                    <a:p>
                      <a:pPr algn="ctr"/>
                      <a:r>
                        <a:rPr sz="1200" b="0">
                          <a:solidFill>
                            <a:srgbClr val="1E2235"/>
                          </a:solidFill>
                          <a:latin typeface="Arial"/>
                        </a:rPr>
                        <a:t>S20</a:t>
                      </a:r>
                    </a:p>
                  </a:txBody>
                  <a:tcPr marL="54864" marR="54864" marT="27432" marB="27432" anchor="ctr">
                    <a:solidFill>
                      <a:srgbClr val="F7F8FC"/>
                    </a:solidFill>
                  </a:tcPr>
                </a:tc>
                <a:tc>
                  <a:txBody>
                    <a:bodyPr wrap="square"/>
                    <a:lstStyle/>
                    <a:p>
                      <a:pPr algn="l"/>
                      <a:r>
                        <a:rPr sz="1200" b="0">
                          <a:solidFill>
                            <a:srgbClr val="1E2235"/>
                          </a:solidFill>
                          <a:latin typeface="Arial"/>
                        </a:rPr>
                        <a:t>resolveAppeal</a:t>
                      </a:r>
                    </a:p>
                  </a:txBody>
                  <a:tcPr marL="54864" marR="54864" marT="27432" marB="27432" anchor="ctr">
                    <a:solidFill>
                      <a:srgbClr val="F7F8FC"/>
                    </a:solidFill>
                  </a:tcPr>
                </a:tc>
                <a:tc>
                  <a:txBody>
                    <a:bodyPr wrap="square"/>
                    <a:lstStyle/>
                    <a:p>
                      <a:pPr algn="l"/>
                      <a:r>
                        <a:rPr sz="1200" b="0">
                          <a:solidFill>
                            <a:srgbClr val="1E2235"/>
                          </a:solidFill>
                          <a:latin typeface="Arial"/>
                        </a:rPr>
                        <a:t>1103</a:t>
                      </a:r>
                    </a:p>
                  </a:txBody>
                  <a:tcPr marL="54864" marR="54864" marT="27432" marB="27432" anchor="ctr">
                    <a:solidFill>
                      <a:srgbClr val="F7F8FC"/>
                    </a:solidFill>
                  </a:tcPr>
                </a:tc>
                <a:tc>
                  <a:txBody>
                    <a:bodyPr wrap="square"/>
                    <a:lstStyle/>
                    <a:p>
                      <a:pPr algn="l"/>
                      <a:r>
                        <a:rPr sz="1200" b="0" u="sng">
                          <a:solidFill>
                            <a:srgbClr val="0072B2"/>
                          </a:solidFill>
                          <a:latin typeface="Arial"/>
                          <a:hlinkClick r:id="rId13"/>
                        </a:rPr>
                        <a:t>0xa9d6f9...be6c</a:t>
                      </a:r>
                    </a:p>
                  </a:txBody>
                  <a:tcPr marL="54864" marR="54864" marT="27432" marB="27432" anchor="ctr">
                    <a:solidFill>
                      <a:srgbClr val="F7F8FC"/>
                    </a:solidFill>
                  </a:tcPr>
                </a:tc>
              </a:tr>
            </a:tbl>
          </a:graphicData>
        </a:graphic>
      </p:graphicFrame>
      <p:sp>
        <p:nvSpPr>
          <p:cNvPr id="4" name="Footer"/>
          <p:cNvSpPr txBox="1"/>
          <p:nvPr/>
        </p:nvSpPr>
        <p:spPr>
          <a:xfrm>
            <a:off x="457200" y="6272784"/>
            <a:ext cx="11292840" cy="347472"/>
          </a:xfrm>
          <a:prstGeom prst="rect">
            <a:avLst/>
          </a:prstGeom>
          <a:noFill/>
        </p:spPr>
        <p:txBody>
          <a:bodyPr wrap="square" lIns="73152" rIns="73152" tIns="36576" bIns="36576" anchor="t">
            <a:noAutofit/>
          </a:bodyPr>
          <a:lstStyle/>
          <a:p>
            <a:pPr algn="l">
              <a:lnSpc>
                <a:spcPct val="100000"/>
              </a:lnSpc>
              <a:spcAft>
                <a:spcPts val="0"/>
              </a:spcAft>
            </a:pPr>
            <a:r>
              <a:rPr sz="1100" b="0">
                <a:solidFill>
                  <a:srgbClr val="5B6075"/>
                </a:solidFill>
                <a:latin typeface="Arial"/>
              </a:rPr>
              <a:t>From evidence/base_sepolia/HEADLINE.md (not counted in the 10 minutes; for questions)</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28</Words>
  <Application>Microsoft Office PowerPoint</Application>
  <PresentationFormat>宽屏</PresentationFormat>
  <Paragraphs>18</Paragraphs>
  <Slides>4</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vt:i4>
      </vt:variant>
    </vt:vector>
  </HeadingPairs>
  <TitlesOfParts>
    <vt:vector size="10" baseType="lpstr">
      <vt:lpstr>HarmonyOS Sans SC Bold</vt:lpstr>
      <vt:lpstr>HarmonyOS Sans SC Medium</vt:lpstr>
      <vt:lpstr>宋体</vt:lpstr>
      <vt:lpstr>Arial</vt:lpstr>
      <vt:lpstr>Calibri</vt:lpstr>
      <vt:lpstr>Office 主题​​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Jiaguan Dong</cp:lastModifiedBy>
  <cp:revision>34</cp:revision>
  <dcterms:created xsi:type="dcterms:W3CDTF">2023-10-18T07:50:09Z</dcterms:created>
  <dcterms:modified xsi:type="dcterms:W3CDTF">2025-09-18T13:33:42Z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2052-5.5.1.7991</vt:lpwstr>
  </property>
  <property fmtid="{D5CDD505-2E9C-101B-9397-08002B2CF9AE}" pid="3" name="ICV">
    <vt:lpwstr>B24CF714F5C0EBA4C7872F65158432DF_41</vt:lpwstr>
  </property>
</Properties>
</file>